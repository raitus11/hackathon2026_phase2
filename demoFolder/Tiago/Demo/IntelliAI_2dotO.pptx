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60" dirty="0">
                <a:solidFill>
                  <a:srgbClr val="A87B00"/>
                </a:solidFill>
                <a:latin typeface="Courier New"/>
              </a:rPr>
              <a:t>INTELLIAI 2.0  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8F1418"/>
                </a:solidFill>
                <a:latin typeface="Cambria"/>
              </a:rPr>
              <a:t>Migrating a live MQ estate is 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6E6058"/>
                </a:solidFill>
                <a:latin typeface="Calibri"/>
              </a:rPr>
              <a:t>Many applications share a few queue managers — one incident becomes everyone's incident. The fix is one QM per app. </a:t>
            </a:r>
            <a:r>
              <a:rPr lang="en-IN" sz="1300" dirty="0">
                <a:solidFill>
                  <a:srgbClr val="6E6058"/>
                </a:solidFill>
                <a:latin typeface="Calibri"/>
              </a:rPr>
              <a:t>Goal is to do the transformation on </a:t>
            </a:r>
            <a:r>
              <a:rPr sz="1300" b="0" i="0" dirty="0">
                <a:solidFill>
                  <a:srgbClr val="6E6058"/>
                </a:solidFill>
                <a:latin typeface="Calibri"/>
              </a:rPr>
              <a:t>a running estate, </a:t>
            </a:r>
            <a:r>
              <a:rPr lang="en-IN" sz="1300" b="0" i="0" dirty="0">
                <a:solidFill>
                  <a:srgbClr val="6E6058"/>
                </a:solidFill>
                <a:latin typeface="Calibri"/>
              </a:rPr>
              <a:t>without substantial downtime.</a:t>
            </a:r>
            <a:endParaRPr sz="1300" b="0" i="0" dirty="0">
              <a:solidFill>
                <a:srgbClr val="6E605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60">
                <a:solidFill>
                  <a:srgbClr val="A87B00"/>
                </a:solidFill>
                <a:latin typeface="Courier New"/>
              </a:rPr>
              <a:t>TODAY — SHARED &amp; FRAGILE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670048"/>
            <a:ext cx="1261872" cy="548640"/>
          </a:xfrm>
          <a:prstGeom prst="line">
            <a:avLst/>
          </a:prstGeom>
          <a:ln w="15240">
            <a:solidFill>
              <a:srgbClr val="C79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3218688"/>
            <a:ext cx="1261872" cy="91440"/>
          </a:xfrm>
          <a:prstGeom prst="line">
            <a:avLst/>
          </a:prstGeom>
          <a:ln w="15240">
            <a:solidFill>
              <a:srgbClr val="C79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05840" y="3218688"/>
            <a:ext cx="1261872" cy="731519"/>
          </a:xfrm>
          <a:prstGeom prst="line">
            <a:avLst/>
          </a:prstGeom>
          <a:ln w="15240">
            <a:solidFill>
              <a:srgbClr val="C79A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" y="2468880"/>
            <a:ext cx="54864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22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8F1418"/>
                </a:solidFill>
                <a:latin typeface="Calibri"/>
              </a:rPr>
              <a:t>APP 1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108960"/>
            <a:ext cx="54864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22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8F1418"/>
                </a:solidFill>
                <a:latin typeface="Calibri"/>
              </a:rPr>
              <a:t>APP 2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749039"/>
            <a:ext cx="54864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22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749039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8F1418"/>
                </a:solidFill>
                <a:latin typeface="Calibri"/>
              </a:rPr>
              <a:t>APP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880360"/>
            <a:ext cx="1508760" cy="685800"/>
          </a:xfrm>
          <a:prstGeom prst="roundRect">
            <a:avLst>
              <a:gd name="adj" fmla="val 1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288036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QM_SHARED</a:t>
            </a:r>
          </a:p>
          <a:p>
            <a:pPr algn="ctr"/>
            <a:r>
              <a:rPr sz="800" b="0" i="1">
                <a:solidFill>
                  <a:srgbClr val="FFE0C9"/>
                </a:solidFill>
                <a:latin typeface="Calibri"/>
              </a:rPr>
              <a:t>one blast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79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E6058"/>
                </a:solidFill>
                <a:latin typeface="Calibri"/>
              </a:rPr>
              <a:t>One shared QM. Every app's messages, every app's risk —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1847088"/>
            <a:ext cx="2395728" cy="1078992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15384" y="1993392"/>
            <a:ext cx="310896" cy="310896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15384" y="19933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3200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97510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F1418"/>
                </a:solidFill>
                <a:latin typeface="Cambria"/>
              </a:rPr>
              <a:t>No message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276856"/>
            <a:ext cx="17190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41A14"/>
                </a:solidFill>
                <a:latin typeface="Calibri"/>
              </a:rPr>
              <a:t>Every in-flight message delivered — none stranded, none duplicated.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1847088"/>
            <a:ext cx="2395728" cy="1078992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757416" y="1993392"/>
            <a:ext cx="310896" cy="310896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57416" y="19933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3200"/>
                </a:solidFill>
                <a:latin typeface="Cambr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197510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F1418"/>
                </a:solidFill>
                <a:latin typeface="Cambria"/>
              </a:rPr>
              <a:t>No application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2276856"/>
            <a:ext cx="1719072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241A14"/>
                </a:solidFill>
                <a:latin typeface="Calibri"/>
              </a:rPr>
              <a:t>Producers &amp; consumers keep their connections. They must not </a:t>
            </a:r>
            <a:r>
              <a:rPr lang="en-IN" sz="950" b="0" i="0" dirty="0">
                <a:solidFill>
                  <a:srgbClr val="241A14"/>
                </a:solidFill>
                <a:latin typeface="Calibri"/>
              </a:rPr>
              <a:t>experience any downtime.</a:t>
            </a:r>
            <a:endParaRPr sz="950" b="0" i="0" dirty="0">
              <a:solidFill>
                <a:srgbClr val="241A14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069080" y="3072384"/>
            <a:ext cx="2395728" cy="1078992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215384" y="3218688"/>
            <a:ext cx="310896" cy="310896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15384" y="3218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3200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2004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F1418"/>
                </a:solidFill>
                <a:latin typeface="Cambria"/>
              </a:rPr>
              <a:t>No collateral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502152"/>
            <a:ext cx="17190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41A14"/>
                </a:solidFill>
                <a:latin typeface="Calibri"/>
              </a:rPr>
              <a:t>Co-tenant apps on the shared QM must feel nothing.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1112" y="3072384"/>
            <a:ext cx="2395728" cy="1078992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57416" y="3218688"/>
            <a:ext cx="310896" cy="310896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7416" y="3218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3200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32004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F1418"/>
                </a:solidFill>
                <a:latin typeface="Cambria"/>
              </a:rPr>
              <a:t>Full auditability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3502152"/>
            <a:ext cx="171907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41A14"/>
                </a:solidFill>
                <a:latin typeface="Calibri"/>
              </a:rPr>
              <a:t>Every change recorded, causally ordered, reversible.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>
                <a:solidFill>
                  <a:srgbClr val="8F1418"/>
                </a:solidFill>
                <a:latin typeface="Cambria"/>
              </a:rPr>
              <a:t>Any one is easy. Holding all four at once, on live infrastructure — that is the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60">
                <a:solidFill>
                  <a:srgbClr val="A87B00"/>
                </a:solidFill>
                <a:latin typeface="Courier New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412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8F1418"/>
                </a:solidFill>
                <a:latin typeface="Cambria"/>
              </a:rPr>
              <a:t>IntelliAI</a:t>
            </a:r>
            <a:r>
              <a:rPr sz="2000" b="1" i="0" dirty="0">
                <a:solidFill>
                  <a:srgbClr val="8F1418"/>
                </a:solidFill>
                <a:latin typeface="Cambria"/>
              </a:rPr>
              <a:t> 2.0 — AI plans every move; a deterministic engine executes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481328" cy="384048"/>
          </a:xfrm>
          <a:prstGeom prst="roundRect">
            <a:avLst>
              <a:gd name="adj" fmla="val 2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· PROVISION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6816" y="1170432"/>
            <a:ext cx="18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C79A35"/>
                </a:solidFill>
                <a:latin typeface="Calibr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1170432"/>
            <a:ext cx="1481328" cy="384048"/>
          </a:xfrm>
          <a:prstGeom prst="roundRect">
            <a:avLst>
              <a:gd name="adj" fmla="val 2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39696" y="117043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 ·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170432"/>
            <a:ext cx="18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C79A35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1" y="1170432"/>
            <a:ext cx="1481328" cy="384048"/>
          </a:xfrm>
          <a:prstGeom prst="roundRect">
            <a:avLst>
              <a:gd name="adj" fmla="val 2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1" y="117043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 · REWIRE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1170432"/>
            <a:ext cx="18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C79A35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4688" y="1170432"/>
            <a:ext cx="1481328" cy="384048"/>
          </a:xfrm>
          <a:prstGeom prst="roundRect">
            <a:avLst>
              <a:gd name="adj" fmla="val 2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7043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 · DRAIN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3" y="1170432"/>
            <a:ext cx="182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C79A35"/>
                </a:solidFill>
                <a:latin typeface="Calibr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3" y="1170432"/>
            <a:ext cx="1481328" cy="384048"/>
          </a:xfrm>
          <a:prstGeom prst="roundRect">
            <a:avLst>
              <a:gd name="adj" fmla="val 22000"/>
            </a:avLst>
          </a:prstGeom>
          <a:solidFill>
            <a:srgbClr val="C2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87183" y="117043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 · VALIDATE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130552"/>
            <a:ext cx="868680" cy="640080"/>
          </a:xfrm>
          <a:prstGeom prst="ellipse">
            <a:avLst/>
          </a:prstGeom>
          <a:solidFill>
            <a:srgbClr val="8F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130552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280720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E6058"/>
                </a:solidFill>
                <a:latin typeface="Calibri"/>
              </a:rPr>
              <a:t>never touched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2450591"/>
            <a:ext cx="685800" cy="0"/>
          </a:xfrm>
          <a:prstGeom prst="line">
            <a:avLst/>
          </a:prstGeom>
          <a:ln w="20320">
            <a:solidFill>
              <a:srgbClr val="241A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57400" y="2039112"/>
            <a:ext cx="2514600" cy="822960"/>
          </a:xfrm>
          <a:prstGeom prst="roundRect">
            <a:avLst>
              <a:gd name="adj" fmla="val 10000"/>
            </a:avLst>
          </a:prstGeom>
          <a:solidFill>
            <a:srgbClr val="FFF7E0"/>
          </a:solidFill>
          <a:ln w="17780">
            <a:solidFill>
              <a:srgbClr val="C79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57400" y="2039112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A87B00"/>
                </a:solidFill>
                <a:latin typeface="Calibri"/>
              </a:rPr>
              <a:t>ORDERS.Q — QREMOTE alias</a:t>
            </a:r>
          </a:p>
          <a:p>
            <a:pPr algn="ctr"/>
            <a:r>
              <a:rPr sz="900" b="0" i="1">
                <a:solidFill>
                  <a:srgbClr val="6E6058"/>
                </a:solidFill>
                <a:latin typeface="Calibri"/>
              </a:rPr>
              <a:t>same name · same connection</a:t>
            </a:r>
          </a:p>
          <a:p>
            <a:pPr algn="ctr"/>
            <a:r>
              <a:rPr sz="900" b="0" i="0">
                <a:solidFill>
                  <a:srgbClr val="241A14"/>
                </a:solidFill>
                <a:latin typeface="Calibri"/>
              </a:rPr>
              <a:t>QM_SHARED_2 (source)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2450591"/>
            <a:ext cx="1325880" cy="0"/>
          </a:xfrm>
          <a:prstGeom prst="line">
            <a:avLst/>
          </a:prstGeom>
          <a:ln w="25400">
            <a:solidFill>
              <a:srgbClr val="1E7B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00600" y="2395728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66360" y="2395728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532120" y="2395728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0832" y="286207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E6058"/>
                </a:solidFill>
                <a:latin typeface="Calibri"/>
              </a:rPr>
              <a:t>channel bridge — MQ routes every 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2039112"/>
            <a:ext cx="2331720" cy="822960"/>
          </a:xfrm>
          <a:prstGeom prst="roundRect">
            <a:avLst>
              <a:gd name="adj" fmla="val 10000"/>
            </a:avLst>
          </a:prstGeom>
          <a:solidFill>
            <a:srgbClr val="E8F3EB"/>
          </a:solidFill>
          <a:ln w="20320">
            <a:solidFill>
              <a:srgbClr val="1E7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97880" y="2039112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7B3C"/>
                </a:solidFill>
                <a:latin typeface="Calibri"/>
              </a:rPr>
              <a:t>ORDERS.Q — QLOCAL</a:t>
            </a:r>
          </a:p>
          <a:p>
            <a:pPr algn="ctr"/>
            <a:r>
              <a:rPr sz="900" b="0" i="0">
                <a:solidFill>
                  <a:srgbClr val="241A14"/>
                </a:solidFill>
                <a:latin typeface="Calibri"/>
              </a:rPr>
              <a:t>QM_ORDERS (dedicated)</a:t>
            </a:r>
          </a:p>
          <a:p>
            <a:pPr algn="ctr"/>
            <a:r>
              <a:rPr sz="900" b="0" i="1">
                <a:solidFill>
                  <a:srgbClr val="6E6058"/>
                </a:solidFill>
                <a:latin typeface="Calibri"/>
              </a:rPr>
              <a:t>drained to a proven zero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64408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8F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26440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CD41"/>
                </a:solidFill>
                <a:latin typeface="Calibri"/>
              </a:rPr>
              <a:t>The cutover is invisible:  </a:t>
            </a:r>
            <a:r>
              <a:rPr sz="1100" b="0" i="0">
                <a:solidFill>
                  <a:srgbClr val="FFF8EC"/>
                </a:solidFill>
                <a:latin typeface="Calibri"/>
              </a:rPr>
              <a:t>the app keeps PUT-ting to the same queue name on the same connection — it never reconnects, and it never notices the move.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50208"/>
            <a:ext cx="2688336" cy="1005840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40416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8F1418"/>
                </a:solidFill>
                <a:latin typeface="Cambria"/>
              </a:rPr>
              <a:t>One chokepoint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315968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41A14"/>
                </a:solidFill>
                <a:latin typeface="Calibri"/>
              </a:rPr>
              <a:t>UI → BCL → MQ. The UI holds no credentials; only the Business Control Layer touches MQ — one place to validate, sequence, and record every change.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73552" y="3950208"/>
            <a:ext cx="2688336" cy="1005840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40416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8F1418"/>
                </a:solidFill>
                <a:latin typeface="Cambria"/>
              </a:rPr>
              <a:t>12-state machine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315968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41A14"/>
                </a:solidFill>
                <a:latin typeface="Calibri"/>
              </a:rPr>
              <a:t>Every app is always in a named state. Any failure auto-rolls back in reverse audit order — a failure is a state with an evidence trail, not an outage.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9904" y="3950208"/>
            <a:ext cx="2688336" cy="1005840"/>
          </a:xfrm>
          <a:prstGeom prst="roundRect">
            <a:avLst>
              <a:gd name="adj" fmla="val 10000"/>
            </a:avLst>
          </a:prstGeom>
          <a:solidFill>
            <a:srgbClr val="F6F3EF"/>
          </a:solidFill>
          <a:ln w="9525">
            <a:solidFill>
              <a:srgbClr val="E7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40416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8F1418"/>
                </a:solidFill>
                <a:latin typeface="Cambria"/>
              </a:rPr>
              <a:t>AI core — Gemini via Tachyon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315968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41A14"/>
                </a:solidFill>
                <a:latin typeface="Calibri"/>
              </a:rPr>
              <a:t>Plans and risk-gates every migration (blast radius: zero co-tenant touches), predicts drains, diagnoses failures. The engine executes; the audit log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0">
                <a:solidFill>
                  <a:srgbClr val="B31B1B"/>
                </a:solidFill>
                <a:latin typeface="Calibr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B2B2B"/>
                </a:solidFill>
                <a:latin typeface="Cambria"/>
              </a:rPr>
              <a:t>Nine shared queue managers in, seven dedicated out — the apps never notice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06424"/>
            <a:ext cx="2615184" cy="2935224"/>
          </a:xfrm>
          <a:prstGeom prst="roundRect">
            <a:avLst>
              <a:gd name="adj" fmla="val 4500"/>
            </a:avLst>
          </a:prstGeom>
          <a:solidFill>
            <a:srgbClr val="FBEDED"/>
          </a:solidFill>
          <a:ln w="9525">
            <a:solidFill>
              <a:srgbClr val="E3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64408" y="1106424"/>
            <a:ext cx="2615184" cy="2935224"/>
          </a:xfrm>
          <a:prstGeom prst="roundRect">
            <a:avLst>
              <a:gd name="adj" fmla="val 4500"/>
            </a:avLst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17336" y="1097280"/>
            <a:ext cx="2615184" cy="2944368"/>
          </a:xfrm>
          <a:prstGeom prst="roundRect">
            <a:avLst>
              <a:gd name="adj" fmla="val 4500"/>
            </a:avLst>
          </a:prstGeom>
          <a:solidFill>
            <a:srgbClr val="ECF4EE"/>
          </a:solidFill>
          <a:ln w="9525">
            <a:solidFill>
              <a:srgbClr val="C2D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133856"/>
            <a:ext cx="2322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60">
                <a:solidFill>
                  <a:srgbClr val="B31B1B"/>
                </a:solidFill>
                <a:latin typeface="Calibri"/>
              </a:rPr>
              <a:t>BEFORE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  ·  9 shared QMs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0712" y="1133856"/>
            <a:ext cx="2322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60">
                <a:solidFill>
                  <a:srgbClr val="8A6600"/>
                </a:solidFill>
                <a:latin typeface="Calibri"/>
              </a:rPr>
              <a:t>DURING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  ·  16 QMs in flight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33856"/>
            <a:ext cx="2322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60">
                <a:solidFill>
                  <a:srgbClr val="1E6B34"/>
                </a:solidFill>
                <a:latin typeface="Calibri"/>
              </a:rPr>
              <a:t>AFTER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  ·  7 dedicated QMs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463040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LDCWTH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0743" y="1463040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85415" y="1463040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ZN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1737360"/>
            <a:ext cx="301751" cy="512064"/>
          </a:xfrm>
          <a:prstGeom prst="line">
            <a:avLst/>
          </a:prstGeom>
          <a:ln w="13970">
            <a:solidFill>
              <a:srgbClr val="B31B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19072" y="1737360"/>
            <a:ext cx="0" cy="512064"/>
          </a:xfrm>
          <a:prstGeom prst="line">
            <a:avLst/>
          </a:prstGeom>
          <a:ln w="13970">
            <a:solidFill>
              <a:srgbClr val="B31B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221991" y="1737360"/>
            <a:ext cx="301753" cy="512064"/>
          </a:xfrm>
          <a:prstGeom prst="line">
            <a:avLst/>
          </a:prstGeom>
          <a:ln w="13970">
            <a:solidFill>
              <a:srgbClr val="B31B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" y="2249424"/>
            <a:ext cx="192023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7A0000"/>
                </a:solidFill>
                <a:latin typeface="Calibri"/>
              </a:rPr>
              <a:t>QM_SHARED_2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2B2B2B"/>
                </a:solidFill>
                <a:latin typeface="Courier New"/>
              </a:rPr>
              <a:t>LDCWTH.REQ.Q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2B2B2B"/>
                </a:solidFill>
                <a:latin typeface="Courier New"/>
              </a:rPr>
              <a:t>RO.REQ.Q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2B2B2B"/>
                </a:solidFill>
                <a:latin typeface="Courier New"/>
              </a:rPr>
              <a:t>ZN.REQ.Q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474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A6A6A"/>
                </a:solidFill>
                <a:latin typeface="Calibri"/>
              </a:rPr>
              <a:t>Queues co-located — one incident is everyone's incident.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1463040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LDCWTH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858768" y="1737360"/>
            <a:ext cx="713232" cy="475488"/>
          </a:xfrm>
          <a:prstGeom prst="line">
            <a:avLst/>
          </a:prstGeom>
          <a:ln w="13970">
            <a:solidFill>
              <a:srgbClr val="2B2B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74136" y="2212848"/>
            <a:ext cx="969264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QM_SHARED_2</a:t>
            </a:r>
          </a:p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2B2B2B"/>
                </a:solidFill>
                <a:latin typeface="Courier New"/>
              </a:rPr>
              <a:t>LDCWTH.REQ.Q</a:t>
            </a:r>
          </a:p>
          <a:p>
            <a:pPr algn="ctr">
              <a:lnSpc>
                <a:spcPct val="102000"/>
              </a:lnSpc>
            </a:pPr>
            <a:r>
              <a:rPr sz="800" b="1" i="0">
                <a:solidFill>
                  <a:srgbClr val="B31B1B"/>
                </a:solidFill>
                <a:latin typeface="Calibri"/>
              </a:rPr>
              <a:t>QREMOTE alias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2212848"/>
            <a:ext cx="969264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1E6B34"/>
                </a:solidFill>
                <a:latin typeface="Calibri"/>
              </a:rPr>
              <a:t>QM_LDCWTH</a:t>
            </a:r>
          </a:p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2B2B2B"/>
                </a:solidFill>
                <a:latin typeface="Courier New"/>
              </a:rPr>
              <a:t>LDCWTH.REQ.Q</a:t>
            </a:r>
          </a:p>
          <a:p>
            <a:pPr algn="ctr">
              <a:lnSpc>
                <a:spcPct val="102000"/>
              </a:lnSpc>
            </a:pPr>
            <a:r>
              <a:rPr sz="800" b="1" i="0">
                <a:solidFill>
                  <a:srgbClr val="1E6B34"/>
                </a:solidFill>
                <a:latin typeface="Calibri"/>
              </a:rPr>
              <a:t>QLOCAL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43400" y="2679191"/>
            <a:ext cx="457200" cy="0"/>
          </a:xfrm>
          <a:prstGeom prst="line">
            <a:avLst/>
          </a:prstGeom>
          <a:ln w="17780">
            <a:solidFill>
              <a:srgbClr val="8A66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0520" y="2404872"/>
            <a:ext cx="8229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A6600"/>
                </a:solidFill>
                <a:latin typeface="Calibri"/>
              </a:rPr>
              <a:t>MQ 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383280"/>
            <a:ext cx="232257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A6A6A"/>
                </a:solidFill>
                <a:latin typeface="Calibri"/>
              </a:rPr>
              <a:t>Same name, same connection — messages ride a channel to a QM the app has never heard of.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7" y="1499616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LDCWTH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9207" y="1499616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E6B34"/>
                </a:solidFill>
                <a:latin typeface="Calibri"/>
              </a:rPr>
              <a:t>QM_LDCWTH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58583" y="1655064"/>
            <a:ext cx="420624" cy="0"/>
          </a:xfrm>
          <a:prstGeom prst="line">
            <a:avLst/>
          </a:prstGeom>
          <a:ln w="15240">
            <a:solidFill>
              <a:srgbClr val="1E6B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1927" y="2066544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9207" y="2066544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E6B34"/>
                </a:solidFill>
                <a:latin typeface="Calibri"/>
              </a:rPr>
              <a:t>QM_RO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58583" y="2221992"/>
            <a:ext cx="420624" cy="0"/>
          </a:xfrm>
          <a:prstGeom prst="line">
            <a:avLst/>
          </a:prstGeom>
          <a:ln w="15240">
            <a:solidFill>
              <a:srgbClr val="1E6B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81927" y="263347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alibri"/>
              </a:rPr>
              <a:t>ZN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79207" y="2633472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E6B34"/>
                </a:solidFill>
                <a:latin typeface="Calibri"/>
              </a:rPr>
              <a:t>QM_ZN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58583" y="2788920"/>
            <a:ext cx="420624" cy="0"/>
          </a:xfrm>
          <a:prstGeom prst="line">
            <a:avLst/>
          </a:prstGeom>
          <a:ln w="15240">
            <a:solidFill>
              <a:srgbClr val="1E6B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63640" y="3474720"/>
            <a:ext cx="23225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A6A6A"/>
                </a:solidFill>
                <a:latin typeface="Calibri"/>
              </a:rPr>
              <a:t>One app, one queue manager. Blast radius: one.</a:t>
            </a:r>
          </a:p>
        </p:txBody>
      </p:sp>
      <p:sp>
        <p:nvSpPr>
          <p:cNvPr id="35" name="Chevron 34"/>
          <p:cNvSpPr/>
          <p:nvPr/>
        </p:nvSpPr>
        <p:spPr>
          <a:xfrm>
            <a:off x="3044952" y="2414016"/>
            <a:ext cx="201168" cy="237744"/>
          </a:xfrm>
          <a:prstGeom prst="chevron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hevron 35"/>
          <p:cNvSpPr/>
          <p:nvPr/>
        </p:nvSpPr>
        <p:spPr>
          <a:xfrm>
            <a:off x="5897879" y="2414016"/>
            <a:ext cx="201168" cy="237744"/>
          </a:xfrm>
          <a:prstGeom prst="chevron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1480" y="4224528"/>
            <a:ext cx="8321040" cy="603504"/>
          </a:xfrm>
          <a:prstGeom prst="roundRect">
            <a:avLst>
              <a:gd name="adj" fmla="val 14000"/>
            </a:avLst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CD41"/>
                </a:solidFill>
                <a:latin typeface="Calibri"/>
              </a:rPr>
              <a:t>PROVEN LIVE ON OPENSHIFT    </a:t>
            </a:r>
            <a:r>
              <a:rPr sz="1200" b="1" i="0">
                <a:solidFill>
                  <a:srgbClr val="FFCD41"/>
                </a:solidFill>
                <a:latin typeface="Calibri"/>
              </a:rPr>
              <a:t>7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 apps migrated   ·   </a:t>
            </a:r>
            <a:r>
              <a:rPr sz="1200" b="1" i="0">
                <a:solidFill>
                  <a:srgbClr val="FFCD41"/>
                </a:solidFill>
                <a:latin typeface="Calibri"/>
              </a:rPr>
              <a:t>0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 messages lost   ·   </a:t>
            </a:r>
            <a:r>
              <a:rPr sz="1200" b="1" i="0">
                <a:solidFill>
                  <a:srgbClr val="FFCD41"/>
                </a:solidFill>
                <a:latin typeface="Calibri"/>
              </a:rPr>
              <a:t>100%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 rollback verified   ·   sources drained &amp; decommissioned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526</Words>
  <Application>Microsoft Office PowerPoint</Application>
  <PresentationFormat>On-screen Show (16:9)</PresentationFormat>
  <Paragraphs>80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 Bhattacharjee</cp:lastModifiedBy>
  <cp:revision>7</cp:revision>
  <dcterms:created xsi:type="dcterms:W3CDTF">2013-01-27T09:14:16Z</dcterms:created>
  <dcterms:modified xsi:type="dcterms:W3CDTF">2026-07-09T05:19:58Z</dcterms:modified>
  <cp:category/>
</cp:coreProperties>
</file>