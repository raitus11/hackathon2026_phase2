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We're Team IntelliAI, and this is Part 1 of our IBM MQ Hackathon solution. IntelliAI is a ten-agent pipeline that takes a legacy IBM MQ estate and turns it into a compliant, automation-ready target state. On a real production-scale dataset it takes a 259-queue-manager estate scoring 100 out of 100 on complexity and produces a validated target design in about thirty seconds. You're a technical audience, so I'll spend most of the time on the agents and how we solved this, then go live into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is measured from a real 12,696-row inventory. The core problem is coupling — apps wired to 5+ QMs on average, 310 direct violations of the one-QM-per-app rule. Plus 53 orphan QMs costing money for nothing, 21 routing cycles, 74 disconnected components with a 79-hop worst case. Complexity pins at 100 out of 100. Can AI agents do the analysis, redesign AND provisioning safely enough to trust?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important design decision. Naive approach — throw the topology at an LLM — fails an enterprise bar: hallucination, non-determinism, uncertifiable. So we split by strengths. Rule engine owns what must be guaranteed: 1:1 assignment, channel naming, XMITQ, routing — pure code, milliseconds, 100% compliant. LLM only handles judgment: PCI zones, payment isolation, bridge placement, feedback interpretation. Every LLM proposal is validated back through the rules. No LLM available? Rules-only fallback still emits a valid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roster, grouped. Understand: Supervisor validates/routes; Sanitiser makes 4 clean tables; Researcher builds the graph and runs Louvain, betweenness (SPOFs), entropy; Analyst scores complexity. Design: Architect (the brain), Optimizer (channel reduction), Tester (8 checks, 0 critical = pass). Then the gold Human Review Gate — the pipeline PAUSES; approve, revise, or abort, and you can chat with the Architect. Execute after approval: Provisioner writes MQSC, Migration Planner 2,600+ steps with rollback, Doc Expert the ADRs and summaries. Every one is a real LangGraph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control flow — a LangGraph state graph with a real interrupt. Phase 1 runs left to right, Supervisor to Tester. The retry edge: if Tester finds critical violations it loops back to the Architect, up to 3 times — the design self-heals before a human sees it. Then it PAUSES — the graph interrupts, state checkpointed. Three branches: Approve runs provisioning; Abort writes a cancellation report; Revise takes plain-English feedback and re-enters the Architect. Revise skips Supervisor–Analyst since input is unchanged — targeted deltas, not a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 — where hybrid intelligence happens. Phase A pure rules: all 438 apps get dedicated QMs, mathematical guarantee, no LLM, can't be wrong. Phase B the LLM earns its place: a ~4,600-token cluster prompt isolates PCI apps and payment-critical zones — judgment calls rules can't encode. Phase C assembles, but every LLM reassignment is re-checked; in our runs 10-12 applied, zero rejected, and a wrong one gets bounced with a reason. Bottom: same agent, revision mode, parses English feedback into directives and applies deltas — one run went 446→433 QMs, score 48→45.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I trust an LLM in an infrastructure pipeline? We never trust it blindly — six layers. One, rules-validated output: every assignment re-checked, rejected if non-compliant — the LLM can't corrupt the target state. Two, strict JSON schema. Three, self-correcting retry — feed the parse error back, bounded to 2, no infinite loop. Four, circuit breaker — a rate-limit trips a 60-second breaker. Five, full rule-only fallback. Six, grounding — reference only input entities, discard anything invented. Net effect: the LLM can only make it better, never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safety and token cost. Left: twelve role-scoped system prompts, each with a fixed job, temperature and token cap — not one god-agent. Temperature 0.1, near-deterministic. Data and instructions separated across turns; the immutable contract lives in the system prompt the data can't overwrite. Real defense is output-side: even a hijacked reply must pass schema and rules validation before it can touch the target state — injection has nowhere to land. Right: we summarise 13,000 rows into ~3K tokens before the model sees anything, cap payloads, JSON-only responses, and the 438 deterministic assignments cost zero tokens. One cheap pass at any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agents aren't hand-waving over the graph. Louvain auto-discovers clusters — no k. Betweenness centrality finds the TRUE SPOFs, the bridges, not just busy nodes. Shannon entropy quantifies hub-and-spoke fragility. Kruskal MST gives the provably-minimal channel set to stay connected — everything else is a removal candidate. Right: six factors normalised 0-100 against a size-aware baseline, weighted. Channel count and coupling carry the most weight. Every number traces to a named, defensible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computed by the pipeline. Headline: 54.6% complexity reduction, 100 down to 45.4. But look at the individual metrics — coupling index, the reason MQ estates are fragile, drops 5.16 to exactly 1.0. Orphan QMs 53 to zero. Critical violations 310+ to zero. Channel count down 23% — and it doesn't go to zero because you still need real channels for real flows; we only remove dead and redundant ones. Every dimension of risk moves the right way and violations are eliminated.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Can't put a dollar figure up — no internal cost model to quote. But the human-effort delta is undeniable. Left is manual today, right is IntelliAI in one run. Profiling: days of spreadsheets vs seconds. Designing a compliant topology: weeks of a senior architect vs a validated design in ~30 seconds. And the parts usually skipped under deadline — 3,750 dependency-ordered MQSC commands, a 2,605-step migration plan with rollback, full documentation — every run. Weeks of scarce senior-architect effort compressed into one supervised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we had more runway — a natural extension, not a rebuild. Today it's a one-time transformation; next is Day-2 lifecycle management. Add an app: the agent picks optimal QM from traffic and compliance and provisions it. Reroute: computes just the channel delta, checks for new SPOFs. Remove: traces every dependent object, writes cleanup, decides whether to consolidate the orphaned QM. Same ten agents, applied incrementally — so the topology never drifts back into a mesh. Modernize once, stay modern automatically. With that — 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— target ~4-5 min. Both servers up. Narrate the agent flow: Upload/Supervisor validates and routes → Trace tab shows Sanitiser (4 tables), Researcher (Louvain, SPOFs, entropy), Analyst (100/100) → Architect three phases live (rules baseline, LLM cluster call, validated assembly, zero rejected) → Optimizer prunes + MST, Tester passes 0 critical → Metrics before/after → Topology side-by-side, pick one app to show shared vs dedicated QM → Review tab paused, Ask the Architect with real names, optionally Revise → Approve → flash MQSC, Migration 4-phase, CSVs deliverables. Close: full legacy-to-target transformation, human-supervised, one run. Part 2 builds on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497312" y="941832"/>
            <a:ext cx="731520" cy="731520"/>
          </a:xfrm>
          <a:prstGeom prst="bentConnector3">
            <a:avLst/>
          </a:prstGeom>
          <a:ln w="12700">
            <a:solidFill>
              <a:srgbClr val="FFCD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9857232" y="941832"/>
            <a:ext cx="640080" cy="1005840"/>
          </a:xfrm>
          <a:prstGeom prst="bentConnector3">
            <a:avLst/>
          </a:prstGeom>
          <a:ln w="12700">
            <a:solidFill>
              <a:srgbClr val="FFCD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228832" y="1673352"/>
            <a:ext cx="457200" cy="457200"/>
          </a:xfrm>
          <a:prstGeom prst="bentConnector3">
            <a:avLst/>
          </a:prstGeom>
          <a:ln w="12700">
            <a:solidFill>
              <a:srgbClr val="FFCD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857232" y="1947672"/>
            <a:ext cx="1188720" cy="822960"/>
          </a:xfrm>
          <a:prstGeom prst="bentConnector3">
            <a:avLst/>
          </a:prstGeom>
          <a:ln w="12700">
            <a:solidFill>
              <a:srgbClr val="FFCD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1045952" y="1673352"/>
            <a:ext cx="182880" cy="1097280"/>
          </a:xfrm>
          <a:prstGeom prst="bentConnector3">
            <a:avLst/>
          </a:prstGeom>
          <a:ln w="12700">
            <a:solidFill>
              <a:srgbClr val="FFCD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131552" y="941832"/>
            <a:ext cx="365760" cy="274320"/>
          </a:xfrm>
          <a:prstGeom prst="bentConnector3">
            <a:avLst/>
          </a:prstGeom>
          <a:ln w="12700">
            <a:solidFill>
              <a:srgbClr val="FFCD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31552" y="1216152"/>
            <a:ext cx="1097280" cy="457200"/>
          </a:xfrm>
          <a:prstGeom prst="bentConnector3">
            <a:avLst/>
          </a:prstGeom>
          <a:ln w="12700">
            <a:solidFill>
              <a:srgbClr val="FFCD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424160" y="868680"/>
            <a:ext cx="146304" cy="146304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1600200"/>
            <a:ext cx="146304" cy="146304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0" y="1874519"/>
            <a:ext cx="146304" cy="146304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2697480"/>
            <a:ext cx="146304" cy="146304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0" y="2057400"/>
            <a:ext cx="146304" cy="146304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0" y="1143000"/>
            <a:ext cx="146304" cy="146304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916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CD41"/>
                </a:solidFill>
                <a:latin typeface="Calibri"/>
              </a:rPr>
              <a:t>TEAM  INTELLIAI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05740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mbria"/>
              </a:rPr>
              <a:t>IntelliAI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00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BE3E3"/>
                </a:solidFill>
                <a:latin typeface="Calibri"/>
              </a:rPr>
              <a:t>Intelligent MQ Topology Simplification &amp; Modernization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Part 1</a:t>
            </a:r>
            <a:r>
              <a:rPr sz="1500" b="0" i="0">
                <a:solidFill>
                  <a:srgbClr val="FBE3E3"/>
                </a:solidFill>
                <a:latin typeface="Calibri"/>
              </a:rPr>
              <a:t>  —  A 10-agent LangGraph pipeline that turns a legacy MQ estate into a compliant, automation-ready target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9204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A81414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CD41"/>
                </a:solidFill>
                <a:latin typeface="Cambria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2297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BE3E3"/>
                </a:solidFill>
                <a:latin typeface="Calibri"/>
              </a:rPr>
              <a:t>AI 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89204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A81414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502920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CD41"/>
                </a:solidFill>
                <a:latin typeface="Cambria"/>
              </a:rPr>
              <a:t>259 → 433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52297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BE3E3"/>
                </a:solidFill>
                <a:latin typeface="Calibri"/>
              </a:rPr>
              <a:t>queue managers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89204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A81414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502920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CD41"/>
                </a:solidFill>
                <a:latin typeface="Cambria"/>
              </a:rPr>
              <a:t>100 → 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52297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BE3E3"/>
                </a:solidFill>
                <a:latin typeface="Calibri"/>
              </a:rPr>
              <a:t>complexity 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489204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A81414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502920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CD41"/>
                </a:solidFill>
                <a:latin typeface="Cambria"/>
              </a:rPr>
              <a:t>~30s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52297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BE3E3"/>
                </a:solidFill>
                <a:latin typeface="Calibri"/>
              </a:rPr>
              <a:t>end-to-end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A legacy MQ estate is a tangled, fragile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Real dataset profiled by the pipeline — 12,696 raw rows of production-scale MQ inventory.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066544"/>
            <a:ext cx="31546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7A0000"/>
                </a:solidFill>
                <a:latin typeface="Cambria"/>
              </a:rPr>
              <a:t>⚠  </a:t>
            </a:r>
            <a:r>
              <a:rPr sz="2500" b="1" i="0">
                <a:solidFill>
                  <a:srgbClr val="7A0000"/>
                </a:solidFill>
                <a:latin typeface="Cambria"/>
              </a:rPr>
              <a:t>5.16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578608"/>
            <a:ext cx="315467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Coupling index — apps wired to 5+ QMs on average. No 1:1 ownership.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066544"/>
            <a:ext cx="31546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7A0000"/>
                </a:solidFill>
                <a:latin typeface="Cambria"/>
              </a:rPr>
              <a:t>⚠  </a:t>
            </a:r>
            <a:r>
              <a:rPr sz="2500" b="1" i="0">
                <a:solidFill>
                  <a:srgbClr val="7A0000"/>
                </a:solidFill>
                <a:latin typeface="Cambria"/>
              </a:rPr>
              <a:t>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578608"/>
            <a:ext cx="315467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Multi-QM app violations — the core constraint breached across the estate.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920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66544"/>
            <a:ext cx="31546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7A0000"/>
                </a:solidFill>
                <a:latin typeface="Cambria"/>
              </a:rPr>
              <a:t>⚠  </a:t>
            </a:r>
            <a:r>
              <a:rPr sz="2500" b="1" i="0">
                <a:solidFill>
                  <a:srgbClr val="7A0000"/>
                </a:solidFill>
                <a:latin typeface="Cambria"/>
              </a:rPr>
              <a:t>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578608"/>
            <a:ext cx="315467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Orphan queue managers — running, costing, connected to nothing.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93592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739896"/>
            <a:ext cx="31546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7A0000"/>
                </a:solidFill>
                <a:latin typeface="Cambria"/>
              </a:rPr>
              <a:t>⚠  </a:t>
            </a:r>
            <a:r>
              <a:rPr sz="2500" b="1" i="0">
                <a:solidFill>
                  <a:srgbClr val="7A0000"/>
                </a:solidFill>
                <a:latin typeface="Cambria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251960"/>
            <a:ext cx="315467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Routing cycles — A→B→C→A loops risking message storms.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593592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739896"/>
            <a:ext cx="31546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7A0000"/>
                </a:solidFill>
                <a:latin typeface="Cambria"/>
              </a:rPr>
              <a:t>⚠  </a:t>
            </a:r>
            <a:r>
              <a:rPr sz="2500" b="1" i="0">
                <a:solidFill>
                  <a:srgbClr val="7A0000"/>
                </a:solidFill>
                <a:latin typeface="Cambria"/>
              </a:rPr>
              <a:t>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4251960"/>
            <a:ext cx="315467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Disconnected components — fragmented islands, diameter of 79 hops.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93592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3739896"/>
            <a:ext cx="31546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7A0000"/>
                </a:solidFill>
                <a:latin typeface="Cambria"/>
              </a:rPr>
              <a:t>⚠  </a:t>
            </a:r>
            <a:r>
              <a:rPr sz="2500" b="1" i="0">
                <a:solidFill>
                  <a:srgbClr val="7A0000"/>
                </a:solidFill>
                <a:latin typeface="Cambria"/>
              </a:rPr>
              <a:t>100/100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4251960"/>
            <a:ext cx="315467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As-is complexity — the topology pins the scale at maximum.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Hybrid intelligence: rules guarantee, LLM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The design decision that makes this trustworthy for an enterprise MQ estate.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585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Rule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720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CD41"/>
                </a:solidFill>
                <a:latin typeface="Calibri"/>
              </a:rPr>
              <a:t>Deterministic · Zero-tolerance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  <a:buChar char="•"/>
            </a:pPr>
            <a:r>
              <a:rPr sz="1300" b="0" i="0">
                <a:solidFill>
                  <a:srgbClr val="FBE3E3"/>
                </a:solidFill>
                <a:latin typeface="Calibri"/>
              </a:rPr>
              <a:t>1:1 app-to-QM assignment</a:t>
            </a:r>
          </a:p>
          <a:p>
            <a:pPr algn="l">
              <a:spcAft>
                <a:spcPts val="800"/>
              </a:spcAft>
              <a:buChar char="•"/>
            </a:pPr>
            <a:r>
              <a:rPr sz="1300" b="0" i="0">
                <a:solidFill>
                  <a:srgbClr val="FBE3E3"/>
                </a:solidFill>
                <a:latin typeface="Calibri"/>
              </a:rPr>
              <a:t>Deterministic channel naming — FROM_QM.TO_QM</a:t>
            </a:r>
          </a:p>
          <a:p>
            <a:pPr algn="l">
              <a:spcAft>
                <a:spcPts val="800"/>
              </a:spcAft>
              <a:buChar char="•"/>
            </a:pPr>
            <a:r>
              <a:rPr sz="1300" b="0" i="0">
                <a:solidFill>
                  <a:srgbClr val="FBE3E3"/>
                </a:solidFill>
                <a:latin typeface="Calibri"/>
              </a:rPr>
              <a:t>XMITQ + routing pattern provisioning</a:t>
            </a:r>
          </a:p>
          <a:p>
            <a:pPr algn="l">
              <a:spcAft>
                <a:spcPts val="800"/>
              </a:spcAft>
              <a:buChar char="•"/>
            </a:pPr>
            <a:r>
              <a:rPr sz="1300" b="0" i="0">
                <a:solidFill>
                  <a:srgbClr val="FBE3E3"/>
                </a:solidFill>
                <a:latin typeface="Calibri"/>
              </a:rPr>
              <a:t>Runs in milliseconds on 438 apps — 100%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965960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58568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LLM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28072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CD41"/>
                </a:solidFill>
                <a:latin typeface="Calibri"/>
              </a:rPr>
              <a:t>Tachyon → Gemini 2.0 Flash ·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  <a:buChar char="•"/>
            </a:pPr>
            <a:r>
              <a:rPr sz="1300" b="0" i="0">
                <a:solidFill>
                  <a:srgbClr val="FBE3E3"/>
                </a:solidFill>
                <a:latin typeface="Calibri"/>
              </a:rPr>
              <a:t>PCI / payment-zone isolation decisions</a:t>
            </a:r>
          </a:p>
          <a:p>
            <a:pPr algn="l">
              <a:spcAft>
                <a:spcPts val="800"/>
              </a:spcAft>
              <a:buChar char="•"/>
            </a:pPr>
            <a:r>
              <a:rPr sz="1300" b="0" i="0">
                <a:solidFill>
                  <a:srgbClr val="FBE3E3"/>
                </a:solidFill>
                <a:latin typeface="Calibri"/>
              </a:rPr>
              <a:t>Cluster analysis &amp; bridge-app placement</a:t>
            </a:r>
          </a:p>
          <a:p>
            <a:pPr algn="l">
              <a:spcAft>
                <a:spcPts val="800"/>
              </a:spcAft>
              <a:buChar char="•"/>
            </a:pPr>
            <a:r>
              <a:rPr sz="1300" b="0" i="0">
                <a:solidFill>
                  <a:srgbClr val="FBE3E3"/>
                </a:solidFill>
                <a:latin typeface="Calibri"/>
              </a:rPr>
              <a:t>Natural-language human feedback interpretation</a:t>
            </a:r>
          </a:p>
          <a:p>
            <a:pPr algn="l">
              <a:spcAft>
                <a:spcPts val="800"/>
              </a:spcAft>
              <a:buChar char="•"/>
            </a:pPr>
            <a:r>
              <a:rPr sz="1300" b="0" i="0">
                <a:solidFill>
                  <a:srgbClr val="FBE3E3"/>
                </a:solidFill>
                <a:latin typeface="Calibri"/>
              </a:rPr>
              <a:t>Every proposal validated back through the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FBE3E3"/>
          </a:solidFill>
          <a:ln w="12700">
            <a:solidFill>
              <a:srgbClr val="EA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31B1B"/>
                </a:solidFill>
                <a:latin typeface="Calibri"/>
              </a:rPr>
              <a:t>✓  Self-correcting: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if the LLM proposes an assignment that breaks a constraint, the rule engine rejects it with a logged explanation. </a:t>
            </a:r>
            <a:r>
              <a:rPr sz="1300" b="1" i="0">
                <a:solidFill>
                  <a:srgbClr val="B31B1B"/>
                </a:solidFill>
                <a:latin typeface="Calibri"/>
              </a:rPr>
              <a:t>Full rule-only fallback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produces a valid target state even with no LLM available.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THE SOLUTION · AGENT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Ten agents, one LangGraph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655064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65506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545336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Supervisor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3794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Session init, file validation,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417320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655064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5506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8616" y="1545336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Sanitiser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183794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Clean, dedupe, normalise → 4 logical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6" y="1417320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02168" y="1655064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65506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1545336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Researcher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5944" y="183794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As-is graph · Louvain · centrality · entropy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441448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" y="2679191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6791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2569464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28620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6-factor complexity score of as-is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2441448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2679191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6791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8616" y="2569464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Architect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28620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Target design — rules + LLM cluster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6" y="2441448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02168" y="2679191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26791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5944" y="2569464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Optimizer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5944" y="28620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Reachability prune + weighted MST reduction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465576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" y="3703320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" y="3593592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Tester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" y="38862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8 hard constraints · 0 critical = PASS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0248" y="3465576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8616" y="3593592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Provisioner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8616" y="38862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Per-QM MQSC scripts + target CSVs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37576" y="3465576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02168" y="3703320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2168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5944" y="3593592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Migration Planner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95944" y="38862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2,605 ordered steps · 4 phases · rollback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489704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7512" y="4727448"/>
            <a:ext cx="365760" cy="36576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" y="47274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1288" y="4617720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31B1B"/>
                </a:solidFill>
                <a:latin typeface="Cambria"/>
              </a:rPr>
              <a:t>Doc Expert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1288" y="491032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Calibri"/>
              </a:rPr>
              <a:t>ADRs, exec summary, regression + insights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70248" y="4489704"/>
            <a:ext cx="7333488" cy="84124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 w="15875">
            <a:solidFill>
              <a:srgbClr val="FFCD41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44568" y="4489704"/>
            <a:ext cx="687628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CD41"/>
                </a:solidFill>
                <a:latin typeface="Calibri"/>
              </a:rPr>
              <a:t>Human Review Gate  </a:t>
            </a:r>
            <a:r>
              <a:rPr sz="1200" b="0" i="0">
                <a:solidFill>
                  <a:srgbClr val="FBE3E3"/>
                </a:solidFill>
                <a:latin typeface="Calibri"/>
              </a:rPr>
              <a:t>— pipeline pauses after Tester · Approve / Revise / Abort · "Ask the Architect" chat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THE SOLUTION ·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Phase 1 designs. Human decides. Phase 2 executes.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1952" y="1783080"/>
            <a:ext cx="1920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CD41"/>
                </a:solidFill>
                <a:latin typeface="Calibri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1783080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9112" y="178308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Sanitiser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144" y="1783080"/>
            <a:ext cx="1920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CD41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5304" y="1783080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78308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4336" y="1783080"/>
            <a:ext cx="1920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CD41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1783080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1496" y="178308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783080"/>
            <a:ext cx="1920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CD41"/>
                </a:solidFill>
                <a:latin typeface="Calibr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7688" y="1783080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78308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83080"/>
            <a:ext cx="1920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CD41"/>
                </a:solidFill>
                <a:latin typeface="Calibr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783080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78308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1783080"/>
            <a:ext cx="1920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CD41"/>
                </a:solidFill>
                <a:latin typeface="Calibr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0072" y="1783080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78308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Tester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694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7A0000"/>
                </a:solidFill>
                <a:latin typeface="Calibri"/>
              </a:rPr>
              <a:t>↺  Tester fails → Architect retry (up to ×3)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15468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FFCD41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154680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31B1B"/>
                </a:solidFill>
                <a:latin typeface="Cambria"/>
              </a:rPr>
              <a:t>HUMAN REVIEW GATE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2441448"/>
            <a:ext cx="0" cy="713232"/>
          </a:xfrm>
          <a:prstGeom prst="bentConnector3">
            <a:avLst/>
          </a:prstGeom>
          <a:ln w="190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965960" y="3840480"/>
            <a:ext cx="4114800" cy="502920"/>
          </a:xfrm>
          <a:prstGeom prst="bentConnector3">
            <a:avLst/>
          </a:prstGeom>
          <a:ln w="1905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434340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9050">
            <a:solidFill>
              <a:srgbClr val="2E7D32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531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  <a:latin typeface="Cambria"/>
              </a:rPr>
              <a:t>APPROVE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73752"/>
            <a:ext cx="2560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B2B2B"/>
                </a:solidFill>
                <a:latin typeface="Calibri"/>
              </a:rPr>
              <a:t>Provisioner → Migration Planner → Doc Expert → outputs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5897879" y="3840480"/>
            <a:ext cx="182881" cy="502920"/>
          </a:xfrm>
          <a:prstGeom prst="bentConnector3">
            <a:avLst/>
          </a:prstGeom>
          <a:ln w="19050">
            <a:solidFill>
              <a:srgbClr val="FFA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34840" y="434340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9050">
            <a:solidFill>
              <a:srgbClr val="FFA000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4531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A000"/>
                </a:solidFill>
                <a:latin typeface="Cambria"/>
              </a:rPr>
              <a:t>REVISE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873752"/>
            <a:ext cx="2560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B2B2B"/>
                </a:solidFill>
                <a:latin typeface="Calibri"/>
              </a:rPr>
              <a:t>Architect re-interprets NL feedback → Optimizer → Tester → re-pauses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0760" y="3840480"/>
            <a:ext cx="4114800" cy="502920"/>
          </a:xfrm>
          <a:prstGeom prst="bentConnector3">
            <a:avLst/>
          </a:prstGeom>
          <a:ln w="19050">
            <a:solidFill>
              <a:srgbClr val="7A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732520" y="434340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9050">
            <a:solidFill>
              <a:srgbClr val="7A0000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44531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7A0000"/>
                </a:solidFill>
                <a:latin typeface="Cambria"/>
              </a:rPr>
              <a:t>ABORT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873752"/>
            <a:ext cx="2560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B2B2B"/>
                </a:solidFill>
                <a:latin typeface="Calibri"/>
              </a:rPr>
              <a:t>Doc Expert writes clean cancellation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The Revise path skips Supervisor→Analyst — input is unchanged, so the Architect applies targeted deltas to the existing target graph instead of redesigning from scratch.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DEEP DIVE · THE HARDEST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Inside the Architect: three phases, self-correcting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92807"/>
            <a:ext cx="658368" cy="65836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92807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1B1B"/>
                </a:solidFill>
                <a:latin typeface="Cambri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CD41"/>
                </a:solidFill>
                <a:latin typeface="Calibri"/>
              </a:rPr>
              <a:t>PHASE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2199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Rules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8346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BE3E3"/>
                </a:solidFill>
                <a:latin typeface="Calibri"/>
              </a:rPr>
              <a:t>Deterministic engine assigns all 438 apps to dedicated QMs (438→438). Mathematical guarantee of 1-QM-per-app. No LLM.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2788920"/>
            <a:ext cx="32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FFCD41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892807"/>
            <a:ext cx="658368" cy="65836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92807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1B1B"/>
                </a:solidFill>
                <a:latin typeface="Cambr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CD41"/>
                </a:solidFill>
                <a:latin typeface="Calibri"/>
              </a:rPr>
              <a:t>PHASE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22199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LLM Cluster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8346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BE3E3"/>
                </a:solidFill>
                <a:latin typeface="Calibri"/>
              </a:rPr>
              <a:t>~4,600-token cluster prompt to Gemini. Isolates PCI bridge apps (QM_PCI_*), separates payment-critical workloads (QM_PAY_CRIT_*) to shrink blast radius.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788920"/>
            <a:ext cx="32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FFCD41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60020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1892807"/>
            <a:ext cx="658368" cy="65836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892807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1B1B"/>
                </a:solidFill>
                <a:latin typeface="Cambria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CD41"/>
                </a:solidFill>
                <a:latin typeface="Calibri"/>
              </a:rPr>
              <a:t>PHASE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22199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Validated Assembly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28346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BE3E3"/>
                </a:solidFill>
                <a:latin typeface="Calibri"/>
              </a:rPr>
              <a:t>10–12 reassignments applied, 0 rejected. Every LLM move re-checked by the rule engine — INCORRECT ones bounced with a logged reason. ADRs generated.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1772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2" y="4828032"/>
            <a:ext cx="512064" cy="512064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82803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CD41"/>
                </a:solidFill>
                <a:latin typeface="Calibri"/>
              </a:rPr>
              <a:t>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54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31B1B"/>
                </a:solidFill>
                <a:latin typeface="Cambria"/>
              </a:rPr>
              <a:t>Revision mode — same agent, different job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120640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B2B"/>
                </a:solidFill>
                <a:latin typeface="Calibri"/>
              </a:rPr>
              <a:t>On a Revise decision the Architect parses natural-language feedback into structured directives — </a:t>
            </a:r>
            <a:r>
              <a:rPr sz="1250" b="1" i="1">
                <a:solidFill>
                  <a:srgbClr val="B31B1B"/>
                </a:solidFill>
                <a:latin typeface="Calibri"/>
              </a:rPr>
              <a:t>aggressive, fanout_cap, channel_prune_pct, consolidate_qm_pct, protect_qms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with HIGH/MEDIUM/LOW confidence, then applies targeted deltas rather than redesigning. Demonstrated: 446→433 QMs, 22→9 warnings, score 48.3→45.4.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DEEP DIVE · MAKING IT PRODUCTION-SAFE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Guardrails: the LLM is never trusted blindly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" y="1719072"/>
            <a:ext cx="548640" cy="5486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7190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1907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Rules-validated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3063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BE3E3"/>
                </a:solidFill>
                <a:latin typeface="Calibri"/>
              </a:rPr>
              <a:t>Every LLM assignment is re-checked by the deterministic engine. A move that breaks a constraint is rejected with a logged reason — the LLM cannot corrupt the target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1719072"/>
            <a:ext cx="548640" cy="5486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190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71907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Strict JSON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59152"/>
            <a:ext cx="3063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BE3E3"/>
                </a:solidFill>
                <a:latin typeface="Calibri"/>
              </a:rPr>
              <a:t>Responses forced to json_object mode against a fixed schema (assignments, channels, ADRs). Missing keys are detected and the call is retried or discarded.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8472" y="1719072"/>
            <a:ext cx="548640" cy="5486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7190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71907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Self-correcting retry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59152"/>
            <a:ext cx="3063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BE3E3"/>
                </a:solidFill>
                <a:latin typeface="Calibri"/>
              </a:rPr>
              <a:t>On invalid JSON the parser feeds the exact error back into the prompt so the model repairs its own output — bounded to 2 retries, never an infinite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290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3685032"/>
            <a:ext cx="548640" cy="5486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6850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8503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Circuit breaker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25112"/>
            <a:ext cx="3063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BE3E3"/>
                </a:solidFill>
                <a:latin typeface="Calibri"/>
              </a:rPr>
              <a:t>A 429 or rate-limit trips a 60-second breaker: the pipeline stops calling the LLM and runs on rules, so one throttle never stalls the whole run.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4290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53712" y="3685032"/>
            <a:ext cx="548640" cy="5486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6850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68503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Full rule-only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325112"/>
            <a:ext cx="3063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BE3E3"/>
                </a:solidFill>
                <a:latin typeface="Calibri"/>
              </a:rPr>
              <a:t>No credentials, timeout, or oversized payload (413) → immediate graceful fallback. The pipeline always emits a valid, compliant target state.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4290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48472" y="3685032"/>
            <a:ext cx="548640" cy="5486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36850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68503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Grounded, no free invention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325112"/>
            <a:ext cx="3063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BE3E3"/>
                </a:solidFill>
                <a:latin typeface="Calibri"/>
              </a:rPr>
              <a:t>Prompts instruct the model to reference ONLY entity names present in the input data — the rule engine then discards any QM or app the LLM invents.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DEEP DIVE · PROMPT ENGINEERING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Tight prompts, hardened inputs, minimal tokens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73352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31B1B"/>
                </a:solidFill>
                <a:latin typeface="Cambria"/>
              </a:rPr>
              <a:t>Prompt design &amp; injection defense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295144"/>
            <a:ext cx="118872" cy="118872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03704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1B1B"/>
                </a:solidFill>
                <a:latin typeface="Calibri"/>
              </a:rPr>
              <a:t>Role-scoped system prompts — </a:t>
            </a:r>
            <a:r>
              <a:rPr sz="1150" b="0" i="0">
                <a:solidFill>
                  <a:srgbClr val="6B6B6B"/>
                </a:solidFill>
                <a:latin typeface="Calibri"/>
              </a:rPr>
              <a:t>12 narrow roles, each with a fixed job, temp and token cap — no open-ended "do anything" agent.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063240"/>
            <a:ext cx="118872" cy="118872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1B1B"/>
                </a:solidFill>
                <a:latin typeface="Calibri"/>
              </a:rPr>
              <a:t>Low temperature (0.1) — </a:t>
            </a:r>
            <a:r>
              <a:rPr sz="1150" b="0" i="0">
                <a:solidFill>
                  <a:srgbClr val="6B6B6B"/>
                </a:solidFill>
                <a:latin typeface="Calibri"/>
              </a:rPr>
              <a:t>Design calls run near-deterministic; creativity is off where correctness matters.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831335"/>
            <a:ext cx="118872" cy="118872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739896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1B1B"/>
                </a:solidFill>
                <a:latin typeface="Calibri"/>
              </a:rPr>
              <a:t>Data / instruction separation — </a:t>
            </a:r>
            <a:r>
              <a:rPr sz="1150" b="0" i="0">
                <a:solidFill>
                  <a:srgbClr val="6B6B6B"/>
                </a:solidFill>
                <a:latin typeface="Calibri"/>
              </a:rPr>
              <a:t>Topology facts go in the user turn; the immutable contract lives in the system prompt the data can't overwrite.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599431"/>
            <a:ext cx="118872" cy="118872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07992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1B1B"/>
                </a:solidFill>
                <a:latin typeface="Calibri"/>
              </a:rPr>
              <a:t>Reference-only grounding — </a:t>
            </a:r>
            <a:r>
              <a:rPr sz="1150" b="0" i="0">
                <a:solidFill>
                  <a:srgbClr val="6B6B6B"/>
                </a:solidFill>
                <a:latin typeface="Calibri"/>
              </a:rPr>
              <a:t>Model may cite only entities in the payload; rules discard invented names — blocks data-driven injection.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367527"/>
            <a:ext cx="118872" cy="118872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276088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1B1B"/>
                </a:solidFill>
                <a:latin typeface="Calibri"/>
              </a:rPr>
              <a:t>Output-side enforcement — </a:t>
            </a:r>
            <a:r>
              <a:rPr sz="1150" b="0" i="0">
                <a:solidFill>
                  <a:srgbClr val="6B6B6B"/>
                </a:solidFill>
                <a:latin typeface="Calibri"/>
              </a:rPr>
              <a:t>Even a hijacked reply must pass schema + rules validation, so a malicious instruction can't reach the target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40680" cy="461772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09928"/>
            <a:ext cx="4480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Token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CD41"/>
                </a:solidFill>
                <a:latin typeface="Cambria"/>
              </a:rPr>
              <a:t>13,000 rows  →  ~3K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FBE3E3"/>
                </a:solidFill>
                <a:latin typeface="Calibri"/>
              </a:rPr>
              <a:t>The estate is summarised into structured text before it ever reaches the model — we never paste raw CSV.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337560"/>
            <a:ext cx="402336" cy="402336"/>
          </a:xfrm>
          <a:prstGeom prst="ellipse">
            <a:avLst/>
          </a:prstGeom>
          <a:solidFill>
            <a:srgbClr val="8B0000"/>
          </a:solidFill>
          <a:ln w="9525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3300984"/>
            <a:ext cx="4434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Summarise, don't dump  </a:t>
            </a:r>
            <a:r>
              <a:rPr sz="1100" b="0" i="0">
                <a:solidFill>
                  <a:srgbClr val="FBE3E3"/>
                </a:solidFill>
                <a:latin typeface="Calibri"/>
              </a:rPr>
              <a:t>— 13K rows compressed to a ~3–6K-token structured brief regardless of estate size.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995928"/>
            <a:ext cx="402336" cy="402336"/>
          </a:xfrm>
          <a:prstGeom prst="ellipse">
            <a:avLst/>
          </a:prstGeom>
          <a:solidFill>
            <a:srgbClr val="8B0000"/>
          </a:solidFill>
          <a:ln w="9525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3959352"/>
            <a:ext cx="4434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Cap the payload  </a:t>
            </a:r>
            <a:r>
              <a:rPr sz="1100" b="0" i="0">
                <a:solidFill>
                  <a:srgbClr val="FBE3E3"/>
                </a:solidFill>
                <a:latin typeface="Calibri"/>
              </a:rPr>
              <a:t>— Channel lists truncated to a fixed budget; oversized prompts fall back to rules, never blow the context window.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4654296"/>
            <a:ext cx="402336" cy="402336"/>
          </a:xfrm>
          <a:prstGeom prst="ellipse">
            <a:avLst/>
          </a:prstGeom>
          <a:solidFill>
            <a:srgbClr val="8B0000"/>
          </a:solidFill>
          <a:ln w="9525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4617720"/>
            <a:ext cx="4434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JSON-only responses  </a:t>
            </a:r>
            <a:r>
              <a:rPr sz="1100" b="0" i="0">
                <a:solidFill>
                  <a:srgbClr val="FBE3E3"/>
                </a:solidFill>
                <a:latin typeface="Calibri"/>
              </a:rPr>
              <a:t>— No prose padding — the model returns compact structured output, cutting output tokens.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5312664"/>
            <a:ext cx="402336" cy="402336"/>
          </a:xfrm>
          <a:prstGeom prst="ellipse">
            <a:avLst/>
          </a:prstGeom>
          <a:solidFill>
            <a:srgbClr val="8B0000"/>
          </a:solidFill>
          <a:ln w="9525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9168" y="5276088"/>
            <a:ext cx="4434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Rules do the bulk work  </a:t>
            </a:r>
            <a:r>
              <a:rPr sz="1100" b="0" i="0">
                <a:solidFill>
                  <a:srgbClr val="FBE3E3"/>
                </a:solidFill>
                <a:latin typeface="Calibri"/>
              </a:rPr>
              <a:t>— 438 deterministic assignments cost 0 tokens; the LLM is called only for the judgment calls.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DEEP DIVE · THE MATH UNDER THE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Real graph analytics, not vibes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532120" cy="457200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31B1B"/>
                </a:solidFill>
                <a:latin typeface="Cambria"/>
              </a:rPr>
              <a:t>Graph algorithms driving decisions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350008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892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Louvain community detection  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— auto-discovers QM clusters — no k needed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62072"/>
            <a:ext cx="4892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Betweenness centrality  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— flags true SPOFs, not just busy nodes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593592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83864"/>
            <a:ext cx="4892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Shannon entropy  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— quantifies hub-and-spoke fragility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05656"/>
            <a:ext cx="4892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Minimum spanning tree (Kruskal)  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— provably minimal channel set to stay connected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837176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27448"/>
            <a:ext cx="4892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Reachability + MST pruning  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— removes dead + redundant channels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458968"/>
            <a:ext cx="109728" cy="109728"/>
          </a:xfrm>
          <a:prstGeom prst="ellipse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49240"/>
            <a:ext cx="4892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Kernighan–Lin bisection  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— finds clean regional split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08760"/>
            <a:ext cx="5440680" cy="457200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6-factor complexity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84831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FBE3E3"/>
                </a:solidFill>
                <a:latin typeface="Calibri"/>
              </a:rPr>
              <a:t>Each factor normalised 0–100 vs baseline, weighted sum on a 0–100 scale.</a:t>
            </a:r>
          </a:p>
        </p:txBody>
      </p:sp>
      <p:sp>
        <p:nvSpPr>
          <p:cNvPr id="21" name="Pie 20"/>
          <p:cNvSpPr/>
          <p:nvPr/>
        </p:nvSpPr>
        <p:spPr>
          <a:xfrm>
            <a:off x="6355080" y="2926080"/>
            <a:ext cx="2651760" cy="2651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FCD41"/>
          </a:solidFill>
          <a:ln w="1905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6355080" y="2926080"/>
            <a:ext cx="2651760" cy="265176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E08A"/>
          </a:solidFill>
          <a:ln w="1905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6355080" y="2926080"/>
            <a:ext cx="2651760" cy="2651760"/>
          </a:xfrm>
          <a:prstGeom prst="pie">
            <a:avLst>
              <a:gd name="adj1" fmla="val 5400000"/>
              <a:gd name="adj2" fmla="val 9720000"/>
            </a:avLst>
          </a:prstGeom>
          <a:solidFill>
            <a:srgbClr val="FFFFFF"/>
          </a:solidFill>
          <a:ln w="1905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6355080" y="2926080"/>
            <a:ext cx="2651760" cy="2651760"/>
          </a:xfrm>
          <a:prstGeom prst="pie">
            <a:avLst>
              <a:gd name="adj1" fmla="val 9720000"/>
              <a:gd name="adj2" fmla="val 12960000"/>
            </a:avLst>
          </a:prstGeom>
          <a:solidFill>
            <a:srgbClr val="F4B7B7"/>
          </a:solidFill>
          <a:ln w="1905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6355080" y="2926080"/>
            <a:ext cx="2651760" cy="2651760"/>
          </a:xfrm>
          <a:prstGeom prst="pie">
            <a:avLst>
              <a:gd name="adj1" fmla="val 12960000"/>
              <a:gd name="adj2" fmla="val 15120000"/>
            </a:avLst>
          </a:prstGeom>
          <a:solidFill>
            <a:srgbClr val="C9C9C9"/>
          </a:solidFill>
          <a:ln w="1905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6355080" y="2926080"/>
            <a:ext cx="2651760" cy="2651760"/>
          </a:xfrm>
          <a:prstGeom prst="pie">
            <a:avLst>
              <a:gd name="adj1" fmla="val 15120000"/>
              <a:gd name="adj2" fmla="val 16200000"/>
            </a:avLst>
          </a:prstGeom>
          <a:solidFill>
            <a:srgbClr val="FFA000"/>
          </a:solidFill>
          <a:ln w="1905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67728" y="3538728"/>
            <a:ext cx="1426464" cy="1426464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3931920"/>
            <a:ext cx="1426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0–100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297680"/>
            <a:ext cx="1426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BE3E3"/>
                </a:solidFill>
                <a:latin typeface="Calibri"/>
              </a:rPr>
              <a:t>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2724912"/>
            <a:ext cx="219456" cy="219456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2679192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BE3E3"/>
                </a:solidFill>
                <a:latin typeface="Calibri"/>
              </a:rPr>
              <a:t>CC — Channel 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2679192"/>
            <a:ext cx="411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CD41"/>
                </a:solidFill>
                <a:latin typeface="Calibri"/>
              </a:rPr>
              <a:t>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3200400"/>
            <a:ext cx="219456" cy="219456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3154680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BE3E3"/>
                </a:solidFill>
                <a:latin typeface="Calibri"/>
              </a:rPr>
              <a:t>CI — Coupling Index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3154680"/>
            <a:ext cx="411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CD41"/>
                </a:solidFill>
                <a:latin typeface="Calibri"/>
              </a:rPr>
              <a:t>25%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64040" y="3675888"/>
            <a:ext cx="219456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630168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BE3E3"/>
                </a:solidFill>
                <a:latin typeface="Calibri"/>
              </a:rPr>
              <a:t>RD — Routing Depth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3630168"/>
            <a:ext cx="411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CD41"/>
                </a:solidFill>
                <a:latin typeface="Calibri"/>
              </a:rPr>
              <a:t>20%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4151376"/>
            <a:ext cx="219456" cy="219456"/>
          </a:xfrm>
          <a:prstGeom prst="rect">
            <a:avLst/>
          </a:prstGeom>
          <a:solidFill>
            <a:srgbClr val="F4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4105656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BE3E3"/>
                </a:solidFill>
                <a:latin typeface="Calibri"/>
              </a:rPr>
              <a:t>FO — Fan-Out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4105656"/>
            <a:ext cx="411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CD41"/>
                </a:solidFill>
                <a:latin typeface="Calibri"/>
              </a:rPr>
              <a:t>15%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40" y="4626864"/>
            <a:ext cx="219456" cy="21945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4581144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BE3E3"/>
                </a:solidFill>
                <a:latin typeface="Calibri"/>
              </a:rPr>
              <a:t>CS — Channel Sprawl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4581144"/>
            <a:ext cx="411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CD41"/>
                </a:solidFill>
                <a:latin typeface="Calibri"/>
              </a:rPr>
              <a:t>10%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64040" y="5102351"/>
            <a:ext cx="219456" cy="219456"/>
          </a:xfrm>
          <a:prstGeom prst="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5056631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BE3E3"/>
                </a:solidFill>
                <a:latin typeface="Calibri"/>
              </a:rPr>
              <a:t>OO — Orphan Objects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5056631"/>
            <a:ext cx="411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CD41"/>
                </a:solidFill>
                <a:latin typeface="Calibri"/>
              </a:rPr>
              <a:t>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As-is → target: measured, not asserted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291840" cy="448056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CD41"/>
                </a:solidFill>
                <a:latin typeface="Calibri"/>
              </a:rPr>
              <a:t>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mbria"/>
              </a:rPr>
              <a:t>54.6%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FBE3E3"/>
                </a:solidFill>
                <a:latin typeface="Calibri"/>
              </a:rPr>
              <a:t>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CD41"/>
                </a:solidFill>
                <a:latin typeface="Cambria"/>
              </a:rPr>
              <a:t>100.0</a:t>
            </a:r>
            <a:r>
              <a:rPr sz="2000" b="0" i="0">
                <a:solidFill>
                  <a:srgbClr val="FBE3E3"/>
                </a:solidFill>
                <a:latin typeface="Cambria"/>
              </a:rPr>
              <a:t>  →  </a:t>
            </a:r>
            <a:r>
              <a:rPr sz="2800" b="1" i="0">
                <a:solidFill>
                  <a:srgbClr val="FFFFFF"/>
                </a:solidFill>
                <a:latin typeface="Cambria"/>
              </a:rPr>
              <a:t>45.4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BE3E3"/>
                </a:solidFill>
                <a:latin typeface="Calibri"/>
              </a:rPr>
              <a:t>on the 6-factor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554480"/>
            <a:ext cx="7635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31B1B"/>
                </a:solidFill>
                <a:latin typeface="Cambria"/>
              </a:rPr>
              <a:t>Per-metric: as-is →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783080"/>
            <a:ext cx="182880" cy="182880"/>
          </a:xfrm>
          <a:prstGeom prst="rect">
            <a:avLst/>
          </a:prstGeom>
          <a:solidFill>
            <a:srgbClr val="7A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73736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As-Is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783080"/>
            <a:ext cx="182880" cy="1828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1240" y="173736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1945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Coupling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231136"/>
            <a:ext cx="3291840" cy="137160"/>
          </a:xfrm>
          <a:prstGeom prst="rect">
            <a:avLst/>
          </a:prstGeom>
          <a:solidFill>
            <a:srgbClr val="7A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94560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A0000"/>
                </a:solidFill>
                <a:latin typeface="Calibri"/>
              </a:rPr>
              <a:t>5.16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395728"/>
            <a:ext cx="637953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2993" y="2359152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633472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Channel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670048"/>
            <a:ext cx="3291840" cy="137160"/>
          </a:xfrm>
          <a:prstGeom prst="rect">
            <a:avLst/>
          </a:prstGeom>
          <a:solidFill>
            <a:srgbClr val="7A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633472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A0000"/>
                </a:solidFill>
                <a:latin typeface="Calibri"/>
              </a:rPr>
              <a:t>638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834640"/>
            <a:ext cx="2538534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3574" y="2798064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492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072384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Orphan QMs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108960"/>
            <a:ext cx="3291840" cy="137160"/>
          </a:xfrm>
          <a:prstGeom prst="rect">
            <a:avLst/>
          </a:prstGeom>
          <a:solidFill>
            <a:srgbClr val="7A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072384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A0000"/>
                </a:solidFill>
                <a:latin typeface="Calibri"/>
              </a:rPr>
              <a:t>53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273552"/>
            <a:ext cx="36576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1616" y="3236976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511296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Critical violations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3547872"/>
            <a:ext cx="3291840" cy="137160"/>
          </a:xfrm>
          <a:prstGeom prst="rect">
            <a:avLst/>
          </a:prstGeom>
          <a:solidFill>
            <a:srgbClr val="7A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3511296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A0000"/>
                </a:solidFill>
                <a:latin typeface="Calibri"/>
              </a:rPr>
              <a:t>310+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712463"/>
            <a:ext cx="36576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1616" y="3675887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4251960"/>
            <a:ext cx="1757934" cy="173736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4572000"/>
            <a:ext cx="17579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1B1B"/>
                </a:solidFill>
                <a:latin typeface="Cambria"/>
              </a:rPr>
              <a:t>80.6%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8" y="5257800"/>
            <a:ext cx="15384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Calibri"/>
              </a:rPr>
              <a:t>Coupling index 5.16 → 1.0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2462" y="4251960"/>
            <a:ext cx="1757934" cy="173736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2462" y="4572000"/>
            <a:ext cx="17579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1B1B"/>
                </a:solidFill>
                <a:latin typeface="Cambria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2190" y="5257800"/>
            <a:ext cx="15384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Calibri"/>
              </a:rPr>
              <a:t>Orphan QMs 53 → 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41564" y="4251960"/>
            <a:ext cx="1757934" cy="173736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41564" y="4572000"/>
            <a:ext cx="17579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1B1B"/>
                </a:solidFill>
                <a:latin typeface="Cambria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51292" y="5257800"/>
            <a:ext cx="15384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Calibri"/>
              </a:rPr>
              <a:t>Critical violations 310+ → 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00666" y="4251960"/>
            <a:ext cx="1757934" cy="1737360"/>
          </a:xfrm>
          <a:prstGeom prst="roundRect">
            <a:avLst>
              <a:gd name="adj" fmla="val 8000"/>
            </a:avLst>
          </a:prstGeom>
          <a:solidFill>
            <a:srgbClr val="FBF6F6"/>
          </a:solidFill>
          <a:ln w="12700">
            <a:solidFill>
              <a:srgbClr val="EAD9D9"/>
            </a:solidFill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0666" y="4572000"/>
            <a:ext cx="17579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1B1B"/>
                </a:solidFill>
                <a:latin typeface="Cambria"/>
              </a:rPr>
              <a:t>22.9%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0394" y="5257800"/>
            <a:ext cx="15384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Calibri"/>
              </a:rPr>
              <a:t>Channel count 638 → 492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RESULTS · THE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Manual vs IntelliAI: the effort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We can't quote a licence-cost figure, but the human-effort delta on this single 259-QM estate is the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00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0000"/>
                </a:solidFill>
                <a:latin typeface="Calibri"/>
              </a:rPr>
              <a:t>MANUAL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002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WITH INTELLIAI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Profile estate &amp; detect violations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65960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E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Days of manual spreadsheet + query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965960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E9F4EE"/>
          </a:solidFill>
          <a:ln w="9525">
            <a:solidFill>
              <a:srgbClr val="C4E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965960"/>
            <a:ext cx="3520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Seconds — 74 components, 310 violations, SPOFs auto-found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34056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34056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Design compliant target topology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734056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E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734056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Senior architect, weeks of whiteboarding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734056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E9F4EE"/>
          </a:solidFill>
          <a:ln w="9525">
            <a:solidFill>
              <a:srgbClr val="C4E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734056"/>
            <a:ext cx="3520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Rules + LLM, validated, in one ~30s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02152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02152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Write MQSC provisioning scripts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502152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E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502152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Hand-authored per QM, error-prone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502152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E9F4EE"/>
          </a:solidFill>
          <a:ln w="9525">
            <a:solidFill>
              <a:srgbClr val="C4E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502152"/>
            <a:ext cx="3520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3,750 commands across 433 QMs, dependency-ordered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70248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70248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Build phased migration + rollback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270248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E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270248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Multi-week planning exercise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4270248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E9F4EE"/>
          </a:solidFill>
          <a:ln w="9525">
            <a:solidFill>
              <a:srgbClr val="C4E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4270248"/>
            <a:ext cx="3520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2,605 ordered steps, 4 phases, rollback per step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38344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38344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Documentation (ADRs, exec summary, tests)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5038344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E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038344"/>
            <a:ext cx="3337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Often skipped under deadline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5038344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E9F4EE"/>
          </a:solidFill>
          <a:ln w="9525">
            <a:solidFill>
              <a:srgbClr val="C4E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5038344"/>
            <a:ext cx="3520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Auto-generated, enterprise-grade, every 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1B1B"/>
                </a:solidFill>
                <a:latin typeface="Calibri"/>
              </a:rPr>
              <a:t>IF WE HAD MORE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1B1B"/>
                </a:solidFill>
                <a:latin typeface="Cambria"/>
              </a:rPr>
              <a:t>Future roadmap: Day-2 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Today the pipeline transforms an estate once. Next: keep it optimised as the estate lives and breathes — the same 10 agents applied incrementally.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CD41"/>
                </a:solidFill>
                <a:latin typeface="Calibri"/>
              </a:rPr>
              <a:t>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Add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BE3E3"/>
                </a:solidFill>
                <a:latin typeface="Calibri"/>
              </a:rPr>
              <a:t>New application enters the estate. The agent picks optimal QM placement from producer/consumer profile, traffic, and compliance zone — then provisions QM, channels, queues and re-validates via Tester.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4884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468880"/>
            <a:ext cx="777240" cy="7772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CD41"/>
                </a:solidFill>
                <a:latin typeface="Calibri"/>
              </a:rPr>
              <a:t>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2900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Reroute / Reconnect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931920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BE3E3"/>
                </a:solidFill>
                <a:latin typeface="Calibri"/>
              </a:rPr>
              <a:t>App changes upstream or downstream partners. The agent computes the channel delta, checks for new SPOFs or compliance-boundary breaches, and emits a REROUTE plan with rollback.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14884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B31B1B"/>
          </a:solidFill>
          <a:ln>
            <a:noFill/>
          </a:ln>
          <a:effectLst/>
          <a:effectLst>
            <a:outerShdw blurRad="70000" dist="38100" dir="5400000" rotWithShape="0">
              <a:srgbClr val="8B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2468880"/>
            <a:ext cx="777240" cy="77724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CD41"/>
                </a:solidFill>
                <a:latin typeface="Calibri"/>
              </a:rPr>
              <a:t>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2900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Remove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931920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BE3E3"/>
                </a:solidFill>
                <a:latin typeface="Calibri"/>
              </a:rPr>
              <a:t>Application decommissioned. The agent traces every dependent channel, queue and XMITQ, generates CLEANUP MQSC, and evaluates the orphaned QM for consolidation or decommission.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406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BE3E3"/>
          </a:solidFill>
          <a:ln w="12700">
            <a:solidFill>
              <a:srgbClr val="EA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31B1B"/>
                </a:solidFill>
                <a:latin typeface="Calibri"/>
              </a:rPr>
              <a:t>↺  One pipeline, two modes: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bulk transformation for the initial modernization, incremental lifecycle ops thereafter. The topology never drifts back into a tangled mesh.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IntelliAI  ·  IBM MQ Intelligent Hackathon 2026  ·  Part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CD41"/>
                </a:solidFill>
                <a:latin typeface="Calibri"/>
              </a:rPr>
              <a:t>NOW  THE 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86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Let's watch the pipeline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BE3E3"/>
                </a:solidFill>
                <a:latin typeface="Calibri"/>
              </a:rPr>
              <a:t>Upload a raw MQ dataset → 10 agents analyse, design, validate → pause at the human gate → approve and generate every deliverable.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389120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A81414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26280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5604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BE3E3"/>
                </a:solidFill>
                <a:latin typeface="Calibri"/>
              </a:rPr>
              <a:t>raw CSV, one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389120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A81414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526280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95604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BE3E3"/>
                </a:solidFill>
                <a:latin typeface="Calibri"/>
              </a:rPr>
              <a:t>every agent step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389120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A81414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526280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Topology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95604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BE3E3"/>
                </a:solidFill>
                <a:latin typeface="Calibri"/>
              </a:rPr>
              <a:t>as-is vs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389120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A81414"/>
          </a:solidFill>
          <a:ln w="12700">
            <a:solidFill>
              <a:srgbClr val="FFCD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526280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CD41"/>
                </a:solidFill>
                <a:latin typeface="Cambria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95604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BE3E3"/>
                </a:solidFill>
                <a:latin typeface="Calibri"/>
              </a:rPr>
              <a:t>approve / revise /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26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9B9B"/>
                </a:solidFill>
                <a:latin typeface="Calibri"/>
              </a:rPr>
              <a:t>Team IntelliAI  ·  IBM MQ Intelligent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