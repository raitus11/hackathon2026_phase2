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again — Team intelliAI2DotO, Part 2. In Part 1, IntelliAI analysed the estate and recommended a target topology. IntelliAI 2.0 is the execution layer — the control plane that actually performs the migration on a live system. We ran it against a real fleet: 16 IBM MQ 9.4.5 queue managers on OpenShift, and migrated 7 applications from shared queue managers onto their own dedicated ones — with zero messages lost and no application touched. I'll cover how it works, then run it live.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Enterprise MQ estates pack many apps onto a few shared queue managers — so one app's incident, one app's patch window, one app's traffic spike hits everyone. The fix is well understood: give each app its own dedicated queue manager. The hard part is doing that on a LIVE estate, because you have to hold four things at once: no message can be lost, the applications can't be asked to change anything, the other apps on that shared QM can't be disturbed, and every change has to be fully auditable. IntelliAI 2.0 is the control plane that holds all four.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design rests on one rule: nothing touches MQ or the cluster except the Business Control Layer. The UI is a pure client — it holds no credentials and issues no MQSC; it can only call the BCL's REST API. The BCL is the single chokepoint, and underneath it are 16 real IBM MQ 9.4.5 queue managers running as pods on OpenShift — nine shared sources, seven dedicated targets. Because there is exactly one path to MQ, there is exactly one place to validate every change, sequence it, and audit-log it. One path, one place to inspect.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one app, moving from a shared source to a dedicated target, five steps. One, provision the target QM as a pod and realize its objects. Two, build a bridge — a transmission queue and sender channel on the source, a matching receiver on the target. Three, the cutover: we delete the app's local queue and redefine it as a remote-queue alias of the exact same name pointing over the bridge. Four, drain the old queue — poll depth to a confirmed zero, three consecutive zero readings, so nothing is stranded. Five, validate end-to-end and remove the empty source queues. The magic is step three: the producer keeps PUT-ting to the same name on the same connection, and MQ routes it to the new QM. It never reconnects, never notices.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why the migration is invisible, and it's worth dwelling on. Before, the app PUTs to a queue name — a QLOCAL — on a shared queue manager. That queue name and connection string are all the app knows. During the cutover we delete that QLOCAL and, in its place, define a QREMOTE alias with the exact same name, pointing over the bridge to the real queue on the target. The app keeps PUT-ting to the same name on the same connection; MQ's remote-queue routing now forwards every message to the new queue manager. In the demo we prove it by showing the producer pod's environment variables on screen — same DNS name, same port, before and after — and the messages never stop flowing. We chose an alias over an MQ cluster deliberately: it's local, and it's reversible by a single inverse command.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app's migration is an explicit twelve-state machine, not a script. A script that fails leaves the system in whatever state it reached, and the operator has to reverse-engineer it. With a state machine, every app is always in a named state, every transition is audit-logged, and recovery is defined for every state. The forward path is these nine states. And the failure path is the other half of the machine, not an afterthought: from any forward state it can go to ROLLING_BACK, then settle at ROLLED_BACK — source restored, failure captured — or, if the rollback itself fails, at ROLLBACK_FAILED, which explicitly signals a human is needed rather than silently leaving an ambiguous state. The transition rules live in a pure module with a single assert_transition chokepoint, so an out-of-order transition simply can't happen.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recurring theme of the whole system: every guarantee is checked, not just intended. No message loss — the drain polls the queue to a confirmed zero, three consecutive zero readings with no open handles, before we remove anything. No app change — the remote-queue alias keeps the name and connection identical. No collateral impact — and this is the strong one — the blast-radius analysis enumerates every MQSC command the migration will issue and counts how many touch a co-tenant's queues; for a correct migration that count is zero, and the migration is gated on it. And full auditability — every state change writes a Lamport-clocked record, and that audit log is the system of record. Isolation is verified per plan. The drain is proven by polling. It's all checked.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failure path isn't an afterthought — it's half the state machine. Say the target queue manager becomes unreachable while we're validating the bridge. The engine detects it and the migration goes to ROLLING_BACK. The rollback engine reads THIS app's audit entries, walks them in reverse Lamport order, and applies the inverse MQSC for each completed step — restoring the source queues, removing the bridge. It settles at ROLLED_BACK: the app is back on its original queue manager, fully operational, and crucially, apps that already completed or haven't started are never touched. Then the RCA agent reads the Lamport-ordered trail, locates the failure, names the MQ reason code, and gives a diagnosis. The operator fixes the issue and restarts — the record recycles to PLANNED and the idempotent forward path runs again.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agents, all on the Tachyon gateway running Gemini 2.5 Pro, and the key word is advisory. The Migration Planner produces a readable plan and the identified risks for the operator to review before approving. The Operator Assistant answers free-text questions about migrations and the audit log. The RCA Assistant diagnoses a failed migration — reads the trail, names the MQ reason code, suggests checks. But none of them act. Every state-changing action — provisioning, rewiring, draining, rollback — is done by deterministic, code-reviewed engines. An LLM is excellent at planning and explanation and completely unsuitable for issuing the MQSC that mutates a production queue manager. Deterministic engines decide and act; agents explain and advise; the audit log records. That separation is what keeps the system both intelligent and predictable.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models, each where it genuinely earns its place, and each cited. Little's Law: at cutover we wait for the old queue to empty — and rather than poll blindly, we predict it. With the producer rewired away no new messages arrive, so drain time is just the depth at cutover over the consumer service rate. It predicts the wait for the operator; the polling still proves the result. And the absorbing Markov chain: the migration state machine literally IS an absorbing chain — completed and the two rollback states absorb, the rest are transient — so the fundamental matrix gives the expected steps to absorption and the probability of each outcome. We show that model alongside a separate empirical estimate counted from the real audit log, and never merge the two: one is a model, the other is a measurement. Neither is decoration — each answers a real question.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exercised end to end against a real fleet — not a simulation. Sixteen IBM MQ 9.4.5 queue managers, nine shared sources and seven dedicated targets, as real pods on OpenShift. Seven applications migrated from shared to dedicated, one at a time, each through its own twelve-state machine. Zero messages lost — proven, because every cutover polls the drain to a confirmed zero. And a hundred percent reversible — every forward step has a clean inverse, and we verify the per-app rollback live in the demo. The provisioning, migration, validation, and rollback evidence is all in the artifacts folder.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it's built like production, not a prototype. The audit log is real audit-grade — Lamport-clocked, append-only, with full request and response payloads and correlation IDs traceable end to end; a reviewer can ask who did this, when, and what the response was, and it's one GET away. Evidence bundles export per migration — the audit slice, the MQSC, the validation results, before-and-after topology snapshots — the kind of artifact that would survive a Wells Fargo internal audit. There's real observability — liveness and readiness endpoints, structured logging, Prometheus metrics, OpenTelemetry tracing. And it's idempotent and crash-safe: SQLite in WAL mode on a persistent volume means a restarted control plane recovers its state and a migration can be safely re-run.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be precise about the edges, because being clear about what the system does NOT do is part of earning trust. We use a formal next-state discipline but we don't run a model checker, so we don't claim machine-checked correctness. The Markov number is a model, always shown alongside the empirical audit estimate, never merged. Little's Law is a prediction; the drain is always confirmed by polling. The control plane runs single-instance today — high availability of the BCL itself is out of scope, though it recovers state on restart. And we operate in a single namespace, with cross-app message dependencies out of scope. Where it goes next follows directly from those edges: control-plane HA, Postgres at larger scale, cross-namespace migrations, and eventually model-checked verification of the invariants.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 ~5 min. Dashboard shows 16 QMs, 7 migrations, oc get pods on a side screen. 1) Topology: 7 apps on shared source QMs. 2) Pick APUMN/GC, click Plan migration — the Planner agent generates the ordered MQSC and surfaces it for approval. 3) Approve — MQSC streams to the pod via kubectl exec, each command+response in the audit log, Lamport clock incrementing, topology animates the new APPQM pod and channels. 4) Validate — four functional tests go green: connectivity, message-count consistency, put-get round-trip, app reconnect. 5) The wow moment — show the producer pod env vars: same DNS, same port, before and after; messages still flowing. 6) Induce failure — 'inject chaos: drop SDR channel'; validation fails; approve rollback; engine walks the audit log backward, app returns to source state. 7) RCA tab shows the diagnosis. 8) Big one: kick off JUUD/C9 — 33 flows propagate in seconds; all 7 apps now on dedicated QMs. 9) Download evidence bundle. Close: no message lost, no app reconfigured, no co-tenant disturbed, every step on the record.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A0000"/>
        </a:solidFill>
        <a:effectLst/>
      </p:bgPr>
    </p:bg>
    <p:spTree>
      <p:nvGrpSpPr>
        <p:cNvPr id="1" name=""/>
        <p:cNvGrpSpPr/>
        <p:nvPr/>
      </p:nvGrpSpPr>
      <p:grpSpPr/>
      <p:cxnSp>
        <p:nvCxnSpPr>
          <p:cNvPr id="2" name="Connector 1"/>
          <p:cNvCxnSpPr/>
          <p:nvPr/>
        </p:nvCxnSpPr>
        <p:spPr>
          <a:xfrm>
            <a:off x="10497312" y="941832"/>
            <a:ext cx="731520" cy="731520"/>
          </a:xfrm>
          <a:prstGeom prst="bentConnector3">
            <a:avLst/>
          </a:prstGeom>
          <a:ln w="12700">
            <a:solidFill>
              <a:srgbClr val="FFCD41"/>
            </a:solidFill>
          </a:ln>
          <a:effectLst/>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H="1">
            <a:off x="9857232" y="941832"/>
            <a:ext cx="640080" cy="1005840"/>
          </a:xfrm>
          <a:prstGeom prst="bentConnector3">
            <a:avLst/>
          </a:prstGeom>
          <a:ln w="12700">
            <a:solidFill>
              <a:srgbClr val="FFCD41"/>
            </a:solidFill>
          </a:ln>
          <a:effectLst/>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1228832" y="1673352"/>
            <a:ext cx="457200" cy="457200"/>
          </a:xfrm>
          <a:prstGeom prst="bentConnector3">
            <a:avLst/>
          </a:prstGeom>
          <a:ln w="12700">
            <a:solidFill>
              <a:srgbClr val="FFCD41"/>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9857232" y="1947672"/>
            <a:ext cx="1188720" cy="822960"/>
          </a:xfrm>
          <a:prstGeom prst="bentConnector3">
            <a:avLst/>
          </a:prstGeom>
          <a:ln w="12700">
            <a:solidFill>
              <a:srgbClr val="FFCD41"/>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1045952" y="1673352"/>
            <a:ext cx="182880" cy="1097280"/>
          </a:xfrm>
          <a:prstGeom prst="bentConnector3">
            <a:avLst/>
          </a:prstGeom>
          <a:ln w="12700">
            <a:solidFill>
              <a:srgbClr val="FFCD41"/>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131552" y="941832"/>
            <a:ext cx="365760" cy="274320"/>
          </a:xfrm>
          <a:prstGeom prst="bentConnector3">
            <a:avLst/>
          </a:prstGeom>
          <a:ln w="12700">
            <a:solidFill>
              <a:srgbClr val="FFCD41"/>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131552" y="1216152"/>
            <a:ext cx="1097280" cy="457200"/>
          </a:xfrm>
          <a:prstGeom prst="bentConnector3">
            <a:avLst/>
          </a:prstGeom>
          <a:ln w="12700">
            <a:solidFill>
              <a:srgbClr val="FFCD41"/>
            </a:solidFill>
          </a:ln>
          <a:effectLst/>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10424160" y="868680"/>
            <a:ext cx="146304" cy="146304"/>
          </a:xfrm>
          <a:prstGeom prst="ellipse">
            <a:avLst/>
          </a:prstGeom>
          <a:solidFill>
            <a:srgbClr val="FFCD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55680" y="1600200"/>
            <a:ext cx="146304" cy="146304"/>
          </a:xfrm>
          <a:prstGeom prst="ellipse">
            <a:avLst/>
          </a:prstGeom>
          <a:solidFill>
            <a:srgbClr val="FFCD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784080" y="1874519"/>
            <a:ext cx="146304" cy="146304"/>
          </a:xfrm>
          <a:prstGeom prst="ellipse">
            <a:avLst/>
          </a:prstGeom>
          <a:solidFill>
            <a:srgbClr val="FFCD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972800" y="2697480"/>
            <a:ext cx="146304" cy="146304"/>
          </a:xfrm>
          <a:prstGeom prst="ellipse">
            <a:avLst/>
          </a:prstGeom>
          <a:solidFill>
            <a:srgbClr val="FFCD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612880" y="2057400"/>
            <a:ext cx="146304" cy="146304"/>
          </a:xfrm>
          <a:prstGeom prst="ellipse">
            <a:avLst/>
          </a:prstGeom>
          <a:solidFill>
            <a:srgbClr val="FFCD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58400" y="1143000"/>
            <a:ext cx="146304" cy="146304"/>
          </a:xfrm>
          <a:prstGeom prst="ellipse">
            <a:avLst/>
          </a:prstGeom>
          <a:solidFill>
            <a:srgbClr val="FFCD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600200"/>
            <a:ext cx="9144000" cy="320040"/>
          </a:xfrm>
          <a:prstGeom prst="rect">
            <a:avLst/>
          </a:prstGeom>
          <a:noFill/>
        </p:spPr>
        <p:txBody>
          <a:bodyPr wrap="square" anchor="t" lIns="0" rIns="0" tIns="0" bIns="0">
            <a:spAutoFit/>
          </a:bodyPr>
          <a:lstStyle/>
          <a:p>
            <a:pPr algn="l"/>
            <a:r>
              <a:rPr sz="1400" b="1" i="0">
                <a:solidFill>
                  <a:srgbClr val="FFCD41"/>
                </a:solidFill>
                <a:latin typeface="Calibri"/>
              </a:rPr>
              <a:t>TEAM  INTELLIAI2DOTO  ·  PHASE 2</a:t>
            </a:r>
          </a:p>
        </p:txBody>
      </p:sp>
      <p:sp>
        <p:nvSpPr>
          <p:cNvPr id="16" name="TextBox 15"/>
          <p:cNvSpPr txBox="1"/>
          <p:nvPr/>
        </p:nvSpPr>
        <p:spPr>
          <a:xfrm>
            <a:off x="658368" y="1965960"/>
            <a:ext cx="10058400" cy="1051560"/>
          </a:xfrm>
          <a:prstGeom prst="rect">
            <a:avLst/>
          </a:prstGeom>
          <a:noFill/>
        </p:spPr>
        <p:txBody>
          <a:bodyPr wrap="square" anchor="t" lIns="0" rIns="0" tIns="0" bIns="0">
            <a:spAutoFit/>
          </a:bodyPr>
          <a:lstStyle/>
          <a:p>
            <a:pPr algn="l"/>
            <a:r>
              <a:rPr sz="6000" b="1" i="0">
                <a:solidFill>
                  <a:srgbClr val="FFFFFF"/>
                </a:solidFill>
                <a:latin typeface="Cambria"/>
              </a:rPr>
              <a:t>IntelliAI 2.0</a:t>
            </a:r>
          </a:p>
        </p:txBody>
      </p:sp>
      <p:sp>
        <p:nvSpPr>
          <p:cNvPr id="17" name="TextBox 16"/>
          <p:cNvSpPr txBox="1"/>
          <p:nvPr/>
        </p:nvSpPr>
        <p:spPr>
          <a:xfrm>
            <a:off x="685800" y="3063240"/>
            <a:ext cx="10515600" cy="548640"/>
          </a:xfrm>
          <a:prstGeom prst="rect">
            <a:avLst/>
          </a:prstGeom>
          <a:noFill/>
        </p:spPr>
        <p:txBody>
          <a:bodyPr wrap="square" anchor="t" lIns="0" rIns="0" tIns="0" bIns="0">
            <a:spAutoFit/>
          </a:bodyPr>
          <a:lstStyle/>
          <a:p>
            <a:pPr algn="l"/>
            <a:r>
              <a:rPr sz="2200" b="0" i="0">
                <a:solidFill>
                  <a:srgbClr val="FBE3E3"/>
                </a:solidFill>
                <a:latin typeface="Calibri"/>
              </a:rPr>
              <a:t>The IBM MQ Migration Control Plane</a:t>
            </a:r>
          </a:p>
        </p:txBody>
      </p:sp>
      <p:sp>
        <p:nvSpPr>
          <p:cNvPr id="18" name="TextBox 17"/>
          <p:cNvSpPr txBox="1"/>
          <p:nvPr/>
        </p:nvSpPr>
        <p:spPr>
          <a:xfrm>
            <a:off x="685800" y="3794760"/>
            <a:ext cx="10424160" cy="457200"/>
          </a:xfrm>
          <a:prstGeom prst="rect">
            <a:avLst/>
          </a:prstGeom>
          <a:noFill/>
        </p:spPr>
        <p:txBody>
          <a:bodyPr wrap="square" anchor="t" lIns="0" rIns="0" tIns="0" bIns="0">
            <a:spAutoFit/>
          </a:bodyPr>
          <a:lstStyle/>
          <a:p>
            <a:pPr algn="l"/>
            <a:r>
              <a:rPr sz="1500" b="0" i="0">
                <a:solidFill>
                  <a:srgbClr val="FBE3E3"/>
                </a:solidFill>
                <a:latin typeface="Calibri"/>
              </a:rPr>
              <a:t>Part 1 recommended the target topology. </a:t>
            </a:r>
            <a:r>
              <a:rPr sz="1500" b="1" i="0">
                <a:solidFill>
                  <a:srgbClr val="FFFFFF"/>
                </a:solidFill>
                <a:latin typeface="Calibri"/>
              </a:rPr>
              <a:t>Part 2 executes it — live, one app at a time, with zero message loss.</a:t>
            </a:r>
          </a:p>
        </p:txBody>
      </p:sp>
      <p:sp>
        <p:nvSpPr>
          <p:cNvPr id="19" name="Rounded Rectangle 18"/>
          <p:cNvSpPr/>
          <p:nvPr/>
        </p:nvSpPr>
        <p:spPr>
          <a:xfrm>
            <a:off x="685800" y="4846320"/>
            <a:ext cx="2514600" cy="1051560"/>
          </a:xfrm>
          <a:prstGeom prst="roundRect">
            <a:avLst>
              <a:gd name="adj" fmla="val 8000"/>
            </a:avLst>
          </a:prstGeom>
          <a:solidFill>
            <a:srgbClr val="A81414"/>
          </a:solidFill>
          <a:ln w="12700">
            <a:solidFill>
              <a:srgbClr val="FFCD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983480"/>
            <a:ext cx="2514600" cy="502920"/>
          </a:xfrm>
          <a:prstGeom prst="rect">
            <a:avLst/>
          </a:prstGeom>
          <a:noFill/>
        </p:spPr>
        <p:txBody>
          <a:bodyPr wrap="square" anchor="t" lIns="0" rIns="0" tIns="0" bIns="0">
            <a:spAutoFit/>
          </a:bodyPr>
          <a:lstStyle/>
          <a:p>
            <a:pPr algn="ctr"/>
            <a:r>
              <a:rPr sz="2600" b="1" i="0">
                <a:solidFill>
                  <a:srgbClr val="FFCD41"/>
                </a:solidFill>
                <a:latin typeface="Cambria"/>
              </a:rPr>
              <a:t>16</a:t>
            </a:r>
          </a:p>
        </p:txBody>
      </p:sp>
      <p:sp>
        <p:nvSpPr>
          <p:cNvPr id="21" name="TextBox 20"/>
          <p:cNvSpPr txBox="1"/>
          <p:nvPr/>
        </p:nvSpPr>
        <p:spPr>
          <a:xfrm>
            <a:off x="685800" y="5477256"/>
            <a:ext cx="2514600" cy="320040"/>
          </a:xfrm>
          <a:prstGeom prst="rect">
            <a:avLst/>
          </a:prstGeom>
          <a:noFill/>
        </p:spPr>
        <p:txBody>
          <a:bodyPr wrap="square" anchor="t" lIns="0" rIns="0" tIns="0" bIns="0">
            <a:spAutoFit/>
          </a:bodyPr>
          <a:lstStyle/>
          <a:p>
            <a:pPr algn="ctr"/>
            <a:r>
              <a:rPr sz="1200" b="0" i="0">
                <a:solidFill>
                  <a:srgbClr val="FBE3E3"/>
                </a:solidFill>
                <a:latin typeface="Calibri"/>
              </a:rPr>
              <a:t>MQ 9.4.5 QMs</a:t>
            </a:r>
          </a:p>
        </p:txBody>
      </p:sp>
      <p:sp>
        <p:nvSpPr>
          <p:cNvPr id="22" name="Rounded Rectangle 21"/>
          <p:cNvSpPr/>
          <p:nvPr/>
        </p:nvSpPr>
        <p:spPr>
          <a:xfrm>
            <a:off x="3429000" y="4846320"/>
            <a:ext cx="2514600" cy="1051560"/>
          </a:xfrm>
          <a:prstGeom prst="roundRect">
            <a:avLst>
              <a:gd name="adj" fmla="val 8000"/>
            </a:avLst>
          </a:prstGeom>
          <a:solidFill>
            <a:srgbClr val="A81414"/>
          </a:solidFill>
          <a:ln w="12700">
            <a:solidFill>
              <a:srgbClr val="FFCD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29000" y="4983480"/>
            <a:ext cx="2514600" cy="502920"/>
          </a:xfrm>
          <a:prstGeom prst="rect">
            <a:avLst/>
          </a:prstGeom>
          <a:noFill/>
        </p:spPr>
        <p:txBody>
          <a:bodyPr wrap="square" anchor="t" lIns="0" rIns="0" tIns="0" bIns="0">
            <a:spAutoFit/>
          </a:bodyPr>
          <a:lstStyle/>
          <a:p>
            <a:pPr algn="ctr"/>
            <a:r>
              <a:rPr sz="2600" b="1" i="0">
                <a:solidFill>
                  <a:srgbClr val="FFCD41"/>
                </a:solidFill>
                <a:latin typeface="Cambria"/>
              </a:rPr>
              <a:t>7</a:t>
            </a:r>
          </a:p>
        </p:txBody>
      </p:sp>
      <p:sp>
        <p:nvSpPr>
          <p:cNvPr id="24" name="TextBox 23"/>
          <p:cNvSpPr txBox="1"/>
          <p:nvPr/>
        </p:nvSpPr>
        <p:spPr>
          <a:xfrm>
            <a:off x="3429000" y="5477256"/>
            <a:ext cx="2514600" cy="320040"/>
          </a:xfrm>
          <a:prstGeom prst="rect">
            <a:avLst/>
          </a:prstGeom>
          <a:noFill/>
        </p:spPr>
        <p:txBody>
          <a:bodyPr wrap="square" anchor="t" lIns="0" rIns="0" tIns="0" bIns="0">
            <a:spAutoFit/>
          </a:bodyPr>
          <a:lstStyle/>
          <a:p>
            <a:pPr algn="ctr"/>
            <a:r>
              <a:rPr sz="1200" b="0" i="0">
                <a:solidFill>
                  <a:srgbClr val="FBE3E3"/>
                </a:solidFill>
                <a:latin typeface="Calibri"/>
              </a:rPr>
              <a:t>apps migrated</a:t>
            </a:r>
          </a:p>
        </p:txBody>
      </p:sp>
      <p:sp>
        <p:nvSpPr>
          <p:cNvPr id="25" name="Rounded Rectangle 24"/>
          <p:cNvSpPr/>
          <p:nvPr/>
        </p:nvSpPr>
        <p:spPr>
          <a:xfrm>
            <a:off x="6172200" y="4846320"/>
            <a:ext cx="2514600" cy="1051560"/>
          </a:xfrm>
          <a:prstGeom prst="roundRect">
            <a:avLst>
              <a:gd name="adj" fmla="val 8000"/>
            </a:avLst>
          </a:prstGeom>
          <a:solidFill>
            <a:srgbClr val="A81414"/>
          </a:solidFill>
          <a:ln w="12700">
            <a:solidFill>
              <a:srgbClr val="FFCD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72200" y="4983480"/>
            <a:ext cx="2514600" cy="502920"/>
          </a:xfrm>
          <a:prstGeom prst="rect">
            <a:avLst/>
          </a:prstGeom>
          <a:noFill/>
        </p:spPr>
        <p:txBody>
          <a:bodyPr wrap="square" anchor="t" lIns="0" rIns="0" tIns="0" bIns="0">
            <a:spAutoFit/>
          </a:bodyPr>
          <a:lstStyle/>
          <a:p>
            <a:pPr algn="ctr"/>
            <a:r>
              <a:rPr sz="2600" b="1" i="0">
                <a:solidFill>
                  <a:srgbClr val="FFCD41"/>
                </a:solidFill>
                <a:latin typeface="Cambria"/>
              </a:rPr>
              <a:t>12</a:t>
            </a:r>
          </a:p>
        </p:txBody>
      </p:sp>
      <p:sp>
        <p:nvSpPr>
          <p:cNvPr id="27" name="TextBox 26"/>
          <p:cNvSpPr txBox="1"/>
          <p:nvPr/>
        </p:nvSpPr>
        <p:spPr>
          <a:xfrm>
            <a:off x="6172200" y="5477256"/>
            <a:ext cx="2514600" cy="320040"/>
          </a:xfrm>
          <a:prstGeom prst="rect">
            <a:avLst/>
          </a:prstGeom>
          <a:noFill/>
        </p:spPr>
        <p:txBody>
          <a:bodyPr wrap="square" anchor="t" lIns="0" rIns="0" tIns="0" bIns="0">
            <a:spAutoFit/>
          </a:bodyPr>
          <a:lstStyle/>
          <a:p>
            <a:pPr algn="ctr"/>
            <a:r>
              <a:rPr sz="1200" b="0" i="0">
                <a:solidFill>
                  <a:srgbClr val="FBE3E3"/>
                </a:solidFill>
                <a:latin typeface="Calibri"/>
              </a:rPr>
              <a:t>state machine</a:t>
            </a:r>
          </a:p>
        </p:txBody>
      </p:sp>
      <p:sp>
        <p:nvSpPr>
          <p:cNvPr id="28" name="Rounded Rectangle 27"/>
          <p:cNvSpPr/>
          <p:nvPr/>
        </p:nvSpPr>
        <p:spPr>
          <a:xfrm>
            <a:off x="8915400" y="4846320"/>
            <a:ext cx="2514600" cy="1051560"/>
          </a:xfrm>
          <a:prstGeom prst="roundRect">
            <a:avLst>
              <a:gd name="adj" fmla="val 8000"/>
            </a:avLst>
          </a:prstGeom>
          <a:solidFill>
            <a:srgbClr val="A81414"/>
          </a:solidFill>
          <a:ln w="12700">
            <a:solidFill>
              <a:srgbClr val="FFCD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15400" y="4983480"/>
            <a:ext cx="2514600" cy="502920"/>
          </a:xfrm>
          <a:prstGeom prst="rect">
            <a:avLst/>
          </a:prstGeom>
          <a:noFill/>
        </p:spPr>
        <p:txBody>
          <a:bodyPr wrap="square" anchor="t" lIns="0" rIns="0" tIns="0" bIns="0">
            <a:spAutoFit/>
          </a:bodyPr>
          <a:lstStyle/>
          <a:p>
            <a:pPr algn="ctr"/>
            <a:r>
              <a:rPr sz="2600" b="1" i="0">
                <a:solidFill>
                  <a:srgbClr val="FFCD41"/>
                </a:solidFill>
                <a:latin typeface="Cambria"/>
              </a:rPr>
              <a:t>0</a:t>
            </a:r>
          </a:p>
        </p:txBody>
      </p:sp>
      <p:sp>
        <p:nvSpPr>
          <p:cNvPr id="30" name="TextBox 29"/>
          <p:cNvSpPr txBox="1"/>
          <p:nvPr/>
        </p:nvSpPr>
        <p:spPr>
          <a:xfrm>
            <a:off x="8915400" y="5477256"/>
            <a:ext cx="2514600" cy="320040"/>
          </a:xfrm>
          <a:prstGeom prst="rect">
            <a:avLst/>
          </a:prstGeom>
          <a:noFill/>
        </p:spPr>
        <p:txBody>
          <a:bodyPr wrap="square" anchor="t" lIns="0" rIns="0" tIns="0" bIns="0">
            <a:spAutoFit/>
          </a:bodyPr>
          <a:lstStyle/>
          <a:p>
            <a:pPr algn="ctr"/>
            <a:r>
              <a:rPr sz="1200" b="0" i="0">
                <a:solidFill>
                  <a:srgbClr val="FBE3E3"/>
                </a:solidFill>
                <a:latin typeface="Calibri"/>
              </a:rPr>
              <a:t>messages lost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292608"/>
          </a:xfrm>
          <a:prstGeom prst="rect">
            <a:avLst/>
          </a:prstGeom>
          <a:noFill/>
        </p:spPr>
        <p:txBody>
          <a:bodyPr wrap="square" anchor="t" lIns="0" rIns="0" tIns="0" bIns="0">
            <a:spAutoFit/>
          </a:bodyPr>
          <a:lstStyle/>
          <a:p>
            <a:pPr algn="l"/>
            <a:r>
              <a:rPr sz="1200" b="1" i="0">
                <a:solidFill>
                  <a:srgbClr val="B31B1B"/>
                </a:solidFill>
                <a:latin typeface="Calibri"/>
              </a:rPr>
              <a:t>THE PROBLEM</a:t>
            </a:r>
          </a:p>
        </p:txBody>
      </p:sp>
      <p:sp>
        <p:nvSpPr>
          <p:cNvPr id="3" name="TextBox 2"/>
          <p:cNvSpPr txBox="1"/>
          <p:nvPr/>
        </p:nvSpPr>
        <p:spPr>
          <a:xfrm>
            <a:off x="502920" y="658368"/>
            <a:ext cx="11155680" cy="731520"/>
          </a:xfrm>
          <a:prstGeom prst="rect">
            <a:avLst/>
          </a:prstGeom>
          <a:noFill/>
        </p:spPr>
        <p:txBody>
          <a:bodyPr wrap="square" anchor="t" lIns="0" rIns="0" tIns="0" bIns="0">
            <a:spAutoFit/>
          </a:bodyPr>
          <a:lstStyle/>
          <a:p>
            <a:pPr algn="l"/>
            <a:r>
              <a:rPr sz="2900" b="1" i="0">
                <a:solidFill>
                  <a:srgbClr val="B31B1B"/>
                </a:solidFill>
                <a:latin typeface="Cambria"/>
              </a:rPr>
              <a:t>Migrating a live MQ estate is the hard part</a:t>
            </a:r>
          </a:p>
        </p:txBody>
      </p:sp>
      <p:sp>
        <p:nvSpPr>
          <p:cNvPr id="4" name="TextBox 3"/>
          <p:cNvSpPr txBox="1"/>
          <p:nvPr/>
        </p:nvSpPr>
        <p:spPr>
          <a:xfrm>
            <a:off x="502920" y="1371600"/>
            <a:ext cx="11155680" cy="457200"/>
          </a:xfrm>
          <a:prstGeom prst="rect">
            <a:avLst/>
          </a:prstGeom>
          <a:noFill/>
        </p:spPr>
        <p:txBody>
          <a:bodyPr wrap="square" anchor="t" lIns="0" rIns="0" tIns="0" bIns="0">
            <a:spAutoFit/>
          </a:bodyPr>
          <a:lstStyle/>
          <a:p>
            <a:pPr algn="l"/>
            <a:r>
              <a:rPr sz="1400" b="0" i="1">
                <a:solidFill>
                  <a:srgbClr val="6B6B6B"/>
                </a:solidFill>
                <a:latin typeface="Calibri"/>
              </a:rPr>
              <a:t>Many apps share a few queue managers — one incident becomes everyone's incident. The fix is one QM per app. Doing it on a running estate is what's hard.</a:t>
            </a:r>
          </a:p>
        </p:txBody>
      </p:sp>
      <p:sp>
        <p:nvSpPr>
          <p:cNvPr id="5" name="Rounded Rectangle 4"/>
          <p:cNvSpPr/>
          <p:nvPr/>
        </p:nvSpPr>
        <p:spPr>
          <a:xfrm>
            <a:off x="502920" y="2148840"/>
            <a:ext cx="5486400" cy="1600200"/>
          </a:xfrm>
          <a:prstGeom prst="roundRect">
            <a:avLst>
              <a:gd name="adj" fmla="val 8000"/>
            </a:avLst>
          </a:prstGeom>
          <a:solidFill>
            <a:srgbClr val="FBF6F6"/>
          </a:solidFill>
          <a:ln w="12700">
            <a:solidFill>
              <a:srgbClr val="EAD9D9"/>
            </a:solidFill>
          </a:ln>
          <a:effectLst/>
          <a:effectLst>
            <a:outerShdw blurRad="70000" dist="38100" dir="5400000" rotWithShape="0">
              <a:srgbClr val="8B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2468880"/>
            <a:ext cx="457200" cy="457200"/>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468880"/>
            <a:ext cx="457200" cy="457200"/>
          </a:xfrm>
          <a:prstGeom prst="rect">
            <a:avLst/>
          </a:prstGeom>
          <a:noFill/>
        </p:spPr>
        <p:txBody>
          <a:bodyPr wrap="square" anchor="ctr" lIns="0" rIns="0" tIns="0" bIns="0">
            <a:spAutoFit/>
          </a:bodyPr>
          <a:lstStyle/>
          <a:p>
            <a:pPr algn="ctr"/>
            <a:r>
              <a:rPr sz="1800" b="1" i="0">
                <a:solidFill>
                  <a:srgbClr val="FFFFFF"/>
                </a:solidFill>
                <a:latin typeface="Cambria"/>
              </a:rPr>
              <a:t>1</a:t>
            </a:r>
          </a:p>
        </p:txBody>
      </p:sp>
      <p:sp>
        <p:nvSpPr>
          <p:cNvPr id="8" name="TextBox 7"/>
          <p:cNvSpPr txBox="1"/>
          <p:nvPr/>
        </p:nvSpPr>
        <p:spPr>
          <a:xfrm>
            <a:off x="1417320" y="2441448"/>
            <a:ext cx="4389120" cy="502920"/>
          </a:xfrm>
          <a:prstGeom prst="rect">
            <a:avLst/>
          </a:prstGeom>
          <a:noFill/>
        </p:spPr>
        <p:txBody>
          <a:bodyPr wrap="square" anchor="ctr" lIns="0" rIns="0" tIns="0" bIns="0">
            <a:spAutoFit/>
          </a:bodyPr>
          <a:lstStyle/>
          <a:p>
            <a:pPr algn="l"/>
            <a:r>
              <a:rPr sz="1700" b="1" i="0">
                <a:solidFill>
                  <a:srgbClr val="B31B1B"/>
                </a:solidFill>
                <a:latin typeface="Cambria"/>
              </a:rPr>
              <a:t>No message loss</a:t>
            </a:r>
          </a:p>
        </p:txBody>
      </p:sp>
      <p:sp>
        <p:nvSpPr>
          <p:cNvPr id="9" name="TextBox 8"/>
          <p:cNvSpPr txBox="1"/>
          <p:nvPr/>
        </p:nvSpPr>
        <p:spPr>
          <a:xfrm>
            <a:off x="795528" y="3063240"/>
            <a:ext cx="4937760" cy="594360"/>
          </a:xfrm>
          <a:prstGeom prst="rect">
            <a:avLst/>
          </a:prstGeom>
          <a:noFill/>
        </p:spPr>
        <p:txBody>
          <a:bodyPr wrap="square" anchor="t" lIns="0" rIns="0" tIns="0" bIns="0">
            <a:spAutoFit/>
          </a:bodyPr>
          <a:lstStyle/>
          <a:p>
            <a:pPr algn="l"/>
            <a:r>
              <a:rPr sz="1250" b="0" i="0">
                <a:solidFill>
                  <a:srgbClr val="2B2B2B"/>
                </a:solidFill>
                <a:latin typeface="Calibri"/>
              </a:rPr>
              <a:t>Every in-flight message must be delivered — none stranded on the old queue, none duplicated.</a:t>
            </a:r>
          </a:p>
        </p:txBody>
      </p:sp>
      <p:sp>
        <p:nvSpPr>
          <p:cNvPr id="10" name="Rounded Rectangle 9"/>
          <p:cNvSpPr/>
          <p:nvPr/>
        </p:nvSpPr>
        <p:spPr>
          <a:xfrm>
            <a:off x="6217920" y="2148840"/>
            <a:ext cx="5486400" cy="1600200"/>
          </a:xfrm>
          <a:prstGeom prst="roundRect">
            <a:avLst>
              <a:gd name="adj" fmla="val 8000"/>
            </a:avLst>
          </a:prstGeom>
          <a:solidFill>
            <a:srgbClr val="FBF6F6"/>
          </a:solidFill>
          <a:ln w="12700">
            <a:solidFill>
              <a:srgbClr val="EAD9D9"/>
            </a:solidFill>
          </a:ln>
          <a:effectLst/>
          <a:effectLst>
            <a:outerShdw blurRad="70000" dist="38100" dir="5400000" rotWithShape="0">
              <a:srgbClr val="8B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92240" y="2468880"/>
            <a:ext cx="457200" cy="457200"/>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2468880"/>
            <a:ext cx="457200" cy="457200"/>
          </a:xfrm>
          <a:prstGeom prst="rect">
            <a:avLst/>
          </a:prstGeom>
          <a:noFill/>
        </p:spPr>
        <p:txBody>
          <a:bodyPr wrap="square" anchor="ctr" lIns="0" rIns="0" tIns="0" bIns="0">
            <a:spAutoFit/>
          </a:bodyPr>
          <a:lstStyle/>
          <a:p>
            <a:pPr algn="ctr"/>
            <a:r>
              <a:rPr sz="1800" b="1" i="0">
                <a:solidFill>
                  <a:srgbClr val="FFFFFF"/>
                </a:solidFill>
                <a:latin typeface="Cambria"/>
              </a:rPr>
              <a:t>2</a:t>
            </a:r>
          </a:p>
        </p:txBody>
      </p:sp>
      <p:sp>
        <p:nvSpPr>
          <p:cNvPr id="13" name="TextBox 12"/>
          <p:cNvSpPr txBox="1"/>
          <p:nvPr/>
        </p:nvSpPr>
        <p:spPr>
          <a:xfrm>
            <a:off x="7132320" y="2441448"/>
            <a:ext cx="4389120" cy="502920"/>
          </a:xfrm>
          <a:prstGeom prst="rect">
            <a:avLst/>
          </a:prstGeom>
          <a:noFill/>
        </p:spPr>
        <p:txBody>
          <a:bodyPr wrap="square" anchor="ctr" lIns="0" rIns="0" tIns="0" bIns="0">
            <a:spAutoFit/>
          </a:bodyPr>
          <a:lstStyle/>
          <a:p>
            <a:pPr algn="l"/>
            <a:r>
              <a:rPr sz="1700" b="1" i="0">
                <a:solidFill>
                  <a:srgbClr val="B31B1B"/>
                </a:solidFill>
                <a:latin typeface="Cambria"/>
              </a:rPr>
              <a:t>No application change</a:t>
            </a:r>
          </a:p>
        </p:txBody>
      </p:sp>
      <p:sp>
        <p:nvSpPr>
          <p:cNvPr id="14" name="TextBox 13"/>
          <p:cNvSpPr txBox="1"/>
          <p:nvPr/>
        </p:nvSpPr>
        <p:spPr>
          <a:xfrm>
            <a:off x="6510528" y="3063240"/>
            <a:ext cx="4937760" cy="594360"/>
          </a:xfrm>
          <a:prstGeom prst="rect">
            <a:avLst/>
          </a:prstGeom>
          <a:noFill/>
        </p:spPr>
        <p:txBody>
          <a:bodyPr wrap="square" anchor="t" lIns="0" rIns="0" tIns="0" bIns="0">
            <a:spAutoFit/>
          </a:bodyPr>
          <a:lstStyle/>
          <a:p>
            <a:pPr algn="l"/>
            <a:r>
              <a:rPr sz="1250" b="0" i="0">
                <a:solidFill>
                  <a:srgbClr val="2B2B2B"/>
                </a:solidFill>
                <a:latin typeface="Calibri"/>
              </a:rPr>
              <a:t>Producers and consumers can't change connection strings or restart. They must not even notice.</a:t>
            </a:r>
          </a:p>
        </p:txBody>
      </p:sp>
      <p:sp>
        <p:nvSpPr>
          <p:cNvPr id="15" name="Rounded Rectangle 14"/>
          <p:cNvSpPr/>
          <p:nvPr/>
        </p:nvSpPr>
        <p:spPr>
          <a:xfrm>
            <a:off x="502920" y="3977639"/>
            <a:ext cx="5486400" cy="1600200"/>
          </a:xfrm>
          <a:prstGeom prst="roundRect">
            <a:avLst>
              <a:gd name="adj" fmla="val 8000"/>
            </a:avLst>
          </a:prstGeom>
          <a:solidFill>
            <a:srgbClr val="FBF6F6"/>
          </a:solidFill>
          <a:ln w="12700">
            <a:solidFill>
              <a:srgbClr val="EAD9D9"/>
            </a:solidFill>
          </a:ln>
          <a:effectLst/>
          <a:effectLst>
            <a:outerShdw blurRad="70000" dist="38100" dir="5400000" rotWithShape="0">
              <a:srgbClr val="8B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77240" y="4297679"/>
            <a:ext cx="457200" cy="457200"/>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297679"/>
            <a:ext cx="457200" cy="457200"/>
          </a:xfrm>
          <a:prstGeom prst="rect">
            <a:avLst/>
          </a:prstGeom>
          <a:noFill/>
        </p:spPr>
        <p:txBody>
          <a:bodyPr wrap="square" anchor="ctr" lIns="0" rIns="0" tIns="0" bIns="0">
            <a:spAutoFit/>
          </a:bodyPr>
          <a:lstStyle/>
          <a:p>
            <a:pPr algn="ctr"/>
            <a:r>
              <a:rPr sz="1800" b="1" i="0">
                <a:solidFill>
                  <a:srgbClr val="FFFFFF"/>
                </a:solidFill>
                <a:latin typeface="Cambria"/>
              </a:rPr>
              <a:t>3</a:t>
            </a:r>
          </a:p>
        </p:txBody>
      </p:sp>
      <p:sp>
        <p:nvSpPr>
          <p:cNvPr id="18" name="TextBox 17"/>
          <p:cNvSpPr txBox="1"/>
          <p:nvPr/>
        </p:nvSpPr>
        <p:spPr>
          <a:xfrm>
            <a:off x="1417320" y="4270248"/>
            <a:ext cx="4389120" cy="502920"/>
          </a:xfrm>
          <a:prstGeom prst="rect">
            <a:avLst/>
          </a:prstGeom>
          <a:noFill/>
        </p:spPr>
        <p:txBody>
          <a:bodyPr wrap="square" anchor="ctr" lIns="0" rIns="0" tIns="0" bIns="0">
            <a:spAutoFit/>
          </a:bodyPr>
          <a:lstStyle/>
          <a:p>
            <a:pPr algn="l"/>
            <a:r>
              <a:rPr sz="1700" b="1" i="0">
                <a:solidFill>
                  <a:srgbClr val="B31B1B"/>
                </a:solidFill>
                <a:latin typeface="Cambria"/>
              </a:rPr>
              <a:t>No collateral impact</a:t>
            </a:r>
          </a:p>
        </p:txBody>
      </p:sp>
      <p:sp>
        <p:nvSpPr>
          <p:cNvPr id="19" name="TextBox 18"/>
          <p:cNvSpPr txBox="1"/>
          <p:nvPr/>
        </p:nvSpPr>
        <p:spPr>
          <a:xfrm>
            <a:off x="795528" y="4892040"/>
            <a:ext cx="4937760" cy="594360"/>
          </a:xfrm>
          <a:prstGeom prst="rect">
            <a:avLst/>
          </a:prstGeom>
          <a:noFill/>
        </p:spPr>
        <p:txBody>
          <a:bodyPr wrap="square" anchor="t" lIns="0" rIns="0" tIns="0" bIns="0">
            <a:spAutoFit/>
          </a:bodyPr>
          <a:lstStyle/>
          <a:p>
            <a:pPr algn="l"/>
            <a:r>
              <a:rPr sz="1250" b="0" i="0">
                <a:solidFill>
                  <a:srgbClr val="2B2B2B"/>
                </a:solidFill>
                <a:latin typeface="Calibri"/>
              </a:rPr>
              <a:t>Migrating one app off a shared QM must not disturb the co-tenant apps still on it.</a:t>
            </a:r>
          </a:p>
        </p:txBody>
      </p:sp>
      <p:sp>
        <p:nvSpPr>
          <p:cNvPr id="20" name="Rounded Rectangle 19"/>
          <p:cNvSpPr/>
          <p:nvPr/>
        </p:nvSpPr>
        <p:spPr>
          <a:xfrm>
            <a:off x="6217920" y="3977639"/>
            <a:ext cx="5486400" cy="1600200"/>
          </a:xfrm>
          <a:prstGeom prst="roundRect">
            <a:avLst>
              <a:gd name="adj" fmla="val 8000"/>
            </a:avLst>
          </a:prstGeom>
          <a:solidFill>
            <a:srgbClr val="FBF6F6"/>
          </a:solidFill>
          <a:ln w="12700">
            <a:solidFill>
              <a:srgbClr val="EAD9D9"/>
            </a:solidFill>
          </a:ln>
          <a:effectLst/>
          <a:effectLst>
            <a:outerShdw blurRad="70000" dist="38100" dir="5400000" rotWithShape="0">
              <a:srgbClr val="8B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92240" y="4297679"/>
            <a:ext cx="457200" cy="457200"/>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0" y="4297679"/>
            <a:ext cx="457200" cy="457200"/>
          </a:xfrm>
          <a:prstGeom prst="rect">
            <a:avLst/>
          </a:prstGeom>
          <a:noFill/>
        </p:spPr>
        <p:txBody>
          <a:bodyPr wrap="square" anchor="ctr" lIns="0" rIns="0" tIns="0" bIns="0">
            <a:spAutoFit/>
          </a:bodyPr>
          <a:lstStyle/>
          <a:p>
            <a:pPr algn="ctr"/>
            <a:r>
              <a:rPr sz="1800" b="1" i="0">
                <a:solidFill>
                  <a:srgbClr val="FFFFFF"/>
                </a:solidFill>
                <a:latin typeface="Cambria"/>
              </a:rPr>
              <a:t>4</a:t>
            </a:r>
          </a:p>
        </p:txBody>
      </p:sp>
      <p:sp>
        <p:nvSpPr>
          <p:cNvPr id="23" name="TextBox 22"/>
          <p:cNvSpPr txBox="1"/>
          <p:nvPr/>
        </p:nvSpPr>
        <p:spPr>
          <a:xfrm>
            <a:off x="7132320" y="4270248"/>
            <a:ext cx="4389120" cy="502920"/>
          </a:xfrm>
          <a:prstGeom prst="rect">
            <a:avLst/>
          </a:prstGeom>
          <a:noFill/>
        </p:spPr>
        <p:txBody>
          <a:bodyPr wrap="square" anchor="ctr" lIns="0" rIns="0" tIns="0" bIns="0">
            <a:spAutoFit/>
          </a:bodyPr>
          <a:lstStyle/>
          <a:p>
            <a:pPr algn="l"/>
            <a:r>
              <a:rPr sz="1700" b="1" i="0">
                <a:solidFill>
                  <a:srgbClr val="B31B1B"/>
                </a:solidFill>
                <a:latin typeface="Cambria"/>
              </a:rPr>
              <a:t>Full auditability</a:t>
            </a:r>
          </a:p>
        </p:txBody>
      </p:sp>
      <p:sp>
        <p:nvSpPr>
          <p:cNvPr id="24" name="TextBox 23"/>
          <p:cNvSpPr txBox="1"/>
          <p:nvPr/>
        </p:nvSpPr>
        <p:spPr>
          <a:xfrm>
            <a:off x="6510528" y="4892040"/>
            <a:ext cx="4937760" cy="594360"/>
          </a:xfrm>
          <a:prstGeom prst="rect">
            <a:avLst/>
          </a:prstGeom>
          <a:noFill/>
        </p:spPr>
        <p:txBody>
          <a:bodyPr wrap="square" anchor="t" lIns="0" rIns="0" tIns="0" bIns="0">
            <a:spAutoFit/>
          </a:bodyPr>
          <a:lstStyle/>
          <a:p>
            <a:pPr algn="l"/>
            <a:r>
              <a:rPr sz="1250" b="0" i="0">
                <a:solidFill>
                  <a:srgbClr val="2B2B2B"/>
                </a:solidFill>
                <a:latin typeface="Calibri"/>
              </a:rPr>
              <a:t>Every change recorded, causally ordered, and reversible — so it survives a real audit.</a:t>
            </a:r>
          </a:p>
        </p:txBody>
      </p:sp>
      <p:sp>
        <p:nvSpPr>
          <p:cNvPr id="25" name="TextBox 24"/>
          <p:cNvSpPr txBox="1"/>
          <p:nvPr/>
        </p:nvSpPr>
        <p:spPr>
          <a:xfrm>
            <a:off x="502920" y="6473952"/>
            <a:ext cx="7315200" cy="274320"/>
          </a:xfrm>
          <a:prstGeom prst="rect">
            <a:avLst/>
          </a:prstGeom>
          <a:noFill/>
        </p:spPr>
        <p:txBody>
          <a:bodyPr wrap="square" anchor="t" lIns="0" rIns="0" tIns="0" bIns="0">
            <a:spAutoFit/>
          </a:bodyPr>
          <a:lstStyle/>
          <a:p>
            <a:pPr algn="l"/>
            <a:r>
              <a:rPr sz="900" b="0" i="0">
                <a:solidFill>
                  <a:srgbClr val="6B6B6B"/>
                </a:solidFill>
                <a:latin typeface="Calibri"/>
              </a:rPr>
              <a:t>IntelliAI 2.0  ·  IBM MQ Intelligent Hackathon 2026  ·  Part 2</a:t>
            </a:r>
          </a:p>
        </p:txBody>
      </p:sp>
      <p:sp>
        <p:nvSpPr>
          <p:cNvPr id="26" name="TextBox 25"/>
          <p:cNvSpPr txBox="1"/>
          <p:nvPr/>
        </p:nvSpPr>
        <p:spPr>
          <a:xfrm>
            <a:off x="11338560" y="6473952"/>
            <a:ext cx="457200" cy="274320"/>
          </a:xfrm>
          <a:prstGeom prst="rect">
            <a:avLst/>
          </a:prstGeom>
          <a:noFill/>
        </p:spPr>
        <p:txBody>
          <a:bodyPr wrap="square" anchor="t" lIns="0" rIns="0" tIns="0" bIns="0">
            <a:spAutoFit/>
          </a:bodyPr>
          <a:lstStyle/>
          <a:p>
            <a:pPr algn="r"/>
            <a:r>
              <a:rPr sz="900" b="0" i="0">
                <a:solidFill>
                  <a:srgbClr val="6B6B6B"/>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292608"/>
          </a:xfrm>
          <a:prstGeom prst="rect">
            <a:avLst/>
          </a:prstGeom>
          <a:noFill/>
        </p:spPr>
        <p:txBody>
          <a:bodyPr wrap="square" anchor="t" lIns="0" rIns="0" tIns="0" bIns="0">
            <a:spAutoFit/>
          </a:bodyPr>
          <a:lstStyle/>
          <a:p>
            <a:pPr algn="l"/>
            <a:r>
              <a:rPr sz="1200" b="1" i="0">
                <a:solidFill>
                  <a:srgbClr val="B31B1B"/>
                </a:solidFill>
                <a:latin typeface="Calibri"/>
              </a:rPr>
              <a:t>THE SOLUTION</a:t>
            </a:r>
          </a:p>
        </p:txBody>
      </p:sp>
      <p:sp>
        <p:nvSpPr>
          <p:cNvPr id="3" name="TextBox 2"/>
          <p:cNvSpPr txBox="1"/>
          <p:nvPr/>
        </p:nvSpPr>
        <p:spPr>
          <a:xfrm>
            <a:off x="502920" y="658368"/>
            <a:ext cx="11155680" cy="731520"/>
          </a:xfrm>
          <a:prstGeom prst="rect">
            <a:avLst/>
          </a:prstGeom>
          <a:noFill/>
        </p:spPr>
        <p:txBody>
          <a:bodyPr wrap="square" anchor="t" lIns="0" rIns="0" tIns="0" bIns="0">
            <a:spAutoFit/>
          </a:bodyPr>
          <a:lstStyle/>
          <a:p>
            <a:pPr algn="l"/>
            <a:r>
              <a:rPr sz="2900" b="1" i="0">
                <a:solidFill>
                  <a:srgbClr val="B31B1B"/>
                </a:solidFill>
                <a:latin typeface="Cambria"/>
              </a:rPr>
              <a:t>One control plane, one chokepoint to MQ</a:t>
            </a:r>
          </a:p>
        </p:txBody>
      </p:sp>
      <p:sp>
        <p:nvSpPr>
          <p:cNvPr id="4" name="Rounded Rectangle 3"/>
          <p:cNvSpPr/>
          <p:nvPr/>
        </p:nvSpPr>
        <p:spPr>
          <a:xfrm>
            <a:off x="1463040" y="1691640"/>
            <a:ext cx="9235440" cy="1234440"/>
          </a:xfrm>
          <a:prstGeom prst="roundRect">
            <a:avLst>
              <a:gd name="adj" fmla="val 8000"/>
            </a:avLst>
          </a:prstGeom>
          <a:solidFill>
            <a:srgbClr val="B31B1B"/>
          </a:solidFill>
          <a:ln>
            <a:noFill/>
          </a:ln>
          <a:effectLst/>
          <a:effectLst>
            <a:outerShdw blurRad="70000" dist="38100" dir="5400000" rotWithShape="0">
              <a:srgbClr val="8B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1874520"/>
            <a:ext cx="8595360" cy="411480"/>
          </a:xfrm>
          <a:prstGeom prst="rect">
            <a:avLst/>
          </a:prstGeom>
          <a:noFill/>
        </p:spPr>
        <p:txBody>
          <a:bodyPr wrap="square" anchor="t" lIns="0" rIns="0" tIns="0" bIns="0">
            <a:spAutoFit/>
          </a:bodyPr>
          <a:lstStyle/>
          <a:p>
            <a:pPr algn="l"/>
            <a:r>
              <a:rPr sz="1800" b="1" i="0">
                <a:solidFill>
                  <a:srgbClr val="FFFFFF"/>
                </a:solidFill>
                <a:latin typeface="Cambria"/>
              </a:rPr>
              <a:t>UI Control Plane</a:t>
            </a:r>
          </a:p>
        </p:txBody>
      </p:sp>
      <p:sp>
        <p:nvSpPr>
          <p:cNvPr id="6" name="TextBox 5"/>
          <p:cNvSpPr txBox="1"/>
          <p:nvPr/>
        </p:nvSpPr>
        <p:spPr>
          <a:xfrm>
            <a:off x="1828800" y="2313432"/>
            <a:ext cx="8595360" cy="502920"/>
          </a:xfrm>
          <a:prstGeom prst="rect">
            <a:avLst/>
          </a:prstGeom>
          <a:noFill/>
        </p:spPr>
        <p:txBody>
          <a:bodyPr wrap="square" anchor="t" lIns="0" rIns="0" tIns="0" bIns="0">
            <a:spAutoFit/>
          </a:bodyPr>
          <a:lstStyle/>
          <a:p>
            <a:pPr algn="l"/>
            <a:r>
              <a:rPr sz="1250" b="0" i="0">
                <a:solidFill>
                  <a:srgbClr val="FBE3E3"/>
                </a:solidFill>
                <a:latin typeface="Calibri"/>
              </a:rPr>
              <a:t>Next.js dashboard. Talks ONLY to the BCL. Holds no MQ credentials, issues no MQSC.</a:t>
            </a:r>
          </a:p>
        </p:txBody>
      </p:sp>
      <p:sp>
        <p:nvSpPr>
          <p:cNvPr id="7" name="TextBox 6"/>
          <p:cNvSpPr txBox="1"/>
          <p:nvPr/>
        </p:nvSpPr>
        <p:spPr>
          <a:xfrm>
            <a:off x="5806440" y="2926080"/>
            <a:ext cx="548640" cy="365760"/>
          </a:xfrm>
          <a:prstGeom prst="rect">
            <a:avLst/>
          </a:prstGeom>
          <a:noFill/>
        </p:spPr>
        <p:txBody>
          <a:bodyPr wrap="square" anchor="t" lIns="0" rIns="0" tIns="0" bIns="0">
            <a:spAutoFit/>
          </a:bodyPr>
          <a:lstStyle/>
          <a:p>
            <a:pPr algn="ctr"/>
            <a:r>
              <a:rPr sz="1600" b="0" i="0">
                <a:solidFill>
                  <a:srgbClr val="B31B1B"/>
                </a:solidFill>
                <a:latin typeface="Calibri"/>
              </a:rPr>
              <a:t>▼</a:t>
            </a:r>
          </a:p>
        </p:txBody>
      </p:sp>
      <p:sp>
        <p:nvSpPr>
          <p:cNvPr id="8" name="Rounded Rectangle 7"/>
          <p:cNvSpPr/>
          <p:nvPr/>
        </p:nvSpPr>
        <p:spPr>
          <a:xfrm>
            <a:off x="1463040" y="3227832"/>
            <a:ext cx="9235440" cy="1234440"/>
          </a:xfrm>
          <a:prstGeom prst="roundRect">
            <a:avLst>
              <a:gd name="adj" fmla="val 8000"/>
            </a:avLst>
          </a:prstGeom>
          <a:solidFill>
            <a:srgbClr val="8B0000"/>
          </a:solidFill>
          <a:ln>
            <a:noFill/>
          </a:ln>
          <a:effectLst/>
          <a:effectLst>
            <a:outerShdw blurRad="70000" dist="38100" dir="5400000" rotWithShape="0">
              <a:srgbClr val="8B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828800" y="3410712"/>
            <a:ext cx="8595360" cy="411480"/>
          </a:xfrm>
          <a:prstGeom prst="rect">
            <a:avLst/>
          </a:prstGeom>
          <a:noFill/>
        </p:spPr>
        <p:txBody>
          <a:bodyPr wrap="square" anchor="t" lIns="0" rIns="0" tIns="0" bIns="0">
            <a:spAutoFit/>
          </a:bodyPr>
          <a:lstStyle/>
          <a:p>
            <a:pPr algn="l"/>
            <a:r>
              <a:rPr sz="1800" b="1" i="0">
                <a:solidFill>
                  <a:srgbClr val="FFFFFF"/>
                </a:solidFill>
                <a:latin typeface="Cambria"/>
              </a:rPr>
              <a:t>Business Control Layer (BCL)</a:t>
            </a:r>
          </a:p>
        </p:txBody>
      </p:sp>
      <p:sp>
        <p:nvSpPr>
          <p:cNvPr id="10" name="TextBox 9"/>
          <p:cNvSpPr txBox="1"/>
          <p:nvPr/>
        </p:nvSpPr>
        <p:spPr>
          <a:xfrm>
            <a:off x="1828800" y="3849624"/>
            <a:ext cx="8595360" cy="502920"/>
          </a:xfrm>
          <a:prstGeom prst="rect">
            <a:avLst/>
          </a:prstGeom>
          <a:noFill/>
        </p:spPr>
        <p:txBody>
          <a:bodyPr wrap="square" anchor="t" lIns="0" rIns="0" tIns="0" bIns="0">
            <a:spAutoFit/>
          </a:bodyPr>
          <a:lstStyle/>
          <a:p>
            <a:pPr algn="l"/>
            <a:r>
              <a:rPr sz="1250" b="0" i="0">
                <a:solidFill>
                  <a:srgbClr val="FBE3E3"/>
                </a:solidFill>
                <a:latin typeface="Calibri"/>
              </a:rPr>
              <a:t>FastAPI service — the sole point of contact with MQ + OpenShift. Deterministic engines, 3 advisory agents, Lamport-clocked audit log.</a:t>
            </a:r>
          </a:p>
        </p:txBody>
      </p:sp>
      <p:sp>
        <p:nvSpPr>
          <p:cNvPr id="11" name="TextBox 10"/>
          <p:cNvSpPr txBox="1"/>
          <p:nvPr/>
        </p:nvSpPr>
        <p:spPr>
          <a:xfrm>
            <a:off x="5806440" y="4462272"/>
            <a:ext cx="548640" cy="365760"/>
          </a:xfrm>
          <a:prstGeom prst="rect">
            <a:avLst/>
          </a:prstGeom>
          <a:noFill/>
        </p:spPr>
        <p:txBody>
          <a:bodyPr wrap="square" anchor="t" lIns="0" rIns="0" tIns="0" bIns="0">
            <a:spAutoFit/>
          </a:bodyPr>
          <a:lstStyle/>
          <a:p>
            <a:pPr algn="ctr"/>
            <a:r>
              <a:rPr sz="1600" b="0" i="0">
                <a:solidFill>
                  <a:srgbClr val="B31B1B"/>
                </a:solidFill>
                <a:latin typeface="Calibri"/>
              </a:rPr>
              <a:t>▼</a:t>
            </a:r>
          </a:p>
        </p:txBody>
      </p:sp>
      <p:sp>
        <p:nvSpPr>
          <p:cNvPr id="12" name="Rounded Rectangle 11"/>
          <p:cNvSpPr/>
          <p:nvPr/>
        </p:nvSpPr>
        <p:spPr>
          <a:xfrm>
            <a:off x="1463040" y="4764024"/>
            <a:ext cx="9235440" cy="1234440"/>
          </a:xfrm>
          <a:prstGeom prst="roundRect">
            <a:avLst>
              <a:gd name="adj" fmla="val 8000"/>
            </a:avLst>
          </a:prstGeom>
          <a:solidFill>
            <a:srgbClr val="B31B1B"/>
          </a:solidFill>
          <a:ln>
            <a:noFill/>
          </a:ln>
          <a:effectLst/>
          <a:effectLst>
            <a:outerShdw blurRad="70000" dist="38100" dir="5400000" rotWithShape="0">
              <a:srgbClr val="8B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28800" y="4946904"/>
            <a:ext cx="8595360" cy="411480"/>
          </a:xfrm>
          <a:prstGeom prst="rect">
            <a:avLst/>
          </a:prstGeom>
          <a:noFill/>
        </p:spPr>
        <p:txBody>
          <a:bodyPr wrap="square" anchor="t" lIns="0" rIns="0" tIns="0" bIns="0">
            <a:spAutoFit/>
          </a:bodyPr>
          <a:lstStyle/>
          <a:p>
            <a:pPr algn="l"/>
            <a:r>
              <a:rPr sz="1800" b="1" i="0">
                <a:solidFill>
                  <a:srgbClr val="FFFFFF"/>
                </a:solidFill>
                <a:latin typeface="Cambria"/>
              </a:rPr>
              <a:t>OpenShift · IBM MQ 9.4.5</a:t>
            </a:r>
          </a:p>
        </p:txBody>
      </p:sp>
      <p:sp>
        <p:nvSpPr>
          <p:cNvPr id="14" name="TextBox 13"/>
          <p:cNvSpPr txBox="1"/>
          <p:nvPr/>
        </p:nvSpPr>
        <p:spPr>
          <a:xfrm>
            <a:off x="1828800" y="5385816"/>
            <a:ext cx="8595360" cy="502920"/>
          </a:xfrm>
          <a:prstGeom prst="rect">
            <a:avLst/>
          </a:prstGeom>
          <a:noFill/>
        </p:spPr>
        <p:txBody>
          <a:bodyPr wrap="square" anchor="t" lIns="0" rIns="0" tIns="0" bIns="0">
            <a:spAutoFit/>
          </a:bodyPr>
          <a:lstStyle/>
          <a:p>
            <a:pPr algn="l"/>
            <a:r>
              <a:rPr sz="1250" b="0" i="0">
                <a:solidFill>
                  <a:srgbClr val="FBE3E3"/>
                </a:solidFill>
                <a:latin typeface="Calibri"/>
              </a:rPr>
              <a:t>16 real QM pods (9 shared source, 7 dedicated targets). BCL applies MQSC via oc exec.</a:t>
            </a:r>
          </a:p>
        </p:txBody>
      </p:sp>
      <p:sp>
        <p:nvSpPr>
          <p:cNvPr id="15" name="Rounded Rectangle 14"/>
          <p:cNvSpPr/>
          <p:nvPr/>
        </p:nvSpPr>
        <p:spPr>
          <a:xfrm>
            <a:off x="502920" y="5989320"/>
            <a:ext cx="11155680" cy="457200"/>
          </a:xfrm>
          <a:prstGeom prst="roundRect">
            <a:avLst>
              <a:gd name="adj" fmla="val 8000"/>
            </a:avLst>
          </a:prstGeom>
          <a:solidFill>
            <a:srgbClr val="FBE3E3"/>
          </a:solidFill>
          <a:ln w="12700">
            <a:solidFill>
              <a:srgbClr val="EA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989320"/>
            <a:ext cx="10607040" cy="457200"/>
          </a:xfrm>
          <a:prstGeom prst="rect">
            <a:avLst/>
          </a:prstGeom>
          <a:noFill/>
        </p:spPr>
        <p:txBody>
          <a:bodyPr wrap="square" anchor="ctr" lIns="0" rIns="0" tIns="0" bIns="0">
            <a:spAutoFit/>
          </a:bodyPr>
          <a:lstStyle/>
          <a:p>
            <a:pPr algn="l"/>
            <a:r>
              <a:rPr sz="1250" b="1" i="0">
                <a:solidFill>
                  <a:srgbClr val="B31B1B"/>
                </a:solidFill>
                <a:latin typeface="Calibri"/>
              </a:rPr>
              <a:t>The dependency direction is strict: </a:t>
            </a:r>
            <a:r>
              <a:rPr sz="1250" b="0" i="0">
                <a:solidFill>
                  <a:srgbClr val="2B2B2B"/>
                </a:solidFill>
                <a:latin typeface="Calibri"/>
              </a:rPr>
              <a:t>the UI can't reach MQ — only the BCL can. One path means one place to validate, sequence, and record every single change.</a:t>
            </a:r>
          </a:p>
        </p:txBody>
      </p:sp>
      <p:sp>
        <p:nvSpPr>
          <p:cNvPr id="17" name="TextBox 16"/>
          <p:cNvSpPr txBox="1"/>
          <p:nvPr/>
        </p:nvSpPr>
        <p:spPr>
          <a:xfrm>
            <a:off x="502920" y="6473952"/>
            <a:ext cx="7315200" cy="274320"/>
          </a:xfrm>
          <a:prstGeom prst="rect">
            <a:avLst/>
          </a:prstGeom>
          <a:noFill/>
        </p:spPr>
        <p:txBody>
          <a:bodyPr wrap="square" anchor="t" lIns="0" rIns="0" tIns="0" bIns="0">
            <a:spAutoFit/>
          </a:bodyPr>
          <a:lstStyle/>
          <a:p>
            <a:pPr algn="l"/>
            <a:r>
              <a:rPr sz="900" b="0" i="0">
                <a:solidFill>
                  <a:srgbClr val="6B6B6B"/>
                </a:solidFill>
                <a:latin typeface="Calibri"/>
              </a:rPr>
              <a:t>IntelliAI 2.0  ·  IBM MQ Intelligent Hackathon 2026  ·  Part 2</a:t>
            </a:r>
          </a:p>
        </p:txBody>
      </p:sp>
      <p:sp>
        <p:nvSpPr>
          <p:cNvPr id="18" name="TextBox 17"/>
          <p:cNvSpPr txBox="1"/>
          <p:nvPr/>
        </p:nvSpPr>
        <p:spPr>
          <a:xfrm>
            <a:off x="11338560" y="6473952"/>
            <a:ext cx="457200" cy="274320"/>
          </a:xfrm>
          <a:prstGeom prst="rect">
            <a:avLst/>
          </a:prstGeom>
          <a:noFill/>
        </p:spPr>
        <p:txBody>
          <a:bodyPr wrap="square" anchor="t" lIns="0" rIns="0" tIns="0" bIns="0">
            <a:spAutoFit/>
          </a:bodyPr>
          <a:lstStyle/>
          <a:p>
            <a:pPr algn="r"/>
            <a:r>
              <a:rPr sz="900" b="0" i="0">
                <a:solidFill>
                  <a:srgbClr val="6B6B6B"/>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292608"/>
          </a:xfrm>
          <a:prstGeom prst="rect">
            <a:avLst/>
          </a:prstGeom>
          <a:noFill/>
        </p:spPr>
        <p:txBody>
          <a:bodyPr wrap="square" anchor="t" lIns="0" rIns="0" tIns="0" bIns="0">
            <a:spAutoFit/>
          </a:bodyPr>
          <a:lstStyle/>
          <a:p>
            <a:pPr algn="l"/>
            <a:r>
              <a:rPr sz="1200" b="1" i="0">
                <a:solidFill>
                  <a:srgbClr val="B31B1B"/>
                </a:solidFill>
                <a:latin typeface="Calibri"/>
              </a:rPr>
              <a:t>THE MECHANISM</a:t>
            </a:r>
          </a:p>
        </p:txBody>
      </p:sp>
      <p:sp>
        <p:nvSpPr>
          <p:cNvPr id="3" name="TextBox 2"/>
          <p:cNvSpPr txBox="1"/>
          <p:nvPr/>
        </p:nvSpPr>
        <p:spPr>
          <a:xfrm>
            <a:off x="502920" y="658368"/>
            <a:ext cx="11155680" cy="731520"/>
          </a:xfrm>
          <a:prstGeom prst="rect">
            <a:avLst/>
          </a:prstGeom>
          <a:noFill/>
        </p:spPr>
        <p:txBody>
          <a:bodyPr wrap="square" anchor="t" lIns="0" rIns="0" tIns="0" bIns="0">
            <a:spAutoFit/>
          </a:bodyPr>
          <a:lstStyle/>
          <a:p>
            <a:pPr algn="l"/>
            <a:r>
              <a:rPr sz="2900" b="1" i="0">
                <a:solidFill>
                  <a:srgbClr val="B31B1B"/>
                </a:solidFill>
                <a:latin typeface="Cambria"/>
              </a:rPr>
              <a:t>How one app migrates — five steps</a:t>
            </a:r>
          </a:p>
        </p:txBody>
      </p:sp>
      <p:sp>
        <p:nvSpPr>
          <p:cNvPr id="4" name="Rounded Rectangle 3"/>
          <p:cNvSpPr/>
          <p:nvPr/>
        </p:nvSpPr>
        <p:spPr>
          <a:xfrm>
            <a:off x="502920" y="1600200"/>
            <a:ext cx="2194560" cy="3108960"/>
          </a:xfrm>
          <a:prstGeom prst="roundRect">
            <a:avLst>
              <a:gd name="adj" fmla="val 8000"/>
            </a:avLst>
          </a:prstGeom>
          <a:solidFill>
            <a:srgbClr val="B31B1B"/>
          </a:solidFill>
          <a:ln>
            <a:noFill/>
          </a:ln>
          <a:effectLst/>
          <a:effectLst>
            <a:outerShdw blurRad="70000" dist="38100" dir="5400000" rotWithShape="0">
              <a:srgbClr val="8B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325880" y="1874519"/>
            <a:ext cx="548640" cy="548640"/>
          </a:xfrm>
          <a:prstGeom prst="ellipse">
            <a:avLst/>
          </a:prstGeom>
          <a:solidFill>
            <a:srgbClr val="FFCD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25880" y="1874519"/>
            <a:ext cx="548640" cy="548640"/>
          </a:xfrm>
          <a:prstGeom prst="rect">
            <a:avLst/>
          </a:prstGeom>
          <a:noFill/>
        </p:spPr>
        <p:txBody>
          <a:bodyPr wrap="square" anchor="ctr" lIns="0" rIns="0" tIns="0" bIns="0">
            <a:spAutoFit/>
          </a:bodyPr>
          <a:lstStyle/>
          <a:p>
            <a:pPr algn="ctr"/>
            <a:r>
              <a:rPr sz="2400" b="1" i="0">
                <a:solidFill>
                  <a:srgbClr val="B31B1B"/>
                </a:solidFill>
                <a:latin typeface="Cambria"/>
              </a:rPr>
              <a:t>1</a:t>
            </a:r>
          </a:p>
        </p:txBody>
      </p:sp>
      <p:sp>
        <p:nvSpPr>
          <p:cNvPr id="7" name="TextBox 6"/>
          <p:cNvSpPr txBox="1"/>
          <p:nvPr/>
        </p:nvSpPr>
        <p:spPr>
          <a:xfrm>
            <a:off x="640080" y="2560320"/>
            <a:ext cx="1920240" cy="640080"/>
          </a:xfrm>
          <a:prstGeom prst="rect">
            <a:avLst/>
          </a:prstGeom>
          <a:noFill/>
        </p:spPr>
        <p:txBody>
          <a:bodyPr wrap="square" anchor="t" lIns="0" rIns="0" tIns="0" bIns="0">
            <a:spAutoFit/>
          </a:bodyPr>
          <a:lstStyle/>
          <a:p>
            <a:pPr algn="ctr"/>
            <a:r>
              <a:rPr sz="1450" b="1" i="0">
                <a:solidFill>
                  <a:srgbClr val="FFFFFF"/>
                </a:solidFill>
                <a:latin typeface="Cambria"/>
              </a:rPr>
              <a:t>Provision target</a:t>
            </a:r>
          </a:p>
        </p:txBody>
      </p:sp>
      <p:sp>
        <p:nvSpPr>
          <p:cNvPr id="8" name="TextBox 7"/>
          <p:cNvSpPr txBox="1"/>
          <p:nvPr/>
        </p:nvSpPr>
        <p:spPr>
          <a:xfrm>
            <a:off x="667512" y="3200400"/>
            <a:ext cx="1865376" cy="1371600"/>
          </a:xfrm>
          <a:prstGeom prst="rect">
            <a:avLst/>
          </a:prstGeom>
          <a:noFill/>
        </p:spPr>
        <p:txBody>
          <a:bodyPr wrap="square" anchor="t" lIns="0" rIns="0" tIns="0" bIns="0">
            <a:spAutoFit/>
          </a:bodyPr>
          <a:lstStyle/>
          <a:p>
            <a:pPr algn="l"/>
            <a:r>
              <a:rPr sz="1100" b="0" i="0">
                <a:solidFill>
                  <a:srgbClr val="FBE3E3"/>
                </a:solidFill>
                <a:latin typeface="Calibri"/>
              </a:rPr>
              <a:t>Deploy the app's dedicated QM pod on OpenShift; realize its MQ objects (DLQ, channels, queues) via MQSC.</a:t>
            </a:r>
          </a:p>
        </p:txBody>
      </p:sp>
      <p:sp>
        <p:nvSpPr>
          <p:cNvPr id="9" name="TextBox 8"/>
          <p:cNvSpPr txBox="1"/>
          <p:nvPr/>
        </p:nvSpPr>
        <p:spPr>
          <a:xfrm>
            <a:off x="2679192" y="2971800"/>
            <a:ext cx="182880" cy="365760"/>
          </a:xfrm>
          <a:prstGeom prst="rect">
            <a:avLst/>
          </a:prstGeom>
          <a:noFill/>
        </p:spPr>
        <p:txBody>
          <a:bodyPr wrap="square" anchor="ctr" lIns="0" rIns="0" tIns="0" bIns="0">
            <a:spAutoFit/>
          </a:bodyPr>
          <a:lstStyle/>
          <a:p>
            <a:pPr algn="ctr"/>
            <a:r>
              <a:rPr sz="1300" b="0" i="0">
                <a:solidFill>
                  <a:srgbClr val="FFCD41"/>
                </a:solidFill>
                <a:latin typeface="Calibri"/>
              </a:rPr>
              <a:t>▶</a:t>
            </a:r>
          </a:p>
        </p:txBody>
      </p:sp>
      <p:sp>
        <p:nvSpPr>
          <p:cNvPr id="10" name="Rounded Rectangle 9"/>
          <p:cNvSpPr/>
          <p:nvPr/>
        </p:nvSpPr>
        <p:spPr>
          <a:xfrm>
            <a:off x="2816352" y="1600200"/>
            <a:ext cx="2194560" cy="3108960"/>
          </a:xfrm>
          <a:prstGeom prst="roundRect">
            <a:avLst>
              <a:gd name="adj" fmla="val 8000"/>
            </a:avLst>
          </a:prstGeom>
          <a:solidFill>
            <a:srgbClr val="8B0000"/>
          </a:solidFill>
          <a:ln>
            <a:noFill/>
          </a:ln>
          <a:effectLst/>
          <a:effectLst>
            <a:outerShdw blurRad="70000" dist="38100" dir="5400000" rotWithShape="0">
              <a:srgbClr val="8B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39312" y="1874519"/>
            <a:ext cx="548640" cy="548640"/>
          </a:xfrm>
          <a:prstGeom prst="ellipse">
            <a:avLst/>
          </a:prstGeom>
          <a:solidFill>
            <a:srgbClr val="FFCD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39312" y="1874519"/>
            <a:ext cx="548640" cy="548640"/>
          </a:xfrm>
          <a:prstGeom prst="rect">
            <a:avLst/>
          </a:prstGeom>
          <a:noFill/>
        </p:spPr>
        <p:txBody>
          <a:bodyPr wrap="square" anchor="ctr" lIns="0" rIns="0" tIns="0" bIns="0">
            <a:spAutoFit/>
          </a:bodyPr>
          <a:lstStyle/>
          <a:p>
            <a:pPr algn="ctr"/>
            <a:r>
              <a:rPr sz="2400" b="1" i="0">
                <a:solidFill>
                  <a:srgbClr val="B31B1B"/>
                </a:solidFill>
                <a:latin typeface="Cambria"/>
              </a:rPr>
              <a:t>2</a:t>
            </a:r>
          </a:p>
        </p:txBody>
      </p:sp>
      <p:sp>
        <p:nvSpPr>
          <p:cNvPr id="13" name="TextBox 12"/>
          <p:cNvSpPr txBox="1"/>
          <p:nvPr/>
        </p:nvSpPr>
        <p:spPr>
          <a:xfrm>
            <a:off x="2953512" y="2560320"/>
            <a:ext cx="1920240" cy="640080"/>
          </a:xfrm>
          <a:prstGeom prst="rect">
            <a:avLst/>
          </a:prstGeom>
          <a:noFill/>
        </p:spPr>
        <p:txBody>
          <a:bodyPr wrap="square" anchor="t" lIns="0" rIns="0" tIns="0" bIns="0">
            <a:spAutoFit/>
          </a:bodyPr>
          <a:lstStyle/>
          <a:p>
            <a:pPr algn="ctr"/>
            <a:r>
              <a:rPr sz="1450" b="1" i="0">
                <a:solidFill>
                  <a:srgbClr val="FFFFFF"/>
                </a:solidFill>
                <a:latin typeface="Cambria"/>
              </a:rPr>
              <a:t>Build the bridge</a:t>
            </a:r>
          </a:p>
        </p:txBody>
      </p:sp>
      <p:sp>
        <p:nvSpPr>
          <p:cNvPr id="14" name="TextBox 13"/>
          <p:cNvSpPr txBox="1"/>
          <p:nvPr/>
        </p:nvSpPr>
        <p:spPr>
          <a:xfrm>
            <a:off x="2980944" y="3200400"/>
            <a:ext cx="1865376" cy="1371600"/>
          </a:xfrm>
          <a:prstGeom prst="rect">
            <a:avLst/>
          </a:prstGeom>
          <a:noFill/>
        </p:spPr>
        <p:txBody>
          <a:bodyPr wrap="square" anchor="t" lIns="0" rIns="0" tIns="0" bIns="0">
            <a:spAutoFit/>
          </a:bodyPr>
          <a:lstStyle/>
          <a:p>
            <a:pPr algn="l"/>
            <a:r>
              <a:rPr sz="1100" b="0" i="0">
                <a:solidFill>
                  <a:srgbClr val="FBE3E3"/>
                </a:solidFill>
                <a:latin typeface="Calibri"/>
              </a:rPr>
              <a:t>Define an XMITQ + sender channel on the source and a matching receiver channel on the target — a path from S to T.</a:t>
            </a:r>
          </a:p>
        </p:txBody>
      </p:sp>
      <p:sp>
        <p:nvSpPr>
          <p:cNvPr id="15" name="TextBox 14"/>
          <p:cNvSpPr txBox="1"/>
          <p:nvPr/>
        </p:nvSpPr>
        <p:spPr>
          <a:xfrm>
            <a:off x="4992624" y="2971800"/>
            <a:ext cx="182880" cy="365760"/>
          </a:xfrm>
          <a:prstGeom prst="rect">
            <a:avLst/>
          </a:prstGeom>
          <a:noFill/>
        </p:spPr>
        <p:txBody>
          <a:bodyPr wrap="square" anchor="ctr" lIns="0" rIns="0" tIns="0" bIns="0">
            <a:spAutoFit/>
          </a:bodyPr>
          <a:lstStyle/>
          <a:p>
            <a:pPr algn="ctr"/>
            <a:r>
              <a:rPr sz="1300" b="0" i="0">
                <a:solidFill>
                  <a:srgbClr val="FFCD41"/>
                </a:solidFill>
                <a:latin typeface="Calibri"/>
              </a:rPr>
              <a:t>▶</a:t>
            </a:r>
          </a:p>
        </p:txBody>
      </p:sp>
      <p:sp>
        <p:nvSpPr>
          <p:cNvPr id="16" name="Rounded Rectangle 15"/>
          <p:cNvSpPr/>
          <p:nvPr/>
        </p:nvSpPr>
        <p:spPr>
          <a:xfrm>
            <a:off x="5129783" y="1600200"/>
            <a:ext cx="2194560" cy="3108960"/>
          </a:xfrm>
          <a:prstGeom prst="roundRect">
            <a:avLst>
              <a:gd name="adj" fmla="val 8000"/>
            </a:avLst>
          </a:prstGeom>
          <a:solidFill>
            <a:srgbClr val="B31B1B"/>
          </a:solidFill>
          <a:ln>
            <a:noFill/>
          </a:ln>
          <a:effectLst/>
          <a:effectLst>
            <a:outerShdw blurRad="70000" dist="38100" dir="5400000" rotWithShape="0">
              <a:srgbClr val="8B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952744" y="1874519"/>
            <a:ext cx="548640" cy="548640"/>
          </a:xfrm>
          <a:prstGeom prst="ellipse">
            <a:avLst/>
          </a:prstGeom>
          <a:solidFill>
            <a:srgbClr val="FFCD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52744" y="1874519"/>
            <a:ext cx="548640" cy="548640"/>
          </a:xfrm>
          <a:prstGeom prst="rect">
            <a:avLst/>
          </a:prstGeom>
          <a:noFill/>
        </p:spPr>
        <p:txBody>
          <a:bodyPr wrap="square" anchor="ctr" lIns="0" rIns="0" tIns="0" bIns="0">
            <a:spAutoFit/>
          </a:bodyPr>
          <a:lstStyle/>
          <a:p>
            <a:pPr algn="ctr"/>
            <a:r>
              <a:rPr sz="2400" b="1" i="0">
                <a:solidFill>
                  <a:srgbClr val="B31B1B"/>
                </a:solidFill>
                <a:latin typeface="Cambria"/>
              </a:rPr>
              <a:t>3</a:t>
            </a:r>
          </a:p>
        </p:txBody>
      </p:sp>
      <p:sp>
        <p:nvSpPr>
          <p:cNvPr id="19" name="TextBox 18"/>
          <p:cNvSpPr txBox="1"/>
          <p:nvPr/>
        </p:nvSpPr>
        <p:spPr>
          <a:xfrm>
            <a:off x="5266944" y="2560320"/>
            <a:ext cx="1920240" cy="640080"/>
          </a:xfrm>
          <a:prstGeom prst="rect">
            <a:avLst/>
          </a:prstGeom>
          <a:noFill/>
        </p:spPr>
        <p:txBody>
          <a:bodyPr wrap="square" anchor="t" lIns="0" rIns="0" tIns="0" bIns="0">
            <a:spAutoFit/>
          </a:bodyPr>
          <a:lstStyle/>
          <a:p>
            <a:pPr algn="ctr"/>
            <a:r>
              <a:rPr sz="1450" b="1" i="0">
                <a:solidFill>
                  <a:srgbClr val="FFFFFF"/>
                </a:solidFill>
                <a:latin typeface="Cambria"/>
              </a:rPr>
              <a:t>Rewire (cutover)</a:t>
            </a:r>
          </a:p>
        </p:txBody>
      </p:sp>
      <p:sp>
        <p:nvSpPr>
          <p:cNvPr id="20" name="TextBox 19"/>
          <p:cNvSpPr txBox="1"/>
          <p:nvPr/>
        </p:nvSpPr>
        <p:spPr>
          <a:xfrm>
            <a:off x="5294375" y="3200400"/>
            <a:ext cx="1865376" cy="1371600"/>
          </a:xfrm>
          <a:prstGeom prst="rect">
            <a:avLst/>
          </a:prstGeom>
          <a:noFill/>
        </p:spPr>
        <p:txBody>
          <a:bodyPr wrap="square" anchor="t" lIns="0" rIns="0" tIns="0" bIns="0">
            <a:spAutoFit/>
          </a:bodyPr>
          <a:lstStyle/>
          <a:p>
            <a:pPr algn="l"/>
            <a:r>
              <a:rPr sz="1100" b="0" i="0">
                <a:solidFill>
                  <a:srgbClr val="FBE3E3"/>
                </a:solidFill>
                <a:latin typeface="Calibri"/>
              </a:rPr>
              <a:t>Swap the app's QLOCAL for a QREMOTE alias of the same name over the bridge. The producer keeps its connection — it never notices.</a:t>
            </a:r>
          </a:p>
        </p:txBody>
      </p:sp>
      <p:sp>
        <p:nvSpPr>
          <p:cNvPr id="21" name="TextBox 20"/>
          <p:cNvSpPr txBox="1"/>
          <p:nvPr/>
        </p:nvSpPr>
        <p:spPr>
          <a:xfrm>
            <a:off x="7306056" y="2971800"/>
            <a:ext cx="182880" cy="365760"/>
          </a:xfrm>
          <a:prstGeom prst="rect">
            <a:avLst/>
          </a:prstGeom>
          <a:noFill/>
        </p:spPr>
        <p:txBody>
          <a:bodyPr wrap="square" anchor="ctr" lIns="0" rIns="0" tIns="0" bIns="0">
            <a:spAutoFit/>
          </a:bodyPr>
          <a:lstStyle/>
          <a:p>
            <a:pPr algn="ctr"/>
            <a:r>
              <a:rPr sz="1300" b="0" i="0">
                <a:solidFill>
                  <a:srgbClr val="FFCD41"/>
                </a:solidFill>
                <a:latin typeface="Calibri"/>
              </a:rPr>
              <a:t>▶</a:t>
            </a:r>
          </a:p>
        </p:txBody>
      </p:sp>
      <p:sp>
        <p:nvSpPr>
          <p:cNvPr id="22" name="Rounded Rectangle 21"/>
          <p:cNvSpPr/>
          <p:nvPr/>
        </p:nvSpPr>
        <p:spPr>
          <a:xfrm>
            <a:off x="7443216" y="1600200"/>
            <a:ext cx="2194560" cy="3108960"/>
          </a:xfrm>
          <a:prstGeom prst="roundRect">
            <a:avLst>
              <a:gd name="adj" fmla="val 8000"/>
            </a:avLst>
          </a:prstGeom>
          <a:solidFill>
            <a:srgbClr val="8B0000"/>
          </a:solidFill>
          <a:ln>
            <a:noFill/>
          </a:ln>
          <a:effectLst/>
          <a:effectLst>
            <a:outerShdw blurRad="70000" dist="38100" dir="5400000" rotWithShape="0">
              <a:srgbClr val="8B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266175" y="1874519"/>
            <a:ext cx="548640" cy="548640"/>
          </a:xfrm>
          <a:prstGeom prst="ellipse">
            <a:avLst/>
          </a:prstGeom>
          <a:solidFill>
            <a:srgbClr val="FFCD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66175" y="1874519"/>
            <a:ext cx="548640" cy="548640"/>
          </a:xfrm>
          <a:prstGeom prst="rect">
            <a:avLst/>
          </a:prstGeom>
          <a:noFill/>
        </p:spPr>
        <p:txBody>
          <a:bodyPr wrap="square" anchor="ctr" lIns="0" rIns="0" tIns="0" bIns="0">
            <a:spAutoFit/>
          </a:bodyPr>
          <a:lstStyle/>
          <a:p>
            <a:pPr algn="ctr"/>
            <a:r>
              <a:rPr sz="2400" b="1" i="0">
                <a:solidFill>
                  <a:srgbClr val="B31B1B"/>
                </a:solidFill>
                <a:latin typeface="Cambria"/>
              </a:rPr>
              <a:t>4</a:t>
            </a:r>
          </a:p>
        </p:txBody>
      </p:sp>
      <p:sp>
        <p:nvSpPr>
          <p:cNvPr id="25" name="TextBox 24"/>
          <p:cNvSpPr txBox="1"/>
          <p:nvPr/>
        </p:nvSpPr>
        <p:spPr>
          <a:xfrm>
            <a:off x="7580376" y="2560320"/>
            <a:ext cx="1920240" cy="640080"/>
          </a:xfrm>
          <a:prstGeom prst="rect">
            <a:avLst/>
          </a:prstGeom>
          <a:noFill/>
        </p:spPr>
        <p:txBody>
          <a:bodyPr wrap="square" anchor="t" lIns="0" rIns="0" tIns="0" bIns="0">
            <a:spAutoFit/>
          </a:bodyPr>
          <a:lstStyle/>
          <a:p>
            <a:pPr algn="ctr"/>
            <a:r>
              <a:rPr sz="1450" b="1" i="0">
                <a:solidFill>
                  <a:srgbClr val="FFFFFF"/>
                </a:solidFill>
                <a:latin typeface="Cambria"/>
              </a:rPr>
              <a:t>Drain the source</a:t>
            </a:r>
          </a:p>
        </p:txBody>
      </p:sp>
      <p:sp>
        <p:nvSpPr>
          <p:cNvPr id="26" name="TextBox 25"/>
          <p:cNvSpPr txBox="1"/>
          <p:nvPr/>
        </p:nvSpPr>
        <p:spPr>
          <a:xfrm>
            <a:off x="7607808" y="3200400"/>
            <a:ext cx="1865376" cy="1371600"/>
          </a:xfrm>
          <a:prstGeom prst="rect">
            <a:avLst/>
          </a:prstGeom>
          <a:noFill/>
        </p:spPr>
        <p:txBody>
          <a:bodyPr wrap="square" anchor="t" lIns="0" rIns="0" tIns="0" bIns="0">
            <a:spAutoFit/>
          </a:bodyPr>
          <a:lstStyle/>
          <a:p>
            <a:pPr algn="l"/>
            <a:r>
              <a:rPr sz="1100" b="0" i="0">
                <a:solidFill>
                  <a:srgbClr val="FBE3E3"/>
                </a:solidFill>
                <a:latin typeface="Calibri"/>
              </a:rPr>
              <a:t>Poll the old queue depth to a confirmed zero — three consecutive zero readings — proving no message was stranded.</a:t>
            </a:r>
          </a:p>
        </p:txBody>
      </p:sp>
      <p:sp>
        <p:nvSpPr>
          <p:cNvPr id="27" name="TextBox 26"/>
          <p:cNvSpPr txBox="1"/>
          <p:nvPr/>
        </p:nvSpPr>
        <p:spPr>
          <a:xfrm>
            <a:off x="9619488" y="2971800"/>
            <a:ext cx="182880" cy="365760"/>
          </a:xfrm>
          <a:prstGeom prst="rect">
            <a:avLst/>
          </a:prstGeom>
          <a:noFill/>
        </p:spPr>
        <p:txBody>
          <a:bodyPr wrap="square" anchor="ctr" lIns="0" rIns="0" tIns="0" bIns="0">
            <a:spAutoFit/>
          </a:bodyPr>
          <a:lstStyle/>
          <a:p>
            <a:pPr algn="ctr"/>
            <a:r>
              <a:rPr sz="1300" b="0" i="0">
                <a:solidFill>
                  <a:srgbClr val="FFCD41"/>
                </a:solidFill>
                <a:latin typeface="Calibri"/>
              </a:rPr>
              <a:t>▶</a:t>
            </a:r>
          </a:p>
        </p:txBody>
      </p:sp>
      <p:sp>
        <p:nvSpPr>
          <p:cNvPr id="28" name="Rounded Rectangle 27"/>
          <p:cNvSpPr/>
          <p:nvPr/>
        </p:nvSpPr>
        <p:spPr>
          <a:xfrm>
            <a:off x="9756648" y="1600200"/>
            <a:ext cx="2194560" cy="3108960"/>
          </a:xfrm>
          <a:prstGeom prst="roundRect">
            <a:avLst>
              <a:gd name="adj" fmla="val 8000"/>
            </a:avLst>
          </a:prstGeom>
          <a:solidFill>
            <a:srgbClr val="B31B1B"/>
          </a:solidFill>
          <a:ln>
            <a:noFill/>
          </a:ln>
          <a:effectLst/>
          <a:effectLst>
            <a:outerShdw blurRad="70000" dist="38100" dir="5400000" rotWithShape="0">
              <a:srgbClr val="8B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579607" y="1874519"/>
            <a:ext cx="548640" cy="548640"/>
          </a:xfrm>
          <a:prstGeom prst="ellipse">
            <a:avLst/>
          </a:prstGeom>
          <a:solidFill>
            <a:srgbClr val="FFCD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79607" y="1874519"/>
            <a:ext cx="548640" cy="548640"/>
          </a:xfrm>
          <a:prstGeom prst="rect">
            <a:avLst/>
          </a:prstGeom>
          <a:noFill/>
        </p:spPr>
        <p:txBody>
          <a:bodyPr wrap="square" anchor="ctr" lIns="0" rIns="0" tIns="0" bIns="0">
            <a:spAutoFit/>
          </a:bodyPr>
          <a:lstStyle/>
          <a:p>
            <a:pPr algn="ctr"/>
            <a:r>
              <a:rPr sz="2400" b="1" i="0">
                <a:solidFill>
                  <a:srgbClr val="B31B1B"/>
                </a:solidFill>
                <a:latin typeface="Cambria"/>
              </a:rPr>
              <a:t>5</a:t>
            </a:r>
          </a:p>
        </p:txBody>
      </p:sp>
      <p:sp>
        <p:nvSpPr>
          <p:cNvPr id="31" name="TextBox 30"/>
          <p:cNvSpPr txBox="1"/>
          <p:nvPr/>
        </p:nvSpPr>
        <p:spPr>
          <a:xfrm>
            <a:off x="9893808" y="2560320"/>
            <a:ext cx="1920240" cy="640080"/>
          </a:xfrm>
          <a:prstGeom prst="rect">
            <a:avLst/>
          </a:prstGeom>
          <a:noFill/>
        </p:spPr>
        <p:txBody>
          <a:bodyPr wrap="square" anchor="t" lIns="0" rIns="0" tIns="0" bIns="0">
            <a:spAutoFit/>
          </a:bodyPr>
          <a:lstStyle/>
          <a:p>
            <a:pPr algn="ctr"/>
            <a:r>
              <a:rPr sz="1450" b="1" i="0">
                <a:solidFill>
                  <a:srgbClr val="FFFFFF"/>
                </a:solidFill>
                <a:latin typeface="Cambria"/>
              </a:rPr>
              <a:t>Validate &amp; finalize</a:t>
            </a:r>
          </a:p>
        </p:txBody>
      </p:sp>
      <p:sp>
        <p:nvSpPr>
          <p:cNvPr id="32" name="TextBox 31"/>
          <p:cNvSpPr txBox="1"/>
          <p:nvPr/>
        </p:nvSpPr>
        <p:spPr>
          <a:xfrm>
            <a:off x="9921240" y="3200400"/>
            <a:ext cx="1865376" cy="1371600"/>
          </a:xfrm>
          <a:prstGeom prst="rect">
            <a:avLst/>
          </a:prstGeom>
          <a:noFill/>
        </p:spPr>
        <p:txBody>
          <a:bodyPr wrap="square" anchor="t" lIns="0" rIns="0" tIns="0" bIns="0">
            <a:spAutoFit/>
          </a:bodyPr>
          <a:lstStyle/>
          <a:p>
            <a:pPr algn="l"/>
            <a:r>
              <a:rPr sz="1100" b="0" i="0">
                <a:solidFill>
                  <a:srgbClr val="FBE3E3"/>
                </a:solidFill>
                <a:latin typeface="Calibri"/>
              </a:rPr>
              <a:t>Confirm the new path end-to-end, then remove the now-empty source queues. The app owns a dedicated QM.</a:t>
            </a:r>
          </a:p>
        </p:txBody>
      </p:sp>
      <p:sp>
        <p:nvSpPr>
          <p:cNvPr id="33" name="TextBox 32"/>
          <p:cNvSpPr txBox="1"/>
          <p:nvPr/>
        </p:nvSpPr>
        <p:spPr>
          <a:xfrm>
            <a:off x="502920" y="5029200"/>
            <a:ext cx="11155680" cy="822960"/>
          </a:xfrm>
          <a:prstGeom prst="rect">
            <a:avLst/>
          </a:prstGeom>
          <a:noFill/>
        </p:spPr>
        <p:txBody>
          <a:bodyPr wrap="square" anchor="t" lIns="0" rIns="0" tIns="0" bIns="0">
            <a:spAutoFit/>
          </a:bodyPr>
          <a:lstStyle/>
          <a:p>
            <a:pPr algn="l"/>
            <a:r>
              <a:rPr sz="1300" b="1" i="0">
                <a:solidFill>
                  <a:srgbClr val="B31B1B"/>
                </a:solidFill>
                <a:latin typeface="Calibri"/>
              </a:rPr>
              <a:t>The cutover is the clever part. </a:t>
            </a:r>
            <a:r>
              <a:rPr sz="1300" b="0" i="0">
                <a:solidFill>
                  <a:srgbClr val="2B2B2B"/>
                </a:solidFill>
                <a:latin typeface="Calibri"/>
              </a:rPr>
              <a:t>Because we swap one queue for a same-named remote alias, MQ's own routing carries the messages to the new queue manager. The application keeps PUT-ting to the same name on the same connection — it never reconnects, and it never notices the move.</a:t>
            </a:r>
          </a:p>
        </p:txBody>
      </p:sp>
      <p:sp>
        <p:nvSpPr>
          <p:cNvPr id="34" name="TextBox 33"/>
          <p:cNvSpPr txBox="1"/>
          <p:nvPr/>
        </p:nvSpPr>
        <p:spPr>
          <a:xfrm>
            <a:off x="502920" y="6473952"/>
            <a:ext cx="7315200" cy="274320"/>
          </a:xfrm>
          <a:prstGeom prst="rect">
            <a:avLst/>
          </a:prstGeom>
          <a:noFill/>
        </p:spPr>
        <p:txBody>
          <a:bodyPr wrap="square" anchor="t" lIns="0" rIns="0" tIns="0" bIns="0">
            <a:spAutoFit/>
          </a:bodyPr>
          <a:lstStyle/>
          <a:p>
            <a:pPr algn="l"/>
            <a:r>
              <a:rPr sz="900" b="0" i="0">
                <a:solidFill>
                  <a:srgbClr val="6B6B6B"/>
                </a:solidFill>
                <a:latin typeface="Calibri"/>
              </a:rPr>
              <a:t>IntelliAI 2.0  ·  IBM MQ Intelligent Hackathon 2026  ·  Part 2</a:t>
            </a:r>
          </a:p>
        </p:txBody>
      </p:sp>
      <p:sp>
        <p:nvSpPr>
          <p:cNvPr id="35" name="TextBox 34"/>
          <p:cNvSpPr txBox="1"/>
          <p:nvPr/>
        </p:nvSpPr>
        <p:spPr>
          <a:xfrm>
            <a:off x="11338560" y="6473952"/>
            <a:ext cx="457200" cy="274320"/>
          </a:xfrm>
          <a:prstGeom prst="rect">
            <a:avLst/>
          </a:prstGeom>
          <a:noFill/>
        </p:spPr>
        <p:txBody>
          <a:bodyPr wrap="square" anchor="t" lIns="0" rIns="0" tIns="0" bIns="0">
            <a:spAutoFit/>
          </a:bodyPr>
          <a:lstStyle/>
          <a:p>
            <a:pPr algn="r"/>
            <a:r>
              <a:rPr sz="900" b="0" i="0">
                <a:solidFill>
                  <a:srgbClr val="6B6B6B"/>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292608"/>
          </a:xfrm>
          <a:prstGeom prst="rect">
            <a:avLst/>
          </a:prstGeom>
          <a:noFill/>
        </p:spPr>
        <p:txBody>
          <a:bodyPr wrap="square" anchor="t" lIns="0" rIns="0" tIns="0" bIns="0">
            <a:spAutoFit/>
          </a:bodyPr>
          <a:lstStyle/>
          <a:p>
            <a:pPr algn="l"/>
            <a:r>
              <a:rPr sz="1200" b="1" i="0">
                <a:solidFill>
                  <a:srgbClr val="B31B1B"/>
                </a:solidFill>
                <a:latin typeface="Calibri"/>
              </a:rPr>
              <a:t>WHY IT'S INVISIBLE</a:t>
            </a:r>
          </a:p>
        </p:txBody>
      </p:sp>
      <p:sp>
        <p:nvSpPr>
          <p:cNvPr id="3" name="TextBox 2"/>
          <p:cNvSpPr txBox="1"/>
          <p:nvPr/>
        </p:nvSpPr>
        <p:spPr>
          <a:xfrm>
            <a:off x="502920" y="658368"/>
            <a:ext cx="11155680" cy="731520"/>
          </a:xfrm>
          <a:prstGeom prst="rect">
            <a:avLst/>
          </a:prstGeom>
          <a:noFill/>
        </p:spPr>
        <p:txBody>
          <a:bodyPr wrap="square" anchor="t" lIns="0" rIns="0" tIns="0" bIns="0">
            <a:spAutoFit/>
          </a:bodyPr>
          <a:lstStyle/>
          <a:p>
            <a:pPr algn="l"/>
            <a:r>
              <a:rPr sz="2900" b="1" i="0">
                <a:solidFill>
                  <a:srgbClr val="B31B1B"/>
                </a:solidFill>
                <a:latin typeface="Cambria"/>
              </a:rPr>
              <a:t>Transparent rewiring: the app never changes</a:t>
            </a:r>
          </a:p>
        </p:txBody>
      </p:sp>
      <p:sp>
        <p:nvSpPr>
          <p:cNvPr id="4" name="Rounded Rectangle 3"/>
          <p:cNvSpPr/>
          <p:nvPr/>
        </p:nvSpPr>
        <p:spPr>
          <a:xfrm>
            <a:off x="502920" y="1691640"/>
            <a:ext cx="5394960" cy="3291840"/>
          </a:xfrm>
          <a:prstGeom prst="roundRect">
            <a:avLst>
              <a:gd name="adj" fmla="val 8000"/>
            </a:avLst>
          </a:prstGeom>
          <a:solidFill>
            <a:srgbClr val="FBF6F6"/>
          </a:solidFill>
          <a:ln w="12700">
            <a:solidFill>
              <a:srgbClr val="EAD9D9"/>
            </a:solidFill>
          </a:ln>
          <a:effectLst/>
          <a:effectLst>
            <a:outerShdw blurRad="70000" dist="38100" dir="5400000" rotWithShape="0">
              <a:srgbClr val="8B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874519"/>
            <a:ext cx="4846320" cy="365760"/>
          </a:xfrm>
          <a:prstGeom prst="rect">
            <a:avLst/>
          </a:prstGeom>
          <a:noFill/>
        </p:spPr>
        <p:txBody>
          <a:bodyPr wrap="square" anchor="t" lIns="0" rIns="0" tIns="0" bIns="0">
            <a:spAutoFit/>
          </a:bodyPr>
          <a:lstStyle/>
          <a:p>
            <a:pPr algn="l"/>
            <a:r>
              <a:rPr sz="1400" b="1" i="0">
                <a:solidFill>
                  <a:srgbClr val="B31B1B"/>
                </a:solidFill>
                <a:latin typeface="Cambria"/>
              </a:rPr>
              <a:t>Before — QLOCAL on shared QM</a:t>
            </a:r>
          </a:p>
        </p:txBody>
      </p:sp>
      <p:sp>
        <p:nvSpPr>
          <p:cNvPr id="6" name="Oval 5"/>
          <p:cNvSpPr/>
          <p:nvPr/>
        </p:nvSpPr>
        <p:spPr>
          <a:xfrm>
            <a:off x="914400" y="2514600"/>
            <a:ext cx="1097280" cy="1097280"/>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514600"/>
            <a:ext cx="1097280" cy="1097280"/>
          </a:xfrm>
          <a:prstGeom prst="rect">
            <a:avLst/>
          </a:prstGeom>
          <a:noFill/>
        </p:spPr>
        <p:txBody>
          <a:bodyPr wrap="square" anchor="ctr" lIns="0" rIns="0" tIns="0" bIns="0">
            <a:spAutoFit/>
          </a:bodyPr>
          <a:lstStyle/>
          <a:p>
            <a:pPr algn="ctr"/>
            <a:r>
              <a:rPr sz="1300" b="1" i="0">
                <a:solidFill>
                  <a:srgbClr val="FFFFFF"/>
                </a:solidFill>
                <a:latin typeface="Calibri"/>
              </a:rPr>
              <a:t>APP</a:t>
            </a:r>
          </a:p>
        </p:txBody>
      </p:sp>
      <p:cxnSp>
        <p:nvCxnSpPr>
          <p:cNvPr id="8" name="Connector 7"/>
          <p:cNvCxnSpPr/>
          <p:nvPr/>
        </p:nvCxnSpPr>
        <p:spPr>
          <a:xfrm>
            <a:off x="2103120" y="3063240"/>
            <a:ext cx="1188720" cy="0"/>
          </a:xfrm>
          <a:prstGeom prst="bentConnector3">
            <a:avLst/>
          </a:prstGeom>
          <a:ln w="25400">
            <a:solidFill>
              <a:srgbClr val="7A0000"/>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291840" y="2651760"/>
            <a:ext cx="2286000" cy="822960"/>
          </a:xfrm>
          <a:prstGeom prst="roundRect">
            <a:avLst>
              <a:gd name="adj" fmla="val 8000"/>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91840" y="2651760"/>
            <a:ext cx="2286000" cy="822960"/>
          </a:xfrm>
          <a:prstGeom prst="rect">
            <a:avLst/>
          </a:prstGeom>
          <a:noFill/>
        </p:spPr>
        <p:txBody>
          <a:bodyPr wrap="square" anchor="ctr" lIns="0" rIns="0" tIns="0" bIns="0">
            <a:spAutoFit/>
          </a:bodyPr>
          <a:lstStyle/>
          <a:p>
            <a:pPr algn="ctr"/>
            <a:r>
              <a:rPr sz="1100" b="0" i="0">
                <a:solidFill>
                  <a:srgbClr val="FFFFFF"/>
                </a:solidFill>
                <a:latin typeface="Calibri"/>
              </a:rPr>
              <a:t>QLOCAL
(shared source QM)</a:t>
            </a:r>
          </a:p>
        </p:txBody>
      </p:sp>
      <p:sp>
        <p:nvSpPr>
          <p:cNvPr id="11" name="TextBox 10"/>
          <p:cNvSpPr txBox="1"/>
          <p:nvPr/>
        </p:nvSpPr>
        <p:spPr>
          <a:xfrm>
            <a:off x="777240" y="4206240"/>
            <a:ext cx="4846320" cy="640080"/>
          </a:xfrm>
          <a:prstGeom prst="rect">
            <a:avLst/>
          </a:prstGeom>
          <a:noFill/>
        </p:spPr>
        <p:txBody>
          <a:bodyPr wrap="square" anchor="t" lIns="0" rIns="0" tIns="0" bIns="0">
            <a:spAutoFit/>
          </a:bodyPr>
          <a:lstStyle/>
          <a:p>
            <a:pPr algn="l"/>
            <a:r>
              <a:rPr sz="1200" b="0" i="1">
                <a:solidFill>
                  <a:srgbClr val="6B6B6B"/>
                </a:solidFill>
                <a:latin typeface="Calibri"/>
              </a:rPr>
              <a:t>The app PUTs to a queue name on a connection string. That's all it knows.</a:t>
            </a:r>
          </a:p>
        </p:txBody>
      </p:sp>
      <p:sp>
        <p:nvSpPr>
          <p:cNvPr id="12" name="Rounded Rectangle 11"/>
          <p:cNvSpPr/>
          <p:nvPr/>
        </p:nvSpPr>
        <p:spPr>
          <a:xfrm>
            <a:off x="6263640" y="1691640"/>
            <a:ext cx="5394960" cy="3291840"/>
          </a:xfrm>
          <a:prstGeom prst="roundRect">
            <a:avLst>
              <a:gd name="adj" fmla="val 8000"/>
            </a:avLst>
          </a:prstGeom>
          <a:solidFill>
            <a:srgbClr val="FBF6F6"/>
          </a:solidFill>
          <a:ln w="12700">
            <a:solidFill>
              <a:srgbClr val="EAD9D9"/>
            </a:solidFill>
          </a:ln>
          <a:effectLst/>
          <a:effectLst>
            <a:outerShdw blurRad="70000" dist="38100" dir="5400000" rotWithShape="0">
              <a:srgbClr val="8B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60" y="1874519"/>
            <a:ext cx="4846320" cy="365760"/>
          </a:xfrm>
          <a:prstGeom prst="rect">
            <a:avLst/>
          </a:prstGeom>
          <a:noFill/>
        </p:spPr>
        <p:txBody>
          <a:bodyPr wrap="square" anchor="t" lIns="0" rIns="0" tIns="0" bIns="0">
            <a:spAutoFit/>
          </a:bodyPr>
          <a:lstStyle/>
          <a:p>
            <a:pPr algn="l"/>
            <a:r>
              <a:rPr sz="1400" b="1" i="0">
                <a:solidFill>
                  <a:srgbClr val="2E7D32"/>
                </a:solidFill>
                <a:latin typeface="Cambria"/>
              </a:rPr>
              <a:t>After — QREMOTE alias, same name</a:t>
            </a:r>
          </a:p>
        </p:txBody>
      </p:sp>
      <p:sp>
        <p:nvSpPr>
          <p:cNvPr id="14" name="Oval 13"/>
          <p:cNvSpPr/>
          <p:nvPr/>
        </p:nvSpPr>
        <p:spPr>
          <a:xfrm>
            <a:off x="6675120" y="2514600"/>
            <a:ext cx="1097280" cy="1097280"/>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0" y="2514600"/>
            <a:ext cx="1097280" cy="1097280"/>
          </a:xfrm>
          <a:prstGeom prst="rect">
            <a:avLst/>
          </a:prstGeom>
          <a:noFill/>
        </p:spPr>
        <p:txBody>
          <a:bodyPr wrap="square" anchor="ctr" lIns="0" rIns="0" tIns="0" bIns="0">
            <a:spAutoFit/>
          </a:bodyPr>
          <a:lstStyle/>
          <a:p>
            <a:pPr algn="ctr"/>
            <a:r>
              <a:rPr sz="1300" b="1" i="0">
                <a:solidFill>
                  <a:srgbClr val="FFFFFF"/>
                </a:solidFill>
                <a:latin typeface="Calibri"/>
              </a:rPr>
              <a:t>APP</a:t>
            </a:r>
          </a:p>
        </p:txBody>
      </p:sp>
      <p:cxnSp>
        <p:nvCxnSpPr>
          <p:cNvPr id="16" name="Connector 15"/>
          <p:cNvCxnSpPr/>
          <p:nvPr/>
        </p:nvCxnSpPr>
        <p:spPr>
          <a:xfrm>
            <a:off x="7863840" y="3063240"/>
            <a:ext cx="822960" cy="0"/>
          </a:xfrm>
          <a:prstGeom prst="bentConnector3">
            <a:avLst/>
          </a:prstGeom>
          <a:ln w="25400">
            <a:solidFill>
              <a:srgbClr val="7A0000"/>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686800" y="2651760"/>
            <a:ext cx="1280160" cy="822960"/>
          </a:xfrm>
          <a:prstGeom prst="roundRect">
            <a:avLst>
              <a:gd name="adj" fmla="val 8000"/>
            </a:avLst>
          </a:prstGeom>
          <a:solidFill>
            <a:srgbClr val="FFA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0" y="2651760"/>
            <a:ext cx="1280160" cy="822960"/>
          </a:xfrm>
          <a:prstGeom prst="rect">
            <a:avLst/>
          </a:prstGeom>
          <a:noFill/>
        </p:spPr>
        <p:txBody>
          <a:bodyPr wrap="square" anchor="ctr" lIns="0" rIns="0" tIns="0" bIns="0">
            <a:spAutoFit/>
          </a:bodyPr>
          <a:lstStyle/>
          <a:p>
            <a:pPr algn="ctr"/>
            <a:r>
              <a:rPr sz="1050" b="1" i="0">
                <a:solidFill>
                  <a:srgbClr val="FFFFFF"/>
                </a:solidFill>
                <a:latin typeface="Calibri"/>
              </a:rPr>
              <a:t>QREMOTE
alias</a:t>
            </a:r>
          </a:p>
        </p:txBody>
      </p:sp>
      <p:cxnSp>
        <p:nvCxnSpPr>
          <p:cNvPr id="19" name="Connector 18"/>
          <p:cNvCxnSpPr/>
          <p:nvPr/>
        </p:nvCxnSpPr>
        <p:spPr>
          <a:xfrm>
            <a:off x="9966960" y="3063240"/>
            <a:ext cx="548640" cy="0"/>
          </a:xfrm>
          <a:prstGeom prst="bentConnector3">
            <a:avLst/>
          </a:prstGeom>
          <a:ln w="25400">
            <a:solidFill>
              <a:srgbClr val="2E7D32"/>
            </a:solidFill>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10515600" y="2651760"/>
            <a:ext cx="1005840" cy="822960"/>
          </a:xfrm>
          <a:prstGeom prst="roundRect">
            <a:avLst>
              <a:gd name="adj" fmla="val 8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0" y="2651760"/>
            <a:ext cx="1005840" cy="822960"/>
          </a:xfrm>
          <a:prstGeom prst="rect">
            <a:avLst/>
          </a:prstGeom>
          <a:noFill/>
        </p:spPr>
        <p:txBody>
          <a:bodyPr wrap="square" anchor="ctr" lIns="0" rIns="0" tIns="0" bIns="0">
            <a:spAutoFit/>
          </a:bodyPr>
          <a:lstStyle/>
          <a:p>
            <a:pPr algn="ctr"/>
            <a:r>
              <a:rPr sz="1050" b="1" i="0">
                <a:solidFill>
                  <a:srgbClr val="FFFFFF"/>
                </a:solidFill>
                <a:latin typeface="Calibri"/>
              </a:rPr>
              <a:t>target
QM</a:t>
            </a:r>
          </a:p>
        </p:txBody>
      </p:sp>
      <p:sp>
        <p:nvSpPr>
          <p:cNvPr id="22" name="TextBox 21"/>
          <p:cNvSpPr txBox="1"/>
          <p:nvPr/>
        </p:nvSpPr>
        <p:spPr>
          <a:xfrm>
            <a:off x="6537960" y="4206240"/>
            <a:ext cx="4846320" cy="640080"/>
          </a:xfrm>
          <a:prstGeom prst="rect">
            <a:avLst/>
          </a:prstGeom>
          <a:noFill/>
        </p:spPr>
        <p:txBody>
          <a:bodyPr wrap="square" anchor="t" lIns="0" rIns="0" tIns="0" bIns="0">
            <a:spAutoFit/>
          </a:bodyPr>
          <a:lstStyle/>
          <a:p>
            <a:pPr algn="l"/>
            <a:r>
              <a:rPr sz="1200" b="0" i="1">
                <a:solidFill>
                  <a:srgbClr val="6B6B6B"/>
                </a:solidFill>
                <a:latin typeface="Calibri"/>
              </a:rPr>
              <a:t>Same queue name, same connection. MQ routes over the bridge. Zero app changes.</a:t>
            </a:r>
          </a:p>
        </p:txBody>
      </p:sp>
      <p:sp>
        <p:nvSpPr>
          <p:cNvPr id="23" name="Rounded Rectangle 22"/>
          <p:cNvSpPr/>
          <p:nvPr/>
        </p:nvSpPr>
        <p:spPr>
          <a:xfrm>
            <a:off x="502920" y="5257800"/>
            <a:ext cx="11155680" cy="685800"/>
          </a:xfrm>
          <a:prstGeom prst="roundRect">
            <a:avLst>
              <a:gd name="adj" fmla="val 8000"/>
            </a:avLst>
          </a:prstGeom>
          <a:solidFill>
            <a:srgbClr val="B31B1B"/>
          </a:solidFill>
          <a:ln>
            <a:noFill/>
          </a:ln>
          <a:effectLst/>
          <a:effectLst>
            <a:outerShdw blurRad="70000" dist="38100" dir="5400000" rotWithShape="0">
              <a:srgbClr val="8B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257800"/>
            <a:ext cx="10607040" cy="685800"/>
          </a:xfrm>
          <a:prstGeom prst="rect">
            <a:avLst/>
          </a:prstGeom>
          <a:noFill/>
        </p:spPr>
        <p:txBody>
          <a:bodyPr wrap="square" anchor="ctr" lIns="0" rIns="0" tIns="0" bIns="0">
            <a:spAutoFit/>
          </a:bodyPr>
          <a:lstStyle/>
          <a:p>
            <a:pPr algn="l"/>
            <a:r>
              <a:rPr sz="1350" b="1" i="0">
                <a:solidFill>
                  <a:srgbClr val="FFCD41"/>
                </a:solidFill>
                <a:latin typeface="Calibri"/>
              </a:rPr>
              <a:t>The demo wow-moment:  </a:t>
            </a:r>
            <a:r>
              <a:rPr sz="1350" b="0" i="0">
                <a:solidFill>
                  <a:srgbClr val="FFFFFF"/>
                </a:solidFill>
                <a:latin typeface="Calibri"/>
              </a:rPr>
              <a:t>we show the producer pod's environment variables on screen — same DNS name, same port, before and after. Every message keeps flowing.</a:t>
            </a:r>
          </a:p>
        </p:txBody>
      </p:sp>
      <p:sp>
        <p:nvSpPr>
          <p:cNvPr id="25" name="TextBox 24"/>
          <p:cNvSpPr txBox="1"/>
          <p:nvPr/>
        </p:nvSpPr>
        <p:spPr>
          <a:xfrm>
            <a:off x="502920" y="6473952"/>
            <a:ext cx="7315200" cy="274320"/>
          </a:xfrm>
          <a:prstGeom prst="rect">
            <a:avLst/>
          </a:prstGeom>
          <a:noFill/>
        </p:spPr>
        <p:txBody>
          <a:bodyPr wrap="square" anchor="t" lIns="0" rIns="0" tIns="0" bIns="0">
            <a:spAutoFit/>
          </a:bodyPr>
          <a:lstStyle/>
          <a:p>
            <a:pPr algn="l"/>
            <a:r>
              <a:rPr sz="900" b="0" i="0">
                <a:solidFill>
                  <a:srgbClr val="6B6B6B"/>
                </a:solidFill>
                <a:latin typeface="Calibri"/>
              </a:rPr>
              <a:t>IntelliAI 2.0  ·  IBM MQ Intelligent Hackathon 2026  ·  Part 2</a:t>
            </a:r>
          </a:p>
        </p:txBody>
      </p:sp>
      <p:sp>
        <p:nvSpPr>
          <p:cNvPr id="26" name="TextBox 25"/>
          <p:cNvSpPr txBox="1"/>
          <p:nvPr/>
        </p:nvSpPr>
        <p:spPr>
          <a:xfrm>
            <a:off x="11338560" y="6473952"/>
            <a:ext cx="457200" cy="274320"/>
          </a:xfrm>
          <a:prstGeom prst="rect">
            <a:avLst/>
          </a:prstGeom>
          <a:noFill/>
        </p:spPr>
        <p:txBody>
          <a:bodyPr wrap="square" anchor="t" lIns="0" rIns="0" tIns="0" bIns="0">
            <a:spAutoFit/>
          </a:bodyPr>
          <a:lstStyle/>
          <a:p>
            <a:pPr algn="r"/>
            <a:r>
              <a:rPr sz="900" b="0" i="0">
                <a:solidFill>
                  <a:srgbClr val="6B6B6B"/>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292608"/>
          </a:xfrm>
          <a:prstGeom prst="rect">
            <a:avLst/>
          </a:prstGeom>
          <a:noFill/>
        </p:spPr>
        <p:txBody>
          <a:bodyPr wrap="square" anchor="t" lIns="0" rIns="0" tIns="0" bIns="0">
            <a:spAutoFit/>
          </a:bodyPr>
          <a:lstStyle/>
          <a:p>
            <a:pPr algn="l"/>
            <a:r>
              <a:rPr sz="1200" b="1" i="0">
                <a:solidFill>
                  <a:srgbClr val="B31B1B"/>
                </a:solidFill>
                <a:latin typeface="Calibri"/>
              </a:rPr>
              <a:t>THE DISCIPLINE</a:t>
            </a:r>
          </a:p>
        </p:txBody>
      </p:sp>
      <p:sp>
        <p:nvSpPr>
          <p:cNvPr id="3" name="TextBox 2"/>
          <p:cNvSpPr txBox="1"/>
          <p:nvPr/>
        </p:nvSpPr>
        <p:spPr>
          <a:xfrm>
            <a:off x="502920" y="658368"/>
            <a:ext cx="11155680" cy="731520"/>
          </a:xfrm>
          <a:prstGeom prst="rect">
            <a:avLst/>
          </a:prstGeom>
          <a:noFill/>
        </p:spPr>
        <p:txBody>
          <a:bodyPr wrap="square" anchor="t" lIns="0" rIns="0" tIns="0" bIns="0">
            <a:spAutoFit/>
          </a:bodyPr>
          <a:lstStyle/>
          <a:p>
            <a:pPr algn="l"/>
            <a:r>
              <a:rPr sz="2900" b="1" i="0">
                <a:solidFill>
                  <a:srgbClr val="B31B1B"/>
                </a:solidFill>
                <a:latin typeface="Cambria"/>
              </a:rPr>
              <a:t>An explicit 12-state machine, not a script</a:t>
            </a:r>
          </a:p>
        </p:txBody>
      </p:sp>
      <p:sp>
        <p:nvSpPr>
          <p:cNvPr id="4" name="Rounded Rectangle 3"/>
          <p:cNvSpPr/>
          <p:nvPr/>
        </p:nvSpPr>
        <p:spPr>
          <a:xfrm>
            <a:off x="502920" y="1737360"/>
            <a:ext cx="2103120" cy="548640"/>
          </a:xfrm>
          <a:prstGeom prst="roundRect">
            <a:avLst>
              <a:gd name="adj" fmla="val 8000"/>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737360"/>
            <a:ext cx="2103120" cy="548640"/>
          </a:xfrm>
          <a:prstGeom prst="rect">
            <a:avLst/>
          </a:prstGeom>
          <a:noFill/>
        </p:spPr>
        <p:txBody>
          <a:bodyPr wrap="square" anchor="ctr" lIns="0" rIns="0" tIns="0" bIns="0">
            <a:spAutoFit/>
          </a:bodyPr>
          <a:lstStyle/>
          <a:p>
            <a:pPr algn="ctr"/>
            <a:r>
              <a:rPr sz="1000" b="1" i="0">
                <a:solidFill>
                  <a:srgbClr val="FFFFFF"/>
                </a:solidFill>
                <a:latin typeface="Calibri"/>
              </a:rPr>
              <a:t>PLANNED</a:t>
            </a:r>
          </a:p>
        </p:txBody>
      </p:sp>
      <p:sp>
        <p:nvSpPr>
          <p:cNvPr id="6" name="TextBox 5"/>
          <p:cNvSpPr txBox="1"/>
          <p:nvPr/>
        </p:nvSpPr>
        <p:spPr>
          <a:xfrm>
            <a:off x="2587751" y="1737360"/>
            <a:ext cx="182880" cy="548640"/>
          </a:xfrm>
          <a:prstGeom prst="rect">
            <a:avLst/>
          </a:prstGeom>
          <a:noFill/>
        </p:spPr>
        <p:txBody>
          <a:bodyPr wrap="square" anchor="ctr" lIns="0" rIns="0" tIns="0" bIns="0">
            <a:spAutoFit/>
          </a:bodyPr>
          <a:lstStyle/>
          <a:p>
            <a:pPr algn="ctr"/>
            <a:r>
              <a:rPr sz="900" b="0" i="0">
                <a:solidFill>
                  <a:srgbClr val="FFCD41"/>
                </a:solidFill>
                <a:latin typeface="Calibri"/>
              </a:rPr>
              <a:t>▶</a:t>
            </a:r>
          </a:p>
        </p:txBody>
      </p:sp>
      <p:sp>
        <p:nvSpPr>
          <p:cNvPr id="7" name="Rounded Rectangle 6"/>
          <p:cNvSpPr/>
          <p:nvPr/>
        </p:nvSpPr>
        <p:spPr>
          <a:xfrm>
            <a:off x="2715768" y="1737360"/>
            <a:ext cx="2103120" cy="548640"/>
          </a:xfrm>
          <a:prstGeom prst="roundRect">
            <a:avLst>
              <a:gd name="adj" fmla="val 8000"/>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15768" y="1737360"/>
            <a:ext cx="2103120" cy="548640"/>
          </a:xfrm>
          <a:prstGeom prst="rect">
            <a:avLst/>
          </a:prstGeom>
          <a:noFill/>
        </p:spPr>
        <p:txBody>
          <a:bodyPr wrap="square" anchor="ctr" lIns="0" rIns="0" tIns="0" bIns="0">
            <a:spAutoFit/>
          </a:bodyPr>
          <a:lstStyle/>
          <a:p>
            <a:pPr algn="ctr"/>
            <a:r>
              <a:rPr sz="1000" b="1" i="0">
                <a:solidFill>
                  <a:srgbClr val="FFFFFF"/>
                </a:solidFill>
                <a:latin typeface="Calibri"/>
              </a:rPr>
              <a:t>PROVISIONING</a:t>
            </a:r>
          </a:p>
        </p:txBody>
      </p:sp>
      <p:sp>
        <p:nvSpPr>
          <p:cNvPr id="9" name="TextBox 8"/>
          <p:cNvSpPr txBox="1"/>
          <p:nvPr/>
        </p:nvSpPr>
        <p:spPr>
          <a:xfrm>
            <a:off x="4800600" y="1737360"/>
            <a:ext cx="182880" cy="548640"/>
          </a:xfrm>
          <a:prstGeom prst="rect">
            <a:avLst/>
          </a:prstGeom>
          <a:noFill/>
        </p:spPr>
        <p:txBody>
          <a:bodyPr wrap="square" anchor="ctr" lIns="0" rIns="0" tIns="0" bIns="0">
            <a:spAutoFit/>
          </a:bodyPr>
          <a:lstStyle/>
          <a:p>
            <a:pPr algn="ctr"/>
            <a:r>
              <a:rPr sz="900" b="0" i="0">
                <a:solidFill>
                  <a:srgbClr val="FFCD41"/>
                </a:solidFill>
                <a:latin typeface="Calibri"/>
              </a:rPr>
              <a:t>▶</a:t>
            </a:r>
          </a:p>
        </p:txBody>
      </p:sp>
      <p:sp>
        <p:nvSpPr>
          <p:cNvPr id="10" name="Rounded Rectangle 9"/>
          <p:cNvSpPr/>
          <p:nvPr/>
        </p:nvSpPr>
        <p:spPr>
          <a:xfrm>
            <a:off x="4928616" y="1737360"/>
            <a:ext cx="2103120" cy="548640"/>
          </a:xfrm>
          <a:prstGeom prst="roundRect">
            <a:avLst>
              <a:gd name="adj" fmla="val 8000"/>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28616" y="1737360"/>
            <a:ext cx="2103120" cy="548640"/>
          </a:xfrm>
          <a:prstGeom prst="rect">
            <a:avLst/>
          </a:prstGeom>
          <a:noFill/>
        </p:spPr>
        <p:txBody>
          <a:bodyPr wrap="square" anchor="ctr" lIns="0" rIns="0" tIns="0" bIns="0">
            <a:spAutoFit/>
          </a:bodyPr>
          <a:lstStyle/>
          <a:p>
            <a:pPr algn="ctr"/>
            <a:r>
              <a:rPr sz="1000" b="1" i="0">
                <a:solidFill>
                  <a:srgbClr val="FFFFFF"/>
                </a:solidFill>
                <a:latin typeface="Calibri"/>
              </a:rPr>
              <a:t>VALIDATING_PRE</a:t>
            </a:r>
          </a:p>
        </p:txBody>
      </p:sp>
      <p:sp>
        <p:nvSpPr>
          <p:cNvPr id="12" name="TextBox 11"/>
          <p:cNvSpPr txBox="1"/>
          <p:nvPr/>
        </p:nvSpPr>
        <p:spPr>
          <a:xfrm>
            <a:off x="7013448" y="1737360"/>
            <a:ext cx="182880" cy="548640"/>
          </a:xfrm>
          <a:prstGeom prst="rect">
            <a:avLst/>
          </a:prstGeom>
          <a:noFill/>
        </p:spPr>
        <p:txBody>
          <a:bodyPr wrap="square" anchor="ctr" lIns="0" rIns="0" tIns="0" bIns="0">
            <a:spAutoFit/>
          </a:bodyPr>
          <a:lstStyle/>
          <a:p>
            <a:pPr algn="ctr"/>
            <a:r>
              <a:rPr sz="900" b="0" i="0">
                <a:solidFill>
                  <a:srgbClr val="FFCD41"/>
                </a:solidFill>
                <a:latin typeface="Calibri"/>
              </a:rPr>
              <a:t>▶</a:t>
            </a:r>
          </a:p>
        </p:txBody>
      </p:sp>
      <p:sp>
        <p:nvSpPr>
          <p:cNvPr id="13" name="Rounded Rectangle 12"/>
          <p:cNvSpPr/>
          <p:nvPr/>
        </p:nvSpPr>
        <p:spPr>
          <a:xfrm>
            <a:off x="7141464" y="1737360"/>
            <a:ext cx="2103120" cy="548640"/>
          </a:xfrm>
          <a:prstGeom prst="roundRect">
            <a:avLst>
              <a:gd name="adj" fmla="val 8000"/>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41464" y="1737360"/>
            <a:ext cx="2103120" cy="548640"/>
          </a:xfrm>
          <a:prstGeom prst="rect">
            <a:avLst/>
          </a:prstGeom>
          <a:noFill/>
        </p:spPr>
        <p:txBody>
          <a:bodyPr wrap="square" anchor="ctr" lIns="0" rIns="0" tIns="0" bIns="0">
            <a:spAutoFit/>
          </a:bodyPr>
          <a:lstStyle/>
          <a:p>
            <a:pPr algn="ctr"/>
            <a:r>
              <a:rPr sz="1000" b="1" i="0">
                <a:solidFill>
                  <a:srgbClr val="FFFFFF"/>
                </a:solidFill>
                <a:latin typeface="Calibri"/>
              </a:rPr>
              <a:t>REWIRING</a:t>
            </a:r>
          </a:p>
        </p:txBody>
      </p:sp>
      <p:sp>
        <p:nvSpPr>
          <p:cNvPr id="15" name="TextBox 14"/>
          <p:cNvSpPr txBox="1"/>
          <p:nvPr/>
        </p:nvSpPr>
        <p:spPr>
          <a:xfrm>
            <a:off x="9226296" y="1737360"/>
            <a:ext cx="182880" cy="548640"/>
          </a:xfrm>
          <a:prstGeom prst="rect">
            <a:avLst/>
          </a:prstGeom>
          <a:noFill/>
        </p:spPr>
        <p:txBody>
          <a:bodyPr wrap="square" anchor="ctr" lIns="0" rIns="0" tIns="0" bIns="0">
            <a:spAutoFit/>
          </a:bodyPr>
          <a:lstStyle/>
          <a:p>
            <a:pPr algn="ctr"/>
            <a:r>
              <a:rPr sz="900" b="0" i="0">
                <a:solidFill>
                  <a:srgbClr val="FFCD41"/>
                </a:solidFill>
                <a:latin typeface="Calibri"/>
              </a:rPr>
              <a:t>▶</a:t>
            </a:r>
          </a:p>
        </p:txBody>
      </p:sp>
      <p:sp>
        <p:nvSpPr>
          <p:cNvPr id="16" name="Rounded Rectangle 15"/>
          <p:cNvSpPr/>
          <p:nvPr/>
        </p:nvSpPr>
        <p:spPr>
          <a:xfrm>
            <a:off x="9354312" y="1737360"/>
            <a:ext cx="2103120" cy="548640"/>
          </a:xfrm>
          <a:prstGeom prst="roundRect">
            <a:avLst>
              <a:gd name="adj" fmla="val 8000"/>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54312" y="1737360"/>
            <a:ext cx="2103120" cy="548640"/>
          </a:xfrm>
          <a:prstGeom prst="rect">
            <a:avLst/>
          </a:prstGeom>
          <a:noFill/>
        </p:spPr>
        <p:txBody>
          <a:bodyPr wrap="square" anchor="ctr" lIns="0" rIns="0" tIns="0" bIns="0">
            <a:spAutoFit/>
          </a:bodyPr>
          <a:lstStyle/>
          <a:p>
            <a:pPr algn="ctr"/>
            <a:r>
              <a:rPr sz="1000" b="1" i="0">
                <a:solidFill>
                  <a:srgbClr val="FFFFFF"/>
                </a:solidFill>
                <a:latin typeface="Calibri"/>
              </a:rPr>
              <a:t>DRAIN_WAIT</a:t>
            </a:r>
          </a:p>
        </p:txBody>
      </p:sp>
      <p:sp>
        <p:nvSpPr>
          <p:cNvPr id="18" name="Rounded Rectangle 17"/>
          <p:cNvSpPr/>
          <p:nvPr/>
        </p:nvSpPr>
        <p:spPr>
          <a:xfrm>
            <a:off x="502920" y="2606040"/>
            <a:ext cx="2103120" cy="548640"/>
          </a:xfrm>
          <a:prstGeom prst="roundRect">
            <a:avLst>
              <a:gd name="adj" fmla="val 8000"/>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2606040"/>
            <a:ext cx="2103120" cy="548640"/>
          </a:xfrm>
          <a:prstGeom prst="rect">
            <a:avLst/>
          </a:prstGeom>
          <a:noFill/>
        </p:spPr>
        <p:txBody>
          <a:bodyPr wrap="square" anchor="ctr" lIns="0" rIns="0" tIns="0" bIns="0">
            <a:spAutoFit/>
          </a:bodyPr>
          <a:lstStyle/>
          <a:p>
            <a:pPr algn="ctr"/>
            <a:r>
              <a:rPr sz="1000" b="1" i="0">
                <a:solidFill>
                  <a:srgbClr val="FFFFFF"/>
                </a:solidFill>
                <a:latin typeface="Calibri"/>
              </a:rPr>
              <a:t>VALIDATING_DURING</a:t>
            </a:r>
          </a:p>
        </p:txBody>
      </p:sp>
      <p:sp>
        <p:nvSpPr>
          <p:cNvPr id="20" name="TextBox 19"/>
          <p:cNvSpPr txBox="1"/>
          <p:nvPr/>
        </p:nvSpPr>
        <p:spPr>
          <a:xfrm>
            <a:off x="2587751" y="2606040"/>
            <a:ext cx="182880" cy="548640"/>
          </a:xfrm>
          <a:prstGeom prst="rect">
            <a:avLst/>
          </a:prstGeom>
          <a:noFill/>
        </p:spPr>
        <p:txBody>
          <a:bodyPr wrap="square" anchor="ctr" lIns="0" rIns="0" tIns="0" bIns="0">
            <a:spAutoFit/>
          </a:bodyPr>
          <a:lstStyle/>
          <a:p>
            <a:pPr algn="ctr"/>
            <a:r>
              <a:rPr sz="900" b="0" i="0">
                <a:solidFill>
                  <a:srgbClr val="FFCD41"/>
                </a:solidFill>
                <a:latin typeface="Calibri"/>
              </a:rPr>
              <a:t>▶</a:t>
            </a:r>
          </a:p>
        </p:txBody>
      </p:sp>
      <p:sp>
        <p:nvSpPr>
          <p:cNvPr id="21" name="Rounded Rectangle 20"/>
          <p:cNvSpPr/>
          <p:nvPr/>
        </p:nvSpPr>
        <p:spPr>
          <a:xfrm>
            <a:off x="2715768" y="2606040"/>
            <a:ext cx="2103120" cy="548640"/>
          </a:xfrm>
          <a:prstGeom prst="roundRect">
            <a:avLst>
              <a:gd name="adj" fmla="val 8000"/>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15768" y="2606040"/>
            <a:ext cx="2103120" cy="548640"/>
          </a:xfrm>
          <a:prstGeom prst="rect">
            <a:avLst/>
          </a:prstGeom>
          <a:noFill/>
        </p:spPr>
        <p:txBody>
          <a:bodyPr wrap="square" anchor="ctr" lIns="0" rIns="0" tIns="0" bIns="0">
            <a:spAutoFit/>
          </a:bodyPr>
          <a:lstStyle/>
          <a:p>
            <a:pPr algn="ctr"/>
            <a:r>
              <a:rPr sz="1000" b="1" i="0">
                <a:solidFill>
                  <a:srgbClr val="FFFFFF"/>
                </a:solidFill>
                <a:latin typeface="Calibri"/>
              </a:rPr>
              <a:t>DRAINING</a:t>
            </a:r>
          </a:p>
        </p:txBody>
      </p:sp>
      <p:sp>
        <p:nvSpPr>
          <p:cNvPr id="23" name="TextBox 22"/>
          <p:cNvSpPr txBox="1"/>
          <p:nvPr/>
        </p:nvSpPr>
        <p:spPr>
          <a:xfrm>
            <a:off x="4800600" y="2606040"/>
            <a:ext cx="182880" cy="548640"/>
          </a:xfrm>
          <a:prstGeom prst="rect">
            <a:avLst/>
          </a:prstGeom>
          <a:noFill/>
        </p:spPr>
        <p:txBody>
          <a:bodyPr wrap="square" anchor="ctr" lIns="0" rIns="0" tIns="0" bIns="0">
            <a:spAutoFit/>
          </a:bodyPr>
          <a:lstStyle/>
          <a:p>
            <a:pPr algn="ctr"/>
            <a:r>
              <a:rPr sz="900" b="0" i="0">
                <a:solidFill>
                  <a:srgbClr val="FFCD41"/>
                </a:solidFill>
                <a:latin typeface="Calibri"/>
              </a:rPr>
              <a:t>▶</a:t>
            </a:r>
          </a:p>
        </p:txBody>
      </p:sp>
      <p:sp>
        <p:nvSpPr>
          <p:cNvPr id="24" name="Rounded Rectangle 23"/>
          <p:cNvSpPr/>
          <p:nvPr/>
        </p:nvSpPr>
        <p:spPr>
          <a:xfrm>
            <a:off x="4928616" y="2606040"/>
            <a:ext cx="2103120" cy="548640"/>
          </a:xfrm>
          <a:prstGeom prst="roundRect">
            <a:avLst>
              <a:gd name="adj" fmla="val 8000"/>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928616" y="2606040"/>
            <a:ext cx="2103120" cy="548640"/>
          </a:xfrm>
          <a:prstGeom prst="rect">
            <a:avLst/>
          </a:prstGeom>
          <a:noFill/>
        </p:spPr>
        <p:txBody>
          <a:bodyPr wrap="square" anchor="ctr" lIns="0" rIns="0" tIns="0" bIns="0">
            <a:spAutoFit/>
          </a:bodyPr>
          <a:lstStyle/>
          <a:p>
            <a:pPr algn="ctr"/>
            <a:r>
              <a:rPr sz="1000" b="1" i="0">
                <a:solidFill>
                  <a:srgbClr val="FFFFFF"/>
                </a:solidFill>
                <a:latin typeface="Calibri"/>
              </a:rPr>
              <a:t>VALIDATING_POST</a:t>
            </a:r>
          </a:p>
        </p:txBody>
      </p:sp>
      <p:sp>
        <p:nvSpPr>
          <p:cNvPr id="26" name="TextBox 25"/>
          <p:cNvSpPr txBox="1"/>
          <p:nvPr/>
        </p:nvSpPr>
        <p:spPr>
          <a:xfrm>
            <a:off x="7013448" y="2606040"/>
            <a:ext cx="182880" cy="548640"/>
          </a:xfrm>
          <a:prstGeom prst="rect">
            <a:avLst/>
          </a:prstGeom>
          <a:noFill/>
        </p:spPr>
        <p:txBody>
          <a:bodyPr wrap="square" anchor="ctr" lIns="0" rIns="0" tIns="0" bIns="0">
            <a:spAutoFit/>
          </a:bodyPr>
          <a:lstStyle/>
          <a:p>
            <a:pPr algn="ctr"/>
            <a:r>
              <a:rPr sz="900" b="0" i="0">
                <a:solidFill>
                  <a:srgbClr val="FFCD41"/>
                </a:solidFill>
                <a:latin typeface="Calibri"/>
              </a:rPr>
              <a:t>▶</a:t>
            </a:r>
          </a:p>
        </p:txBody>
      </p:sp>
      <p:sp>
        <p:nvSpPr>
          <p:cNvPr id="27" name="Rounded Rectangle 26"/>
          <p:cNvSpPr/>
          <p:nvPr/>
        </p:nvSpPr>
        <p:spPr>
          <a:xfrm>
            <a:off x="7141464" y="2606040"/>
            <a:ext cx="2103120" cy="548640"/>
          </a:xfrm>
          <a:prstGeom prst="roundRect">
            <a:avLst>
              <a:gd name="adj" fmla="val 8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41464" y="2606040"/>
            <a:ext cx="2103120" cy="548640"/>
          </a:xfrm>
          <a:prstGeom prst="rect">
            <a:avLst/>
          </a:prstGeom>
          <a:noFill/>
        </p:spPr>
        <p:txBody>
          <a:bodyPr wrap="square" anchor="ctr" lIns="0" rIns="0" tIns="0" bIns="0">
            <a:spAutoFit/>
          </a:bodyPr>
          <a:lstStyle/>
          <a:p>
            <a:pPr algn="ctr"/>
            <a:r>
              <a:rPr sz="1000" b="1" i="0">
                <a:solidFill>
                  <a:srgbClr val="FFFFFF"/>
                </a:solidFill>
                <a:latin typeface="Calibri"/>
              </a:rPr>
              <a:t>COMPLETED</a:t>
            </a:r>
          </a:p>
        </p:txBody>
      </p:sp>
      <p:sp>
        <p:nvSpPr>
          <p:cNvPr id="29" name="Rounded Rectangle 28"/>
          <p:cNvSpPr/>
          <p:nvPr/>
        </p:nvSpPr>
        <p:spPr>
          <a:xfrm>
            <a:off x="502920" y="3611880"/>
            <a:ext cx="3566160" cy="868680"/>
          </a:xfrm>
          <a:prstGeom prst="roundRect">
            <a:avLst>
              <a:gd name="adj" fmla="val 8000"/>
            </a:avLst>
          </a:prstGeom>
          <a:solidFill>
            <a:srgbClr val="FFA000"/>
          </a:solidFill>
          <a:ln>
            <a:noFill/>
          </a:ln>
          <a:effectLst/>
          <a:effectLst>
            <a:outerShdw blurRad="70000" dist="38100" dir="5400000" rotWithShape="0">
              <a:srgbClr val="8B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920" y="3611880"/>
            <a:ext cx="3566160" cy="868680"/>
          </a:xfrm>
          <a:prstGeom prst="rect">
            <a:avLst/>
          </a:prstGeom>
          <a:noFill/>
        </p:spPr>
        <p:txBody>
          <a:bodyPr wrap="square" anchor="ctr" lIns="0" rIns="0" tIns="0" bIns="0">
            <a:spAutoFit/>
          </a:bodyPr>
          <a:lstStyle/>
          <a:p>
            <a:pPr algn="ctr"/>
            <a:r>
              <a:rPr sz="1300" b="1" i="0">
                <a:solidFill>
                  <a:srgbClr val="FFFFFF"/>
                </a:solidFill>
                <a:latin typeface="Cambria"/>
              </a:rPr>
              <a:t>ROLLING_BACK</a:t>
            </a:r>
          </a:p>
        </p:txBody>
      </p:sp>
      <p:sp>
        <p:nvSpPr>
          <p:cNvPr id="31" name="TextBox 30"/>
          <p:cNvSpPr txBox="1"/>
          <p:nvPr/>
        </p:nvSpPr>
        <p:spPr>
          <a:xfrm>
            <a:off x="502920" y="4069080"/>
            <a:ext cx="3566160" cy="365760"/>
          </a:xfrm>
          <a:prstGeom prst="rect">
            <a:avLst/>
          </a:prstGeom>
          <a:noFill/>
        </p:spPr>
        <p:txBody>
          <a:bodyPr wrap="square" anchor="t" lIns="0" rIns="0" tIns="0" bIns="0">
            <a:spAutoFit/>
          </a:bodyPr>
          <a:lstStyle/>
          <a:p>
            <a:pPr algn="ctr"/>
            <a:r>
              <a:rPr sz="950" b="0" i="1">
                <a:solidFill>
                  <a:srgbClr val="FFFFFF"/>
                </a:solidFill>
                <a:latin typeface="Calibri"/>
              </a:rPr>
              <a:t>any forward state can fail into here</a:t>
            </a:r>
          </a:p>
        </p:txBody>
      </p:sp>
      <p:sp>
        <p:nvSpPr>
          <p:cNvPr id="32" name="Rounded Rectangle 31"/>
          <p:cNvSpPr/>
          <p:nvPr/>
        </p:nvSpPr>
        <p:spPr>
          <a:xfrm>
            <a:off x="4343400" y="3611880"/>
            <a:ext cx="3566160" cy="868680"/>
          </a:xfrm>
          <a:prstGeom prst="roundRect">
            <a:avLst>
              <a:gd name="adj" fmla="val 8000"/>
            </a:avLst>
          </a:prstGeom>
          <a:solidFill>
            <a:srgbClr val="8B0000"/>
          </a:solidFill>
          <a:ln>
            <a:noFill/>
          </a:ln>
          <a:effectLst/>
          <a:effectLst>
            <a:outerShdw blurRad="70000" dist="38100" dir="5400000" rotWithShape="0">
              <a:srgbClr val="8B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43400" y="3721608"/>
            <a:ext cx="3566160" cy="365760"/>
          </a:xfrm>
          <a:prstGeom prst="rect">
            <a:avLst/>
          </a:prstGeom>
          <a:noFill/>
        </p:spPr>
        <p:txBody>
          <a:bodyPr wrap="square" anchor="t" lIns="0" rIns="0" tIns="0" bIns="0">
            <a:spAutoFit/>
          </a:bodyPr>
          <a:lstStyle/>
          <a:p>
            <a:pPr algn="ctr"/>
            <a:r>
              <a:rPr sz="1300" b="1" i="0">
                <a:solidFill>
                  <a:srgbClr val="FFFFFF"/>
                </a:solidFill>
                <a:latin typeface="Cambria"/>
              </a:rPr>
              <a:t>ROLLED_BACK</a:t>
            </a:r>
          </a:p>
        </p:txBody>
      </p:sp>
      <p:sp>
        <p:nvSpPr>
          <p:cNvPr id="34" name="TextBox 33"/>
          <p:cNvSpPr txBox="1"/>
          <p:nvPr/>
        </p:nvSpPr>
        <p:spPr>
          <a:xfrm>
            <a:off x="4343400" y="4069080"/>
            <a:ext cx="3566160" cy="365760"/>
          </a:xfrm>
          <a:prstGeom prst="rect">
            <a:avLst/>
          </a:prstGeom>
          <a:noFill/>
        </p:spPr>
        <p:txBody>
          <a:bodyPr wrap="square" anchor="t" lIns="0" rIns="0" tIns="0" bIns="0">
            <a:spAutoFit/>
          </a:bodyPr>
          <a:lstStyle/>
          <a:p>
            <a:pPr algn="ctr"/>
            <a:r>
              <a:rPr sz="950" b="0" i="1">
                <a:solidFill>
                  <a:srgbClr val="FBE3E3"/>
                </a:solidFill>
                <a:latin typeface="Calibri"/>
              </a:rPr>
              <a:t>source restored · failure in audit log</a:t>
            </a:r>
          </a:p>
        </p:txBody>
      </p:sp>
      <p:sp>
        <p:nvSpPr>
          <p:cNvPr id="35" name="Rounded Rectangle 34"/>
          <p:cNvSpPr/>
          <p:nvPr/>
        </p:nvSpPr>
        <p:spPr>
          <a:xfrm>
            <a:off x="8092440" y="3611880"/>
            <a:ext cx="3566160" cy="868680"/>
          </a:xfrm>
          <a:prstGeom prst="roundRect">
            <a:avLst>
              <a:gd name="adj" fmla="val 8000"/>
            </a:avLst>
          </a:prstGeom>
          <a:solidFill>
            <a:srgbClr val="2B2B2B"/>
          </a:solidFill>
          <a:ln>
            <a:noFill/>
          </a:ln>
          <a:effectLst/>
          <a:effectLst>
            <a:outerShdw blurRad="70000" dist="38100" dir="5400000" rotWithShape="0">
              <a:srgbClr val="8B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92440" y="3721608"/>
            <a:ext cx="3566160" cy="365760"/>
          </a:xfrm>
          <a:prstGeom prst="rect">
            <a:avLst/>
          </a:prstGeom>
          <a:noFill/>
        </p:spPr>
        <p:txBody>
          <a:bodyPr wrap="square" anchor="t" lIns="0" rIns="0" tIns="0" bIns="0">
            <a:spAutoFit/>
          </a:bodyPr>
          <a:lstStyle/>
          <a:p>
            <a:pPr algn="ctr"/>
            <a:r>
              <a:rPr sz="1300" b="1" i="0">
                <a:solidFill>
                  <a:srgbClr val="FFFFFF"/>
                </a:solidFill>
                <a:latin typeface="Cambria"/>
              </a:rPr>
              <a:t>ROLLBACK_FAILED</a:t>
            </a:r>
          </a:p>
        </p:txBody>
      </p:sp>
      <p:sp>
        <p:nvSpPr>
          <p:cNvPr id="37" name="TextBox 36"/>
          <p:cNvSpPr txBox="1"/>
          <p:nvPr/>
        </p:nvSpPr>
        <p:spPr>
          <a:xfrm>
            <a:off x="8092440" y="4069080"/>
            <a:ext cx="3566160" cy="365760"/>
          </a:xfrm>
          <a:prstGeom prst="rect">
            <a:avLst/>
          </a:prstGeom>
          <a:noFill/>
        </p:spPr>
        <p:txBody>
          <a:bodyPr wrap="square" anchor="t" lIns="0" rIns="0" tIns="0" bIns="0">
            <a:spAutoFit/>
          </a:bodyPr>
          <a:lstStyle/>
          <a:p>
            <a:pPr algn="ctr"/>
            <a:r>
              <a:rPr sz="950" b="0" i="1">
                <a:solidFill>
                  <a:srgbClr val="C9C9C9"/>
                </a:solidFill>
                <a:latin typeface="Calibri"/>
              </a:rPr>
              <a:t>terminal · human recovery required</a:t>
            </a:r>
          </a:p>
        </p:txBody>
      </p:sp>
      <p:sp>
        <p:nvSpPr>
          <p:cNvPr id="38" name="TextBox 37"/>
          <p:cNvSpPr txBox="1"/>
          <p:nvPr/>
        </p:nvSpPr>
        <p:spPr>
          <a:xfrm>
            <a:off x="502920" y="5989320"/>
            <a:ext cx="11155680" cy="457200"/>
          </a:xfrm>
          <a:prstGeom prst="rect">
            <a:avLst/>
          </a:prstGeom>
          <a:noFill/>
        </p:spPr>
        <p:txBody>
          <a:bodyPr wrap="square" anchor="t" lIns="0" rIns="0" tIns="0" bIns="0">
            <a:spAutoFit/>
          </a:bodyPr>
          <a:lstStyle/>
          <a:p>
            <a:pPr algn="l"/>
            <a:r>
              <a:rPr sz="1250" b="1" i="0">
                <a:solidFill>
                  <a:srgbClr val="B31B1B"/>
                </a:solidFill>
                <a:latin typeface="Calibri"/>
              </a:rPr>
              <a:t>Every app is always in a named state. </a:t>
            </a:r>
            <a:r>
              <a:rPr sz="1250" b="0" i="0">
                <a:solidFill>
                  <a:srgbClr val="2B2B2B"/>
                </a:solidFill>
                <a:latin typeface="Calibri"/>
              </a:rPr>
              <a:t>A single assert_transition chokepoint makes an out-of-order transition impossible; the rules live in a pure, unit-testable module.</a:t>
            </a:r>
          </a:p>
        </p:txBody>
      </p:sp>
      <p:sp>
        <p:nvSpPr>
          <p:cNvPr id="39" name="TextBox 38"/>
          <p:cNvSpPr txBox="1"/>
          <p:nvPr/>
        </p:nvSpPr>
        <p:spPr>
          <a:xfrm>
            <a:off x="502920" y="6473952"/>
            <a:ext cx="7315200" cy="274320"/>
          </a:xfrm>
          <a:prstGeom prst="rect">
            <a:avLst/>
          </a:prstGeom>
          <a:noFill/>
        </p:spPr>
        <p:txBody>
          <a:bodyPr wrap="square" anchor="t" lIns="0" rIns="0" tIns="0" bIns="0">
            <a:spAutoFit/>
          </a:bodyPr>
          <a:lstStyle/>
          <a:p>
            <a:pPr algn="l"/>
            <a:r>
              <a:rPr sz="900" b="0" i="0">
                <a:solidFill>
                  <a:srgbClr val="6B6B6B"/>
                </a:solidFill>
                <a:latin typeface="Calibri"/>
              </a:rPr>
              <a:t>IntelliAI 2.0  ·  IBM MQ Intelligent Hackathon 2026  ·  Part 2</a:t>
            </a:r>
          </a:p>
        </p:txBody>
      </p:sp>
      <p:sp>
        <p:nvSpPr>
          <p:cNvPr id="40" name="TextBox 39"/>
          <p:cNvSpPr txBox="1"/>
          <p:nvPr/>
        </p:nvSpPr>
        <p:spPr>
          <a:xfrm>
            <a:off x="11338560" y="6473952"/>
            <a:ext cx="457200" cy="274320"/>
          </a:xfrm>
          <a:prstGeom prst="rect">
            <a:avLst/>
          </a:prstGeom>
          <a:noFill/>
        </p:spPr>
        <p:txBody>
          <a:bodyPr wrap="square" anchor="t" lIns="0" rIns="0" tIns="0" bIns="0">
            <a:spAutoFit/>
          </a:bodyPr>
          <a:lstStyle/>
          <a:p>
            <a:pPr algn="r"/>
            <a:r>
              <a:rPr sz="900" b="0" i="0">
                <a:solidFill>
                  <a:srgbClr val="6B6B6B"/>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292608"/>
          </a:xfrm>
          <a:prstGeom prst="rect">
            <a:avLst/>
          </a:prstGeom>
          <a:noFill/>
        </p:spPr>
        <p:txBody>
          <a:bodyPr wrap="square" anchor="t" lIns="0" rIns="0" tIns="0" bIns="0">
            <a:spAutoFit/>
          </a:bodyPr>
          <a:lstStyle/>
          <a:p>
            <a:pPr algn="l"/>
            <a:r>
              <a:rPr sz="1200" b="1" i="0">
                <a:solidFill>
                  <a:srgbClr val="B31B1B"/>
                </a:solidFill>
                <a:latin typeface="Calibri"/>
              </a:rPr>
              <a:t>WHAT MAKES IT SAFE</a:t>
            </a:r>
          </a:p>
        </p:txBody>
      </p:sp>
      <p:sp>
        <p:nvSpPr>
          <p:cNvPr id="3" name="TextBox 2"/>
          <p:cNvSpPr txBox="1"/>
          <p:nvPr/>
        </p:nvSpPr>
        <p:spPr>
          <a:xfrm>
            <a:off x="502920" y="658368"/>
            <a:ext cx="11155680" cy="731520"/>
          </a:xfrm>
          <a:prstGeom prst="rect">
            <a:avLst/>
          </a:prstGeom>
          <a:noFill/>
        </p:spPr>
        <p:txBody>
          <a:bodyPr wrap="square" anchor="t" lIns="0" rIns="0" tIns="0" bIns="0">
            <a:spAutoFit/>
          </a:bodyPr>
          <a:lstStyle/>
          <a:p>
            <a:pPr algn="l"/>
            <a:r>
              <a:rPr sz="2900" b="1" i="0">
                <a:solidFill>
                  <a:srgbClr val="B31B1B"/>
                </a:solidFill>
                <a:latin typeface="Cambria"/>
              </a:rPr>
              <a:t>Every guarantee is checked, not asserted</a:t>
            </a:r>
          </a:p>
        </p:txBody>
      </p:sp>
      <p:sp>
        <p:nvSpPr>
          <p:cNvPr id="4" name="Rounded Rectangle 3"/>
          <p:cNvSpPr/>
          <p:nvPr/>
        </p:nvSpPr>
        <p:spPr>
          <a:xfrm>
            <a:off x="502920" y="1554480"/>
            <a:ext cx="5486400" cy="1828800"/>
          </a:xfrm>
          <a:prstGeom prst="roundRect">
            <a:avLst>
              <a:gd name="adj" fmla="val 8000"/>
            </a:avLst>
          </a:prstGeom>
          <a:solidFill>
            <a:srgbClr val="B31B1B"/>
          </a:solidFill>
          <a:ln>
            <a:noFill/>
          </a:ln>
          <a:effectLst/>
          <a:effectLst>
            <a:outerShdw blurRad="70000" dist="38100" dir="5400000" rotWithShape="0">
              <a:srgbClr val="8B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1810512"/>
            <a:ext cx="4937760" cy="457200"/>
          </a:xfrm>
          <a:prstGeom prst="rect">
            <a:avLst/>
          </a:prstGeom>
          <a:noFill/>
        </p:spPr>
        <p:txBody>
          <a:bodyPr wrap="square" anchor="t" lIns="0" rIns="0" tIns="0" bIns="0">
            <a:spAutoFit/>
          </a:bodyPr>
          <a:lstStyle/>
          <a:p>
            <a:pPr algn="l"/>
            <a:r>
              <a:rPr sz="1600" b="1" i="0">
                <a:solidFill>
                  <a:srgbClr val="FFCD41"/>
                </a:solidFill>
                <a:latin typeface="Cambria"/>
              </a:rPr>
              <a:t>✓  </a:t>
            </a:r>
            <a:r>
              <a:rPr sz="1600" b="1" i="0">
                <a:solidFill>
                  <a:srgbClr val="FFFFFF"/>
                </a:solidFill>
                <a:latin typeface="Cambria"/>
              </a:rPr>
              <a:t>No message loss</a:t>
            </a:r>
          </a:p>
        </p:txBody>
      </p:sp>
      <p:sp>
        <p:nvSpPr>
          <p:cNvPr id="6" name="TextBox 5"/>
          <p:cNvSpPr txBox="1"/>
          <p:nvPr/>
        </p:nvSpPr>
        <p:spPr>
          <a:xfrm>
            <a:off x="813816" y="2377440"/>
            <a:ext cx="4892040" cy="914400"/>
          </a:xfrm>
          <a:prstGeom prst="rect">
            <a:avLst/>
          </a:prstGeom>
          <a:noFill/>
        </p:spPr>
        <p:txBody>
          <a:bodyPr wrap="square" anchor="t" lIns="0" rIns="0" tIns="0" bIns="0">
            <a:spAutoFit/>
          </a:bodyPr>
          <a:lstStyle/>
          <a:p>
            <a:pPr algn="l"/>
            <a:r>
              <a:rPr sz="1250" b="0" i="0">
                <a:solidFill>
                  <a:srgbClr val="FBE3E3"/>
                </a:solidFill>
                <a:latin typeface="Calibri"/>
              </a:rPr>
              <a:t>Drain detection polls the source queue to a confirmed zero — three consecutive zero-depth readings, with no open handles — before the queue is removed.</a:t>
            </a:r>
          </a:p>
        </p:txBody>
      </p:sp>
      <p:sp>
        <p:nvSpPr>
          <p:cNvPr id="7" name="Rounded Rectangle 6"/>
          <p:cNvSpPr/>
          <p:nvPr/>
        </p:nvSpPr>
        <p:spPr>
          <a:xfrm>
            <a:off x="6217920" y="1554480"/>
            <a:ext cx="5486400" cy="1828800"/>
          </a:xfrm>
          <a:prstGeom prst="roundRect">
            <a:avLst>
              <a:gd name="adj" fmla="val 8000"/>
            </a:avLst>
          </a:prstGeom>
          <a:solidFill>
            <a:srgbClr val="B31B1B"/>
          </a:solidFill>
          <a:ln>
            <a:noFill/>
          </a:ln>
          <a:effectLst/>
          <a:effectLst>
            <a:outerShdw blurRad="70000" dist="38100" dir="5400000" rotWithShape="0">
              <a:srgbClr val="8B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10528" y="1810512"/>
            <a:ext cx="4937760" cy="457200"/>
          </a:xfrm>
          <a:prstGeom prst="rect">
            <a:avLst/>
          </a:prstGeom>
          <a:noFill/>
        </p:spPr>
        <p:txBody>
          <a:bodyPr wrap="square" anchor="t" lIns="0" rIns="0" tIns="0" bIns="0">
            <a:spAutoFit/>
          </a:bodyPr>
          <a:lstStyle/>
          <a:p>
            <a:pPr algn="l"/>
            <a:r>
              <a:rPr sz="1600" b="1" i="0">
                <a:solidFill>
                  <a:srgbClr val="FFCD41"/>
                </a:solidFill>
                <a:latin typeface="Cambria"/>
              </a:rPr>
              <a:t>✓  </a:t>
            </a:r>
            <a:r>
              <a:rPr sz="1600" b="1" i="0">
                <a:solidFill>
                  <a:srgbClr val="FFFFFF"/>
                </a:solidFill>
                <a:latin typeface="Cambria"/>
              </a:rPr>
              <a:t>No app change</a:t>
            </a:r>
          </a:p>
        </p:txBody>
      </p:sp>
      <p:sp>
        <p:nvSpPr>
          <p:cNvPr id="9" name="TextBox 8"/>
          <p:cNvSpPr txBox="1"/>
          <p:nvPr/>
        </p:nvSpPr>
        <p:spPr>
          <a:xfrm>
            <a:off x="6528816" y="2377440"/>
            <a:ext cx="4892040" cy="914400"/>
          </a:xfrm>
          <a:prstGeom prst="rect">
            <a:avLst/>
          </a:prstGeom>
          <a:noFill/>
        </p:spPr>
        <p:txBody>
          <a:bodyPr wrap="square" anchor="t" lIns="0" rIns="0" tIns="0" bIns="0">
            <a:spAutoFit/>
          </a:bodyPr>
          <a:lstStyle/>
          <a:p>
            <a:pPr algn="l"/>
            <a:r>
              <a:rPr sz="1250" b="0" i="0">
                <a:solidFill>
                  <a:srgbClr val="FBE3E3"/>
                </a:solidFill>
                <a:latin typeface="Calibri"/>
              </a:rPr>
              <a:t>A remote-queue alias keeps the queue name and connection identical. The producer is never touched, never reconnects.</a:t>
            </a:r>
          </a:p>
        </p:txBody>
      </p:sp>
      <p:sp>
        <p:nvSpPr>
          <p:cNvPr id="10" name="Rounded Rectangle 9"/>
          <p:cNvSpPr/>
          <p:nvPr/>
        </p:nvSpPr>
        <p:spPr>
          <a:xfrm>
            <a:off x="502920" y="3611880"/>
            <a:ext cx="5486400" cy="1828800"/>
          </a:xfrm>
          <a:prstGeom prst="roundRect">
            <a:avLst>
              <a:gd name="adj" fmla="val 8000"/>
            </a:avLst>
          </a:prstGeom>
          <a:solidFill>
            <a:srgbClr val="B31B1B"/>
          </a:solidFill>
          <a:ln>
            <a:noFill/>
          </a:ln>
          <a:effectLst/>
          <a:effectLst>
            <a:outerShdw blurRad="70000" dist="38100" dir="5400000" rotWithShape="0">
              <a:srgbClr val="8B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3867912"/>
            <a:ext cx="4937760" cy="457200"/>
          </a:xfrm>
          <a:prstGeom prst="rect">
            <a:avLst/>
          </a:prstGeom>
          <a:noFill/>
        </p:spPr>
        <p:txBody>
          <a:bodyPr wrap="square" anchor="t" lIns="0" rIns="0" tIns="0" bIns="0">
            <a:spAutoFit/>
          </a:bodyPr>
          <a:lstStyle/>
          <a:p>
            <a:pPr algn="l"/>
            <a:r>
              <a:rPr sz="1600" b="1" i="0">
                <a:solidFill>
                  <a:srgbClr val="FFCD41"/>
                </a:solidFill>
                <a:latin typeface="Cambria"/>
              </a:rPr>
              <a:t>✓  </a:t>
            </a:r>
            <a:r>
              <a:rPr sz="1600" b="1" i="0">
                <a:solidFill>
                  <a:srgbClr val="FFFFFF"/>
                </a:solidFill>
                <a:latin typeface="Cambria"/>
              </a:rPr>
              <a:t>No collateral impact</a:t>
            </a:r>
          </a:p>
        </p:txBody>
      </p:sp>
      <p:sp>
        <p:nvSpPr>
          <p:cNvPr id="12" name="TextBox 11"/>
          <p:cNvSpPr txBox="1"/>
          <p:nvPr/>
        </p:nvSpPr>
        <p:spPr>
          <a:xfrm>
            <a:off x="813816" y="4434840"/>
            <a:ext cx="4892040" cy="914400"/>
          </a:xfrm>
          <a:prstGeom prst="rect">
            <a:avLst/>
          </a:prstGeom>
          <a:noFill/>
        </p:spPr>
        <p:txBody>
          <a:bodyPr wrap="square" anchor="t" lIns="0" rIns="0" tIns="0" bIns="0">
            <a:spAutoFit/>
          </a:bodyPr>
          <a:lstStyle/>
          <a:p>
            <a:pPr algn="l"/>
            <a:r>
              <a:rPr sz="1250" b="0" i="0">
                <a:solidFill>
                  <a:srgbClr val="FBE3E3"/>
                </a:solidFill>
                <a:latin typeface="Calibri"/>
              </a:rPr>
              <a:t>Blast-radius analysis enumerates every MQSC command the migration will issue and confirms ZERO touch a co-tenant's queues — the migration is gated on that count.</a:t>
            </a:r>
          </a:p>
        </p:txBody>
      </p:sp>
      <p:sp>
        <p:nvSpPr>
          <p:cNvPr id="13" name="Rounded Rectangle 12"/>
          <p:cNvSpPr/>
          <p:nvPr/>
        </p:nvSpPr>
        <p:spPr>
          <a:xfrm>
            <a:off x="6217920" y="3611880"/>
            <a:ext cx="5486400" cy="1828800"/>
          </a:xfrm>
          <a:prstGeom prst="roundRect">
            <a:avLst>
              <a:gd name="adj" fmla="val 8000"/>
            </a:avLst>
          </a:prstGeom>
          <a:solidFill>
            <a:srgbClr val="B31B1B"/>
          </a:solidFill>
          <a:ln>
            <a:noFill/>
          </a:ln>
          <a:effectLst/>
          <a:effectLst>
            <a:outerShdw blurRad="70000" dist="38100" dir="5400000" rotWithShape="0">
              <a:srgbClr val="8B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10528" y="3867912"/>
            <a:ext cx="4937760" cy="457200"/>
          </a:xfrm>
          <a:prstGeom prst="rect">
            <a:avLst/>
          </a:prstGeom>
          <a:noFill/>
        </p:spPr>
        <p:txBody>
          <a:bodyPr wrap="square" anchor="t" lIns="0" rIns="0" tIns="0" bIns="0">
            <a:spAutoFit/>
          </a:bodyPr>
          <a:lstStyle/>
          <a:p>
            <a:pPr algn="l"/>
            <a:r>
              <a:rPr sz="1600" b="1" i="0">
                <a:solidFill>
                  <a:srgbClr val="FFCD41"/>
                </a:solidFill>
                <a:latin typeface="Cambria"/>
              </a:rPr>
              <a:t>✓  </a:t>
            </a:r>
            <a:r>
              <a:rPr sz="1600" b="1" i="0">
                <a:solidFill>
                  <a:srgbClr val="FFFFFF"/>
                </a:solidFill>
                <a:latin typeface="Cambria"/>
              </a:rPr>
              <a:t>Full auditability</a:t>
            </a:r>
          </a:p>
        </p:txBody>
      </p:sp>
      <p:sp>
        <p:nvSpPr>
          <p:cNvPr id="15" name="TextBox 14"/>
          <p:cNvSpPr txBox="1"/>
          <p:nvPr/>
        </p:nvSpPr>
        <p:spPr>
          <a:xfrm>
            <a:off x="6528816" y="4434840"/>
            <a:ext cx="4892040" cy="914400"/>
          </a:xfrm>
          <a:prstGeom prst="rect">
            <a:avLst/>
          </a:prstGeom>
          <a:noFill/>
        </p:spPr>
        <p:txBody>
          <a:bodyPr wrap="square" anchor="t" lIns="0" rIns="0" tIns="0" bIns="0">
            <a:spAutoFit/>
          </a:bodyPr>
          <a:lstStyle/>
          <a:p>
            <a:pPr algn="l"/>
            <a:r>
              <a:rPr sz="1250" b="0" i="0">
                <a:solidFill>
                  <a:srgbClr val="FBE3E3"/>
                </a:solidFill>
                <a:latin typeface="Calibri"/>
              </a:rPr>
              <a:t>Every state change writes a Lamport-clocked audit record. The audit log — not the UI, not the agents — is the system of record, exportable as evidence.</a:t>
            </a:r>
          </a:p>
        </p:txBody>
      </p:sp>
      <p:sp>
        <p:nvSpPr>
          <p:cNvPr id="16" name="TextBox 15"/>
          <p:cNvSpPr txBox="1"/>
          <p:nvPr/>
        </p:nvSpPr>
        <p:spPr>
          <a:xfrm>
            <a:off x="502920" y="6473952"/>
            <a:ext cx="7315200" cy="274320"/>
          </a:xfrm>
          <a:prstGeom prst="rect">
            <a:avLst/>
          </a:prstGeom>
          <a:noFill/>
        </p:spPr>
        <p:txBody>
          <a:bodyPr wrap="square" anchor="t" lIns="0" rIns="0" tIns="0" bIns="0">
            <a:spAutoFit/>
          </a:bodyPr>
          <a:lstStyle/>
          <a:p>
            <a:pPr algn="l"/>
            <a:r>
              <a:rPr sz="900" b="0" i="0">
                <a:solidFill>
                  <a:srgbClr val="6B6B6B"/>
                </a:solidFill>
                <a:latin typeface="Calibri"/>
              </a:rPr>
              <a:t>IntelliAI 2.0  ·  IBM MQ Intelligent Hackathon 2026  ·  Part 2</a:t>
            </a:r>
          </a:p>
        </p:txBody>
      </p:sp>
      <p:sp>
        <p:nvSpPr>
          <p:cNvPr id="17" name="TextBox 16"/>
          <p:cNvSpPr txBox="1"/>
          <p:nvPr/>
        </p:nvSpPr>
        <p:spPr>
          <a:xfrm>
            <a:off x="11338560" y="6473952"/>
            <a:ext cx="457200" cy="274320"/>
          </a:xfrm>
          <a:prstGeom prst="rect">
            <a:avLst/>
          </a:prstGeom>
          <a:noFill/>
        </p:spPr>
        <p:txBody>
          <a:bodyPr wrap="square" anchor="t" lIns="0" rIns="0" tIns="0" bIns="0">
            <a:spAutoFit/>
          </a:bodyPr>
          <a:lstStyle/>
          <a:p>
            <a:pPr algn="r"/>
            <a:r>
              <a:rPr sz="900" b="0" i="0">
                <a:solidFill>
                  <a:srgbClr val="6B6B6B"/>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292608"/>
          </a:xfrm>
          <a:prstGeom prst="rect">
            <a:avLst/>
          </a:prstGeom>
          <a:noFill/>
        </p:spPr>
        <p:txBody>
          <a:bodyPr wrap="square" anchor="t" lIns="0" rIns="0" tIns="0" bIns="0">
            <a:spAutoFit/>
          </a:bodyPr>
          <a:lstStyle/>
          <a:p>
            <a:pPr algn="l"/>
            <a:r>
              <a:rPr sz="1200" b="1" i="0">
                <a:solidFill>
                  <a:srgbClr val="B31B1B"/>
                </a:solidFill>
                <a:latin typeface="Calibri"/>
              </a:rPr>
              <a:t>WHEN IT FAILS</a:t>
            </a:r>
          </a:p>
        </p:txBody>
      </p:sp>
      <p:sp>
        <p:nvSpPr>
          <p:cNvPr id="3" name="TextBox 2"/>
          <p:cNvSpPr txBox="1"/>
          <p:nvPr/>
        </p:nvSpPr>
        <p:spPr>
          <a:xfrm>
            <a:off x="502920" y="658368"/>
            <a:ext cx="11155680" cy="731520"/>
          </a:xfrm>
          <a:prstGeom prst="rect">
            <a:avLst/>
          </a:prstGeom>
          <a:noFill/>
        </p:spPr>
        <p:txBody>
          <a:bodyPr wrap="square" anchor="t" lIns="0" rIns="0" tIns="0" bIns="0">
            <a:spAutoFit/>
          </a:bodyPr>
          <a:lstStyle/>
          <a:p>
            <a:pPr algn="l"/>
            <a:r>
              <a:rPr sz="2900" b="1" i="0">
                <a:solidFill>
                  <a:srgbClr val="B31B1B"/>
                </a:solidFill>
                <a:latin typeface="Cambria"/>
              </a:rPr>
              <a:t>Per-app rollback in reverse Lamport order</a:t>
            </a:r>
          </a:p>
        </p:txBody>
      </p:sp>
      <p:sp>
        <p:nvSpPr>
          <p:cNvPr id="4" name="TextBox 3"/>
          <p:cNvSpPr txBox="1"/>
          <p:nvPr/>
        </p:nvSpPr>
        <p:spPr>
          <a:xfrm>
            <a:off x="502920" y="1371600"/>
            <a:ext cx="11155680" cy="457200"/>
          </a:xfrm>
          <a:prstGeom prst="rect">
            <a:avLst/>
          </a:prstGeom>
          <a:noFill/>
        </p:spPr>
        <p:txBody>
          <a:bodyPr wrap="square" anchor="t" lIns="0" rIns="0" tIns="0" bIns="0">
            <a:spAutoFit/>
          </a:bodyPr>
          <a:lstStyle/>
          <a:p>
            <a:pPr algn="l"/>
            <a:r>
              <a:rPr sz="1400" b="0" i="1">
                <a:solidFill>
                  <a:srgbClr val="6B6B6B"/>
                </a:solidFill>
                <a:latin typeface="Calibri"/>
              </a:rPr>
              <a:t>The failure path is half the state machine. A failure is contained to one app — and only that app is reversed.</a:t>
            </a:r>
          </a:p>
        </p:txBody>
      </p:sp>
      <p:sp>
        <p:nvSpPr>
          <p:cNvPr id="5" name="Oval 4"/>
          <p:cNvSpPr/>
          <p:nvPr/>
        </p:nvSpPr>
        <p:spPr>
          <a:xfrm>
            <a:off x="548640" y="2011679"/>
            <a:ext cx="457200" cy="457200"/>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011679"/>
            <a:ext cx="457200" cy="457200"/>
          </a:xfrm>
          <a:prstGeom prst="rect">
            <a:avLst/>
          </a:prstGeom>
          <a:noFill/>
        </p:spPr>
        <p:txBody>
          <a:bodyPr wrap="square" anchor="ctr" lIns="0" rIns="0" tIns="0" bIns="0">
            <a:spAutoFit/>
          </a:bodyPr>
          <a:lstStyle/>
          <a:p>
            <a:pPr algn="ctr"/>
            <a:r>
              <a:rPr sz="1500" b="1" i="0">
                <a:solidFill>
                  <a:srgbClr val="FFFFFF"/>
                </a:solidFill>
                <a:latin typeface="Cambria"/>
              </a:rPr>
              <a:t>1</a:t>
            </a:r>
          </a:p>
        </p:txBody>
      </p:sp>
      <p:sp>
        <p:nvSpPr>
          <p:cNvPr id="7" name="TextBox 6"/>
          <p:cNvSpPr txBox="1"/>
          <p:nvPr/>
        </p:nvSpPr>
        <p:spPr>
          <a:xfrm>
            <a:off x="1188720" y="1965960"/>
            <a:ext cx="2743200" cy="548640"/>
          </a:xfrm>
          <a:prstGeom prst="rect">
            <a:avLst/>
          </a:prstGeom>
          <a:noFill/>
        </p:spPr>
        <p:txBody>
          <a:bodyPr wrap="square" anchor="ctr" lIns="0" rIns="0" tIns="0" bIns="0">
            <a:spAutoFit/>
          </a:bodyPr>
          <a:lstStyle/>
          <a:p>
            <a:pPr algn="l"/>
            <a:r>
              <a:rPr sz="1400" b="1" i="0">
                <a:solidFill>
                  <a:srgbClr val="B31B1B"/>
                </a:solidFill>
                <a:latin typeface="Cambria"/>
              </a:rPr>
              <a:t>A step fails</a:t>
            </a:r>
          </a:p>
        </p:txBody>
      </p:sp>
      <p:sp>
        <p:nvSpPr>
          <p:cNvPr id="8" name="TextBox 7"/>
          <p:cNvSpPr txBox="1"/>
          <p:nvPr/>
        </p:nvSpPr>
        <p:spPr>
          <a:xfrm>
            <a:off x="4023360" y="1947672"/>
            <a:ext cx="7589520" cy="640080"/>
          </a:xfrm>
          <a:prstGeom prst="rect">
            <a:avLst/>
          </a:prstGeom>
          <a:noFill/>
        </p:spPr>
        <p:txBody>
          <a:bodyPr wrap="square" anchor="ctr" lIns="0" rIns="0" tIns="0" bIns="0">
            <a:spAutoFit/>
          </a:bodyPr>
          <a:lstStyle/>
          <a:p>
            <a:pPr algn="l"/>
            <a:r>
              <a:rPr sz="1200" b="0" i="0">
                <a:solidFill>
                  <a:srgbClr val="2B2B2B"/>
                </a:solidFill>
                <a:latin typeface="Calibri"/>
              </a:rPr>
              <a:t>e.g. the target QM becomes unreachable while the bridge is validated. The engine detects it at that transition.</a:t>
            </a:r>
          </a:p>
        </p:txBody>
      </p:sp>
      <p:cxnSp>
        <p:nvCxnSpPr>
          <p:cNvPr id="9" name="Connector 8"/>
          <p:cNvCxnSpPr/>
          <p:nvPr/>
        </p:nvCxnSpPr>
        <p:spPr>
          <a:xfrm>
            <a:off x="777240" y="2468880"/>
            <a:ext cx="0" cy="320040"/>
          </a:xfrm>
          <a:prstGeom prst="bentConnector3">
            <a:avLst/>
          </a:prstGeom>
          <a:ln w="1524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548640" y="2834639"/>
            <a:ext cx="457200" cy="457200"/>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834639"/>
            <a:ext cx="457200" cy="457200"/>
          </a:xfrm>
          <a:prstGeom prst="rect">
            <a:avLst/>
          </a:prstGeom>
          <a:noFill/>
        </p:spPr>
        <p:txBody>
          <a:bodyPr wrap="square" anchor="ctr" lIns="0" rIns="0" tIns="0" bIns="0">
            <a:spAutoFit/>
          </a:bodyPr>
          <a:lstStyle/>
          <a:p>
            <a:pPr algn="ctr"/>
            <a:r>
              <a:rPr sz="1500" b="1" i="0">
                <a:solidFill>
                  <a:srgbClr val="FFFFFF"/>
                </a:solidFill>
                <a:latin typeface="Cambria"/>
              </a:rPr>
              <a:t>2</a:t>
            </a:r>
          </a:p>
        </p:txBody>
      </p:sp>
      <p:sp>
        <p:nvSpPr>
          <p:cNvPr id="12" name="TextBox 11"/>
          <p:cNvSpPr txBox="1"/>
          <p:nvPr/>
        </p:nvSpPr>
        <p:spPr>
          <a:xfrm>
            <a:off x="1188720" y="2788920"/>
            <a:ext cx="2743200" cy="548640"/>
          </a:xfrm>
          <a:prstGeom prst="rect">
            <a:avLst/>
          </a:prstGeom>
          <a:noFill/>
        </p:spPr>
        <p:txBody>
          <a:bodyPr wrap="square" anchor="ctr" lIns="0" rIns="0" tIns="0" bIns="0">
            <a:spAutoFit/>
          </a:bodyPr>
          <a:lstStyle/>
          <a:p>
            <a:pPr algn="l"/>
            <a:r>
              <a:rPr sz="1400" b="1" i="0">
                <a:solidFill>
                  <a:srgbClr val="B31B1B"/>
                </a:solidFill>
                <a:latin typeface="Cambria"/>
              </a:rPr>
              <a:t>Auto-rollback, one app</a:t>
            </a:r>
          </a:p>
        </p:txBody>
      </p:sp>
      <p:sp>
        <p:nvSpPr>
          <p:cNvPr id="13" name="TextBox 12"/>
          <p:cNvSpPr txBox="1"/>
          <p:nvPr/>
        </p:nvSpPr>
        <p:spPr>
          <a:xfrm>
            <a:off x="4023360" y="2770632"/>
            <a:ext cx="7589520" cy="640080"/>
          </a:xfrm>
          <a:prstGeom prst="rect">
            <a:avLst/>
          </a:prstGeom>
          <a:noFill/>
        </p:spPr>
        <p:txBody>
          <a:bodyPr wrap="square" anchor="ctr" lIns="0" rIns="0" tIns="0" bIns="0">
            <a:spAutoFit/>
          </a:bodyPr>
          <a:lstStyle/>
          <a:p>
            <a:pPr algn="l"/>
            <a:r>
              <a:rPr sz="1200" b="0" i="0">
                <a:solidFill>
                  <a:srgbClr val="2B2B2B"/>
                </a:solidFill>
                <a:latin typeface="Calibri"/>
              </a:rPr>
              <a:t>The migration goes to ROLLING_BACK. The engine reads THIS app's audit entries, walks them in reverse Lamport order, and applies the inverse MQSC for each completed step.</a:t>
            </a:r>
          </a:p>
        </p:txBody>
      </p:sp>
      <p:cxnSp>
        <p:nvCxnSpPr>
          <p:cNvPr id="14" name="Connector 13"/>
          <p:cNvCxnSpPr/>
          <p:nvPr/>
        </p:nvCxnSpPr>
        <p:spPr>
          <a:xfrm>
            <a:off x="777240" y="3291839"/>
            <a:ext cx="0" cy="320040"/>
          </a:xfrm>
          <a:prstGeom prst="bentConnector3">
            <a:avLst/>
          </a:prstGeom>
          <a:ln w="1524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548640" y="3657599"/>
            <a:ext cx="457200" cy="457200"/>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657599"/>
            <a:ext cx="457200" cy="457200"/>
          </a:xfrm>
          <a:prstGeom prst="rect">
            <a:avLst/>
          </a:prstGeom>
          <a:noFill/>
        </p:spPr>
        <p:txBody>
          <a:bodyPr wrap="square" anchor="ctr" lIns="0" rIns="0" tIns="0" bIns="0">
            <a:spAutoFit/>
          </a:bodyPr>
          <a:lstStyle/>
          <a:p>
            <a:pPr algn="ctr"/>
            <a:r>
              <a:rPr sz="1500" b="1" i="0">
                <a:solidFill>
                  <a:srgbClr val="FFFFFF"/>
                </a:solidFill>
                <a:latin typeface="Cambria"/>
              </a:rPr>
              <a:t>3</a:t>
            </a:r>
          </a:p>
        </p:txBody>
      </p:sp>
      <p:sp>
        <p:nvSpPr>
          <p:cNvPr id="17" name="TextBox 16"/>
          <p:cNvSpPr txBox="1"/>
          <p:nvPr/>
        </p:nvSpPr>
        <p:spPr>
          <a:xfrm>
            <a:off x="1188720" y="3611879"/>
            <a:ext cx="2743200" cy="548640"/>
          </a:xfrm>
          <a:prstGeom prst="rect">
            <a:avLst/>
          </a:prstGeom>
          <a:noFill/>
        </p:spPr>
        <p:txBody>
          <a:bodyPr wrap="square" anchor="ctr" lIns="0" rIns="0" tIns="0" bIns="0">
            <a:spAutoFit/>
          </a:bodyPr>
          <a:lstStyle/>
          <a:p>
            <a:pPr algn="l"/>
            <a:r>
              <a:rPr sz="1400" b="1" i="0">
                <a:solidFill>
                  <a:srgbClr val="B31B1B"/>
                </a:solidFill>
                <a:latin typeface="Cambria"/>
              </a:rPr>
              <a:t>Settles at ROLLED_BACK</a:t>
            </a:r>
          </a:p>
        </p:txBody>
      </p:sp>
      <p:sp>
        <p:nvSpPr>
          <p:cNvPr id="18" name="TextBox 17"/>
          <p:cNvSpPr txBox="1"/>
          <p:nvPr/>
        </p:nvSpPr>
        <p:spPr>
          <a:xfrm>
            <a:off x="4023360" y="3593591"/>
            <a:ext cx="7589520" cy="640080"/>
          </a:xfrm>
          <a:prstGeom prst="rect">
            <a:avLst/>
          </a:prstGeom>
          <a:noFill/>
        </p:spPr>
        <p:txBody>
          <a:bodyPr wrap="square" anchor="ctr" lIns="0" rIns="0" tIns="0" bIns="0">
            <a:spAutoFit/>
          </a:bodyPr>
          <a:lstStyle/>
          <a:p>
            <a:pPr algn="l"/>
            <a:r>
              <a:rPr sz="1200" b="0" i="0">
                <a:solidFill>
                  <a:srgbClr val="2B2B2B"/>
                </a:solidFill>
                <a:latin typeface="Calibri"/>
              </a:rPr>
              <a:t>Source queues restored, bridge objects removed. The app is back on its original QM, fully operational. Apps already COMPLETED or still PLANNED are never touched.</a:t>
            </a:r>
          </a:p>
        </p:txBody>
      </p:sp>
      <p:cxnSp>
        <p:nvCxnSpPr>
          <p:cNvPr id="19" name="Connector 18"/>
          <p:cNvCxnSpPr/>
          <p:nvPr/>
        </p:nvCxnSpPr>
        <p:spPr>
          <a:xfrm>
            <a:off x="777240" y="4114800"/>
            <a:ext cx="0" cy="320040"/>
          </a:xfrm>
          <a:prstGeom prst="bentConnector3">
            <a:avLst/>
          </a:prstGeom>
          <a:ln w="1524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548640" y="4480559"/>
            <a:ext cx="457200" cy="457200"/>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4480559"/>
            <a:ext cx="457200" cy="457200"/>
          </a:xfrm>
          <a:prstGeom prst="rect">
            <a:avLst/>
          </a:prstGeom>
          <a:noFill/>
        </p:spPr>
        <p:txBody>
          <a:bodyPr wrap="square" anchor="ctr" lIns="0" rIns="0" tIns="0" bIns="0">
            <a:spAutoFit/>
          </a:bodyPr>
          <a:lstStyle/>
          <a:p>
            <a:pPr algn="ctr"/>
            <a:r>
              <a:rPr sz="1500" b="1" i="0">
                <a:solidFill>
                  <a:srgbClr val="FFFFFF"/>
                </a:solidFill>
                <a:latin typeface="Cambria"/>
              </a:rPr>
              <a:t>4</a:t>
            </a:r>
          </a:p>
        </p:txBody>
      </p:sp>
      <p:sp>
        <p:nvSpPr>
          <p:cNvPr id="22" name="TextBox 21"/>
          <p:cNvSpPr txBox="1"/>
          <p:nvPr/>
        </p:nvSpPr>
        <p:spPr>
          <a:xfrm>
            <a:off x="1188720" y="4434840"/>
            <a:ext cx="2743200" cy="548640"/>
          </a:xfrm>
          <a:prstGeom prst="rect">
            <a:avLst/>
          </a:prstGeom>
          <a:noFill/>
        </p:spPr>
        <p:txBody>
          <a:bodyPr wrap="square" anchor="ctr" lIns="0" rIns="0" tIns="0" bIns="0">
            <a:spAutoFit/>
          </a:bodyPr>
          <a:lstStyle/>
          <a:p>
            <a:pPr algn="l"/>
            <a:r>
              <a:rPr sz="1400" b="1" i="0">
                <a:solidFill>
                  <a:srgbClr val="B31B1B"/>
                </a:solidFill>
                <a:latin typeface="Cambria"/>
              </a:rPr>
              <a:t>RCA diagnoses</a:t>
            </a:r>
          </a:p>
        </p:txBody>
      </p:sp>
      <p:sp>
        <p:nvSpPr>
          <p:cNvPr id="23" name="TextBox 22"/>
          <p:cNvSpPr txBox="1"/>
          <p:nvPr/>
        </p:nvSpPr>
        <p:spPr>
          <a:xfrm>
            <a:off x="4023360" y="4416552"/>
            <a:ext cx="7589520" cy="640080"/>
          </a:xfrm>
          <a:prstGeom prst="rect">
            <a:avLst/>
          </a:prstGeom>
          <a:noFill/>
        </p:spPr>
        <p:txBody>
          <a:bodyPr wrap="square" anchor="ctr" lIns="0" rIns="0" tIns="0" bIns="0">
            <a:spAutoFit/>
          </a:bodyPr>
          <a:lstStyle/>
          <a:p>
            <a:pPr algn="l"/>
            <a:r>
              <a:rPr sz="1200" b="0" i="0">
                <a:solidFill>
                  <a:srgbClr val="2B2B2B"/>
                </a:solidFill>
                <a:latin typeface="Calibri"/>
              </a:rPr>
              <a:t>The RCA agent reads the Lamport-ordered trail, locates the failure, names the MQ reason code, and gives a structured diagnosis.</a:t>
            </a:r>
          </a:p>
        </p:txBody>
      </p:sp>
      <p:cxnSp>
        <p:nvCxnSpPr>
          <p:cNvPr id="24" name="Connector 23"/>
          <p:cNvCxnSpPr/>
          <p:nvPr/>
        </p:nvCxnSpPr>
        <p:spPr>
          <a:xfrm>
            <a:off x="777240" y="4937759"/>
            <a:ext cx="0" cy="320041"/>
          </a:xfrm>
          <a:prstGeom prst="bentConnector3">
            <a:avLst/>
          </a:prstGeom>
          <a:ln w="1524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548640" y="5303520"/>
            <a:ext cx="457200" cy="457200"/>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5303520"/>
            <a:ext cx="457200" cy="457200"/>
          </a:xfrm>
          <a:prstGeom prst="rect">
            <a:avLst/>
          </a:prstGeom>
          <a:noFill/>
        </p:spPr>
        <p:txBody>
          <a:bodyPr wrap="square" anchor="ctr" lIns="0" rIns="0" tIns="0" bIns="0">
            <a:spAutoFit/>
          </a:bodyPr>
          <a:lstStyle/>
          <a:p>
            <a:pPr algn="ctr"/>
            <a:r>
              <a:rPr sz="1500" b="1" i="0">
                <a:solidFill>
                  <a:srgbClr val="FFFFFF"/>
                </a:solidFill>
                <a:latin typeface="Cambria"/>
              </a:rPr>
              <a:t>5</a:t>
            </a:r>
          </a:p>
        </p:txBody>
      </p:sp>
      <p:sp>
        <p:nvSpPr>
          <p:cNvPr id="27" name="TextBox 26"/>
          <p:cNvSpPr txBox="1"/>
          <p:nvPr/>
        </p:nvSpPr>
        <p:spPr>
          <a:xfrm>
            <a:off x="1188720" y="5257800"/>
            <a:ext cx="2743200" cy="548640"/>
          </a:xfrm>
          <a:prstGeom prst="rect">
            <a:avLst/>
          </a:prstGeom>
          <a:noFill/>
        </p:spPr>
        <p:txBody>
          <a:bodyPr wrap="square" anchor="ctr" lIns="0" rIns="0" tIns="0" bIns="0">
            <a:spAutoFit/>
          </a:bodyPr>
          <a:lstStyle/>
          <a:p>
            <a:pPr algn="l"/>
            <a:r>
              <a:rPr sz="1400" b="1" i="0">
                <a:solidFill>
                  <a:srgbClr val="B31B1B"/>
                </a:solidFill>
                <a:latin typeface="Cambria"/>
              </a:rPr>
              <a:t>Operator restarts</a:t>
            </a:r>
          </a:p>
        </p:txBody>
      </p:sp>
      <p:sp>
        <p:nvSpPr>
          <p:cNvPr id="28" name="TextBox 27"/>
          <p:cNvSpPr txBox="1"/>
          <p:nvPr/>
        </p:nvSpPr>
        <p:spPr>
          <a:xfrm>
            <a:off x="4023360" y="5239512"/>
            <a:ext cx="7589520" cy="640080"/>
          </a:xfrm>
          <a:prstGeom prst="rect">
            <a:avLst/>
          </a:prstGeom>
          <a:noFill/>
        </p:spPr>
        <p:txBody>
          <a:bodyPr wrap="square" anchor="ctr" lIns="0" rIns="0" tIns="0" bIns="0">
            <a:spAutoFit/>
          </a:bodyPr>
          <a:lstStyle/>
          <a:p>
            <a:pPr algn="l"/>
            <a:r>
              <a:rPr sz="1200" b="0" i="0">
                <a:solidFill>
                  <a:srgbClr val="2B2B2B"/>
                </a:solidFill>
                <a:latin typeface="Calibri"/>
              </a:rPr>
              <a:t>Once fixed, the record recycles to PLANNED and the idempotent forward path runs again from the start.</a:t>
            </a:r>
          </a:p>
        </p:txBody>
      </p:sp>
      <p:sp>
        <p:nvSpPr>
          <p:cNvPr id="29" name="TextBox 28"/>
          <p:cNvSpPr txBox="1"/>
          <p:nvPr/>
        </p:nvSpPr>
        <p:spPr>
          <a:xfrm>
            <a:off x="502920" y="6473952"/>
            <a:ext cx="7315200" cy="274320"/>
          </a:xfrm>
          <a:prstGeom prst="rect">
            <a:avLst/>
          </a:prstGeom>
          <a:noFill/>
        </p:spPr>
        <p:txBody>
          <a:bodyPr wrap="square" anchor="t" lIns="0" rIns="0" tIns="0" bIns="0">
            <a:spAutoFit/>
          </a:bodyPr>
          <a:lstStyle/>
          <a:p>
            <a:pPr algn="l"/>
            <a:r>
              <a:rPr sz="900" b="0" i="0">
                <a:solidFill>
                  <a:srgbClr val="6B6B6B"/>
                </a:solidFill>
                <a:latin typeface="Calibri"/>
              </a:rPr>
              <a:t>IntelliAI 2.0  ·  IBM MQ Intelligent Hackathon 2026  ·  Part 2</a:t>
            </a:r>
          </a:p>
        </p:txBody>
      </p:sp>
      <p:sp>
        <p:nvSpPr>
          <p:cNvPr id="30" name="TextBox 29"/>
          <p:cNvSpPr txBox="1"/>
          <p:nvPr/>
        </p:nvSpPr>
        <p:spPr>
          <a:xfrm>
            <a:off x="11338560" y="6473952"/>
            <a:ext cx="457200" cy="274320"/>
          </a:xfrm>
          <a:prstGeom prst="rect">
            <a:avLst/>
          </a:prstGeom>
          <a:noFill/>
        </p:spPr>
        <p:txBody>
          <a:bodyPr wrap="square" anchor="t" lIns="0" rIns="0" tIns="0" bIns="0">
            <a:spAutoFit/>
          </a:bodyPr>
          <a:lstStyle/>
          <a:p>
            <a:pPr algn="r"/>
            <a:r>
              <a:rPr sz="900" b="0" i="0">
                <a:solidFill>
                  <a:srgbClr val="6B6B6B"/>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292608"/>
          </a:xfrm>
          <a:prstGeom prst="rect">
            <a:avLst/>
          </a:prstGeom>
          <a:noFill/>
        </p:spPr>
        <p:txBody>
          <a:bodyPr wrap="square" anchor="t" lIns="0" rIns="0" tIns="0" bIns="0">
            <a:spAutoFit/>
          </a:bodyPr>
          <a:lstStyle/>
          <a:p>
            <a:pPr algn="l"/>
            <a:r>
              <a:rPr sz="1200" b="1" i="0">
                <a:solidFill>
                  <a:srgbClr val="B31B1B"/>
                </a:solidFill>
                <a:latin typeface="Calibri"/>
              </a:rPr>
              <a:t>THE ROLE OF INTELLIGENCE</a:t>
            </a:r>
          </a:p>
        </p:txBody>
      </p:sp>
      <p:sp>
        <p:nvSpPr>
          <p:cNvPr id="3" name="TextBox 2"/>
          <p:cNvSpPr txBox="1"/>
          <p:nvPr/>
        </p:nvSpPr>
        <p:spPr>
          <a:xfrm>
            <a:off x="502920" y="658368"/>
            <a:ext cx="11155680" cy="731520"/>
          </a:xfrm>
          <a:prstGeom prst="rect">
            <a:avLst/>
          </a:prstGeom>
          <a:noFill/>
        </p:spPr>
        <p:txBody>
          <a:bodyPr wrap="square" anchor="t" lIns="0" rIns="0" tIns="0" bIns="0">
            <a:spAutoFit/>
          </a:bodyPr>
          <a:lstStyle/>
          <a:p>
            <a:pPr algn="l"/>
            <a:r>
              <a:rPr sz="2900" b="1" i="0">
                <a:solidFill>
                  <a:srgbClr val="B31B1B"/>
                </a:solidFill>
                <a:latin typeface="Cambria"/>
              </a:rPr>
              <a:t>Three advisory agents — they inform, never act</a:t>
            </a:r>
          </a:p>
        </p:txBody>
      </p:sp>
      <p:sp>
        <p:nvSpPr>
          <p:cNvPr id="4" name="Rounded Rectangle 3"/>
          <p:cNvSpPr/>
          <p:nvPr/>
        </p:nvSpPr>
        <p:spPr>
          <a:xfrm>
            <a:off x="502920" y="1691640"/>
            <a:ext cx="3611880" cy="2651760"/>
          </a:xfrm>
          <a:prstGeom prst="roundRect">
            <a:avLst>
              <a:gd name="adj" fmla="val 8000"/>
            </a:avLst>
          </a:prstGeom>
          <a:solidFill>
            <a:srgbClr val="B31B1B"/>
          </a:solidFill>
          <a:ln>
            <a:noFill/>
          </a:ln>
          <a:effectLst/>
          <a:effectLst>
            <a:outerShdw blurRad="70000" dist="38100" dir="5400000" rotWithShape="0">
              <a:srgbClr val="8B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22960" y="2011680"/>
            <a:ext cx="731520" cy="731520"/>
          </a:xfrm>
          <a:prstGeom prst="ellipse">
            <a:avLst/>
          </a:prstGeom>
          <a:solidFill>
            <a:srgbClr val="8B0000"/>
          </a:solidFill>
          <a:ln w="12700">
            <a:solidFill>
              <a:srgbClr val="FFCD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011680"/>
            <a:ext cx="731520" cy="731520"/>
          </a:xfrm>
          <a:prstGeom prst="rect">
            <a:avLst/>
          </a:prstGeom>
          <a:noFill/>
        </p:spPr>
        <p:txBody>
          <a:bodyPr wrap="square" anchor="ctr" lIns="0" rIns="0" tIns="0" bIns="0">
            <a:spAutoFit/>
          </a:bodyPr>
          <a:lstStyle/>
          <a:p>
            <a:pPr algn="ctr"/>
            <a:r>
              <a:rPr sz="2600" b="1" i="0">
                <a:solidFill>
                  <a:srgbClr val="FFCD41"/>
                </a:solidFill>
                <a:latin typeface="Cambria"/>
              </a:rPr>
              <a:t>1</a:t>
            </a:r>
          </a:p>
        </p:txBody>
      </p:sp>
      <p:sp>
        <p:nvSpPr>
          <p:cNvPr id="7" name="TextBox 6"/>
          <p:cNvSpPr txBox="1"/>
          <p:nvPr/>
        </p:nvSpPr>
        <p:spPr>
          <a:xfrm>
            <a:off x="795528" y="2926080"/>
            <a:ext cx="3063240" cy="457200"/>
          </a:xfrm>
          <a:prstGeom prst="rect">
            <a:avLst/>
          </a:prstGeom>
          <a:noFill/>
        </p:spPr>
        <p:txBody>
          <a:bodyPr wrap="square" anchor="t" lIns="0" rIns="0" tIns="0" bIns="0">
            <a:spAutoFit/>
          </a:bodyPr>
          <a:lstStyle/>
          <a:p>
            <a:pPr algn="l"/>
            <a:r>
              <a:rPr sz="1600" b="1" i="0">
                <a:solidFill>
                  <a:srgbClr val="FFFFFF"/>
                </a:solidFill>
                <a:latin typeface="Cambria"/>
              </a:rPr>
              <a:t>Migration Planner</a:t>
            </a:r>
          </a:p>
        </p:txBody>
      </p:sp>
      <p:sp>
        <p:nvSpPr>
          <p:cNvPr id="8" name="TextBox 7"/>
          <p:cNvSpPr txBox="1"/>
          <p:nvPr/>
        </p:nvSpPr>
        <p:spPr>
          <a:xfrm>
            <a:off x="813816" y="3429000"/>
            <a:ext cx="3017520" cy="868680"/>
          </a:xfrm>
          <a:prstGeom prst="rect">
            <a:avLst/>
          </a:prstGeom>
          <a:noFill/>
        </p:spPr>
        <p:txBody>
          <a:bodyPr wrap="square" anchor="t" lIns="0" rIns="0" tIns="0" bIns="0">
            <a:spAutoFit/>
          </a:bodyPr>
          <a:lstStyle/>
          <a:p>
            <a:pPr algn="l"/>
            <a:r>
              <a:rPr sz="1200" b="0" i="0">
                <a:solidFill>
                  <a:srgbClr val="FBE3E3"/>
                </a:solidFill>
                <a:latin typeface="Calibri"/>
              </a:rPr>
              <a:t>Produces a readable migration plan, the ordering rationale, the bridge/XMITQ names, and identified risks — for the operator to review before approving.</a:t>
            </a:r>
          </a:p>
        </p:txBody>
      </p:sp>
      <p:sp>
        <p:nvSpPr>
          <p:cNvPr id="9" name="Rounded Rectangle 8"/>
          <p:cNvSpPr/>
          <p:nvPr/>
        </p:nvSpPr>
        <p:spPr>
          <a:xfrm>
            <a:off x="4343400" y="1691640"/>
            <a:ext cx="3611880" cy="2651760"/>
          </a:xfrm>
          <a:prstGeom prst="roundRect">
            <a:avLst>
              <a:gd name="adj" fmla="val 8000"/>
            </a:avLst>
          </a:prstGeom>
          <a:solidFill>
            <a:srgbClr val="B31B1B"/>
          </a:solidFill>
          <a:ln>
            <a:noFill/>
          </a:ln>
          <a:effectLst/>
          <a:effectLst>
            <a:outerShdw blurRad="70000" dist="38100" dir="5400000" rotWithShape="0">
              <a:srgbClr val="8B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663440" y="2011680"/>
            <a:ext cx="731520" cy="731520"/>
          </a:xfrm>
          <a:prstGeom prst="ellipse">
            <a:avLst/>
          </a:prstGeom>
          <a:solidFill>
            <a:srgbClr val="8B0000"/>
          </a:solidFill>
          <a:ln w="12700">
            <a:solidFill>
              <a:srgbClr val="FFCD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2011680"/>
            <a:ext cx="731520" cy="731520"/>
          </a:xfrm>
          <a:prstGeom prst="rect">
            <a:avLst/>
          </a:prstGeom>
          <a:noFill/>
        </p:spPr>
        <p:txBody>
          <a:bodyPr wrap="square" anchor="ctr" lIns="0" rIns="0" tIns="0" bIns="0">
            <a:spAutoFit/>
          </a:bodyPr>
          <a:lstStyle/>
          <a:p>
            <a:pPr algn="ctr"/>
            <a:r>
              <a:rPr sz="2600" b="1" i="0">
                <a:solidFill>
                  <a:srgbClr val="FFCD41"/>
                </a:solidFill>
                <a:latin typeface="Cambria"/>
              </a:rPr>
              <a:t>2</a:t>
            </a:r>
          </a:p>
        </p:txBody>
      </p:sp>
      <p:sp>
        <p:nvSpPr>
          <p:cNvPr id="12" name="TextBox 11"/>
          <p:cNvSpPr txBox="1"/>
          <p:nvPr/>
        </p:nvSpPr>
        <p:spPr>
          <a:xfrm>
            <a:off x="4636008" y="2926080"/>
            <a:ext cx="3063240" cy="457200"/>
          </a:xfrm>
          <a:prstGeom prst="rect">
            <a:avLst/>
          </a:prstGeom>
          <a:noFill/>
        </p:spPr>
        <p:txBody>
          <a:bodyPr wrap="square" anchor="t" lIns="0" rIns="0" tIns="0" bIns="0">
            <a:spAutoFit/>
          </a:bodyPr>
          <a:lstStyle/>
          <a:p>
            <a:pPr algn="l"/>
            <a:r>
              <a:rPr sz="1600" b="1" i="0">
                <a:solidFill>
                  <a:srgbClr val="FFFFFF"/>
                </a:solidFill>
                <a:latin typeface="Cambria"/>
              </a:rPr>
              <a:t>Operator Assistant</a:t>
            </a:r>
          </a:p>
        </p:txBody>
      </p:sp>
      <p:sp>
        <p:nvSpPr>
          <p:cNvPr id="13" name="TextBox 12"/>
          <p:cNvSpPr txBox="1"/>
          <p:nvPr/>
        </p:nvSpPr>
        <p:spPr>
          <a:xfrm>
            <a:off x="4654296" y="3429000"/>
            <a:ext cx="3017520" cy="868680"/>
          </a:xfrm>
          <a:prstGeom prst="rect">
            <a:avLst/>
          </a:prstGeom>
          <a:noFill/>
        </p:spPr>
        <p:txBody>
          <a:bodyPr wrap="square" anchor="t" lIns="0" rIns="0" tIns="0" bIns="0">
            <a:spAutoFit/>
          </a:bodyPr>
          <a:lstStyle/>
          <a:p>
            <a:pPr algn="l"/>
            <a:r>
              <a:rPr sz="1200" b="0" i="0">
                <a:solidFill>
                  <a:srgbClr val="FBE3E3"/>
                </a:solidFill>
                <a:latin typeface="Calibri"/>
              </a:rPr>
              <a:t>Answers free-text operational questions. Classifies intent, assembles read-only context from migrations and the audit log, and responds.</a:t>
            </a:r>
          </a:p>
        </p:txBody>
      </p:sp>
      <p:sp>
        <p:nvSpPr>
          <p:cNvPr id="14" name="Rounded Rectangle 13"/>
          <p:cNvSpPr/>
          <p:nvPr/>
        </p:nvSpPr>
        <p:spPr>
          <a:xfrm>
            <a:off x="8183880" y="1691640"/>
            <a:ext cx="3611880" cy="2651760"/>
          </a:xfrm>
          <a:prstGeom prst="roundRect">
            <a:avLst>
              <a:gd name="adj" fmla="val 8000"/>
            </a:avLst>
          </a:prstGeom>
          <a:solidFill>
            <a:srgbClr val="B31B1B"/>
          </a:solidFill>
          <a:ln>
            <a:noFill/>
          </a:ln>
          <a:effectLst/>
          <a:effectLst>
            <a:outerShdw blurRad="70000" dist="38100" dir="5400000" rotWithShape="0">
              <a:srgbClr val="8B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503920" y="2011680"/>
            <a:ext cx="731520" cy="731520"/>
          </a:xfrm>
          <a:prstGeom prst="ellipse">
            <a:avLst/>
          </a:prstGeom>
          <a:solidFill>
            <a:srgbClr val="8B0000"/>
          </a:solidFill>
          <a:ln w="12700">
            <a:solidFill>
              <a:srgbClr val="FFCD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0" y="2011680"/>
            <a:ext cx="731520" cy="731520"/>
          </a:xfrm>
          <a:prstGeom prst="rect">
            <a:avLst/>
          </a:prstGeom>
          <a:noFill/>
        </p:spPr>
        <p:txBody>
          <a:bodyPr wrap="square" anchor="ctr" lIns="0" rIns="0" tIns="0" bIns="0">
            <a:spAutoFit/>
          </a:bodyPr>
          <a:lstStyle/>
          <a:p>
            <a:pPr algn="ctr"/>
            <a:r>
              <a:rPr sz="2600" b="1" i="0">
                <a:solidFill>
                  <a:srgbClr val="FFCD41"/>
                </a:solidFill>
                <a:latin typeface="Cambria"/>
              </a:rPr>
              <a:t>3</a:t>
            </a:r>
          </a:p>
        </p:txBody>
      </p:sp>
      <p:sp>
        <p:nvSpPr>
          <p:cNvPr id="17" name="TextBox 16"/>
          <p:cNvSpPr txBox="1"/>
          <p:nvPr/>
        </p:nvSpPr>
        <p:spPr>
          <a:xfrm>
            <a:off x="8476488" y="2926080"/>
            <a:ext cx="3063240" cy="457200"/>
          </a:xfrm>
          <a:prstGeom prst="rect">
            <a:avLst/>
          </a:prstGeom>
          <a:noFill/>
        </p:spPr>
        <p:txBody>
          <a:bodyPr wrap="square" anchor="t" lIns="0" rIns="0" tIns="0" bIns="0">
            <a:spAutoFit/>
          </a:bodyPr>
          <a:lstStyle/>
          <a:p>
            <a:pPr algn="l"/>
            <a:r>
              <a:rPr sz="1600" b="1" i="0">
                <a:solidFill>
                  <a:srgbClr val="FFFFFF"/>
                </a:solidFill>
                <a:latin typeface="Cambria"/>
              </a:rPr>
              <a:t>RCA Assistant</a:t>
            </a:r>
          </a:p>
        </p:txBody>
      </p:sp>
      <p:sp>
        <p:nvSpPr>
          <p:cNvPr id="18" name="TextBox 17"/>
          <p:cNvSpPr txBox="1"/>
          <p:nvPr/>
        </p:nvSpPr>
        <p:spPr>
          <a:xfrm>
            <a:off x="8494776" y="3429000"/>
            <a:ext cx="3017520" cy="868680"/>
          </a:xfrm>
          <a:prstGeom prst="rect">
            <a:avLst/>
          </a:prstGeom>
          <a:noFill/>
        </p:spPr>
        <p:txBody>
          <a:bodyPr wrap="square" anchor="t" lIns="0" rIns="0" tIns="0" bIns="0">
            <a:spAutoFit/>
          </a:bodyPr>
          <a:lstStyle/>
          <a:p>
            <a:pPr algn="l"/>
            <a:r>
              <a:rPr sz="1200" b="0" i="0">
                <a:solidFill>
                  <a:srgbClr val="FBE3E3"/>
                </a:solidFill>
                <a:latin typeface="Calibri"/>
              </a:rPr>
              <a:t>For a failed migration, reads the audit trail, locates the failure, names the MQ reason code, and produces a structured diagnosis with suggested checks.</a:t>
            </a:r>
          </a:p>
        </p:txBody>
      </p:sp>
      <p:sp>
        <p:nvSpPr>
          <p:cNvPr id="19" name="Rounded Rectangle 18"/>
          <p:cNvSpPr/>
          <p:nvPr/>
        </p:nvSpPr>
        <p:spPr>
          <a:xfrm>
            <a:off x="502920" y="4617720"/>
            <a:ext cx="11155680" cy="1417320"/>
          </a:xfrm>
          <a:prstGeom prst="roundRect">
            <a:avLst>
              <a:gd name="adj" fmla="val 8000"/>
            </a:avLst>
          </a:prstGeom>
          <a:solidFill>
            <a:srgbClr val="FBF6F6"/>
          </a:solidFill>
          <a:ln w="12700">
            <a:solidFill>
              <a:srgbClr val="EAD9D9"/>
            </a:solidFill>
          </a:ln>
          <a:effectLst/>
          <a:effectLst>
            <a:outerShdw blurRad="70000" dist="38100" dir="5400000" rotWithShape="0">
              <a:srgbClr val="8B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800600"/>
            <a:ext cx="10607040" cy="365760"/>
          </a:xfrm>
          <a:prstGeom prst="rect">
            <a:avLst/>
          </a:prstGeom>
          <a:noFill/>
        </p:spPr>
        <p:txBody>
          <a:bodyPr wrap="square" anchor="t" lIns="0" rIns="0" tIns="0" bIns="0">
            <a:spAutoFit/>
          </a:bodyPr>
          <a:lstStyle/>
          <a:p>
            <a:pPr algn="l"/>
            <a:r>
              <a:rPr sz="1500" b="1" i="0">
                <a:solidFill>
                  <a:srgbClr val="B31B1B"/>
                </a:solidFill>
                <a:latin typeface="Cambria"/>
              </a:rPr>
              <a:t>Deterministic engines decide and act. Agents explain and advise. The audit log records.</a:t>
            </a:r>
          </a:p>
        </p:txBody>
      </p:sp>
      <p:sp>
        <p:nvSpPr>
          <p:cNvPr id="21" name="TextBox 20"/>
          <p:cNvSpPr txBox="1"/>
          <p:nvPr/>
        </p:nvSpPr>
        <p:spPr>
          <a:xfrm>
            <a:off x="777240" y="5212080"/>
            <a:ext cx="10607040" cy="777240"/>
          </a:xfrm>
          <a:prstGeom prst="rect">
            <a:avLst/>
          </a:prstGeom>
          <a:noFill/>
        </p:spPr>
        <p:txBody>
          <a:bodyPr wrap="square" anchor="t" lIns="0" rIns="0" tIns="0" bIns="0">
            <a:spAutoFit/>
          </a:bodyPr>
          <a:lstStyle/>
          <a:p>
            <a:pPr algn="l"/>
            <a:r>
              <a:rPr sz="1250" b="0" i="0">
                <a:solidFill>
                  <a:srgbClr val="2B2B2B"/>
                </a:solidFill>
                <a:latin typeface="Calibri"/>
              </a:rPr>
              <a:t>All three run on the Tachyon gateway with Gemini 2.5 Pro. Every agent call is recorded in an </a:t>
            </a:r>
            <a:r>
              <a:rPr sz="1250" b="1" i="1">
                <a:solidFill>
                  <a:srgbClr val="B31B1B"/>
                </a:solidFill>
                <a:latin typeface="Calibri"/>
              </a:rPr>
              <a:t>agent_invocations</a:t>
            </a:r>
            <a:r>
              <a:rPr sz="1250" b="0" i="0">
                <a:solidFill>
                  <a:srgbClr val="2B2B2B"/>
                </a:solidFill>
                <a:latin typeface="Calibri"/>
              </a:rPr>
              <a:t> table, with a per-invocation tool-call budget and a per-minute rate limit. An LLM is superb at planning and diagnosis — and unsuitable for issuing the MQSC that mutates a production queue manager. That split is the whole point.</a:t>
            </a:r>
          </a:p>
        </p:txBody>
      </p:sp>
      <p:sp>
        <p:nvSpPr>
          <p:cNvPr id="22" name="TextBox 21"/>
          <p:cNvSpPr txBox="1"/>
          <p:nvPr/>
        </p:nvSpPr>
        <p:spPr>
          <a:xfrm>
            <a:off x="502920" y="6473952"/>
            <a:ext cx="7315200" cy="274320"/>
          </a:xfrm>
          <a:prstGeom prst="rect">
            <a:avLst/>
          </a:prstGeom>
          <a:noFill/>
        </p:spPr>
        <p:txBody>
          <a:bodyPr wrap="square" anchor="t" lIns="0" rIns="0" tIns="0" bIns="0">
            <a:spAutoFit/>
          </a:bodyPr>
          <a:lstStyle/>
          <a:p>
            <a:pPr algn="l"/>
            <a:r>
              <a:rPr sz="900" b="0" i="0">
                <a:solidFill>
                  <a:srgbClr val="6B6B6B"/>
                </a:solidFill>
                <a:latin typeface="Calibri"/>
              </a:rPr>
              <a:t>IntelliAI 2.0  ·  IBM MQ Intelligent Hackathon 2026  ·  Part 2</a:t>
            </a:r>
          </a:p>
        </p:txBody>
      </p:sp>
      <p:sp>
        <p:nvSpPr>
          <p:cNvPr id="23" name="TextBox 22"/>
          <p:cNvSpPr txBox="1"/>
          <p:nvPr/>
        </p:nvSpPr>
        <p:spPr>
          <a:xfrm>
            <a:off x="11338560" y="6473952"/>
            <a:ext cx="457200" cy="274320"/>
          </a:xfrm>
          <a:prstGeom prst="rect">
            <a:avLst/>
          </a:prstGeom>
          <a:noFill/>
        </p:spPr>
        <p:txBody>
          <a:bodyPr wrap="square" anchor="t" lIns="0" rIns="0" tIns="0" bIns="0">
            <a:spAutoFit/>
          </a:bodyPr>
          <a:lstStyle/>
          <a:p>
            <a:pPr algn="r"/>
            <a:r>
              <a:rPr sz="900" b="0" i="0">
                <a:solidFill>
                  <a:srgbClr val="6B6B6B"/>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292608"/>
          </a:xfrm>
          <a:prstGeom prst="rect">
            <a:avLst/>
          </a:prstGeom>
          <a:noFill/>
        </p:spPr>
        <p:txBody>
          <a:bodyPr wrap="square" anchor="t" lIns="0" rIns="0" tIns="0" bIns="0">
            <a:spAutoFit/>
          </a:bodyPr>
          <a:lstStyle/>
          <a:p>
            <a:pPr algn="l"/>
            <a:r>
              <a:rPr sz="1200" b="1" i="0">
                <a:solidFill>
                  <a:srgbClr val="B31B1B"/>
                </a:solidFill>
                <a:latin typeface="Calibri"/>
              </a:rPr>
              <a:t>THE MATHEMATICS</a:t>
            </a:r>
          </a:p>
        </p:txBody>
      </p:sp>
      <p:sp>
        <p:nvSpPr>
          <p:cNvPr id="3" name="TextBox 2"/>
          <p:cNvSpPr txBox="1"/>
          <p:nvPr/>
        </p:nvSpPr>
        <p:spPr>
          <a:xfrm>
            <a:off x="502920" y="658368"/>
            <a:ext cx="11155680" cy="731520"/>
          </a:xfrm>
          <a:prstGeom prst="rect">
            <a:avLst/>
          </a:prstGeom>
          <a:noFill/>
        </p:spPr>
        <p:txBody>
          <a:bodyPr wrap="square" anchor="t" lIns="0" rIns="0" tIns="0" bIns="0">
            <a:spAutoFit/>
          </a:bodyPr>
          <a:lstStyle/>
          <a:p>
            <a:pPr algn="l"/>
            <a:r>
              <a:rPr sz="2900" b="1" i="0">
                <a:solidFill>
                  <a:srgbClr val="B31B1B"/>
                </a:solidFill>
                <a:latin typeface="Cambria"/>
              </a:rPr>
              <a:t>Two models — each where it genuinely applies</a:t>
            </a:r>
          </a:p>
        </p:txBody>
      </p:sp>
      <p:sp>
        <p:nvSpPr>
          <p:cNvPr id="4" name="Rounded Rectangle 3"/>
          <p:cNvSpPr/>
          <p:nvPr/>
        </p:nvSpPr>
        <p:spPr>
          <a:xfrm>
            <a:off x="502920" y="1600200"/>
            <a:ext cx="5532120" cy="4114800"/>
          </a:xfrm>
          <a:prstGeom prst="roundRect">
            <a:avLst>
              <a:gd name="adj" fmla="val 8000"/>
            </a:avLst>
          </a:prstGeom>
          <a:solidFill>
            <a:srgbClr val="FBF6F6"/>
          </a:solidFill>
          <a:ln w="12700">
            <a:solidFill>
              <a:srgbClr val="EAD9D9"/>
            </a:solidFill>
          </a:ln>
          <a:effectLst/>
          <a:effectLst>
            <a:outerShdw blurRad="70000" dist="38100" dir="5400000" rotWithShape="0">
              <a:srgbClr val="8B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28800"/>
            <a:ext cx="4937760" cy="365760"/>
          </a:xfrm>
          <a:prstGeom prst="rect">
            <a:avLst/>
          </a:prstGeom>
          <a:noFill/>
        </p:spPr>
        <p:txBody>
          <a:bodyPr wrap="square" anchor="t" lIns="0" rIns="0" tIns="0" bIns="0">
            <a:spAutoFit/>
          </a:bodyPr>
          <a:lstStyle/>
          <a:p>
            <a:pPr algn="l"/>
            <a:r>
              <a:rPr sz="1500" b="1" i="0">
                <a:solidFill>
                  <a:srgbClr val="B31B1B"/>
                </a:solidFill>
                <a:latin typeface="Cambria"/>
              </a:rPr>
              <a:t>Little's Law — drain prediction</a:t>
            </a:r>
          </a:p>
        </p:txBody>
      </p:sp>
      <p:sp>
        <p:nvSpPr>
          <p:cNvPr id="6" name="Rounded Rectangle 5"/>
          <p:cNvSpPr/>
          <p:nvPr/>
        </p:nvSpPr>
        <p:spPr>
          <a:xfrm>
            <a:off x="822960" y="2331720"/>
            <a:ext cx="4846320" cy="777240"/>
          </a:xfrm>
          <a:prstGeom prst="roundRect">
            <a:avLst>
              <a:gd name="adj" fmla="val 8000"/>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331720"/>
            <a:ext cx="4846320" cy="777240"/>
          </a:xfrm>
          <a:prstGeom prst="rect">
            <a:avLst/>
          </a:prstGeom>
          <a:noFill/>
        </p:spPr>
        <p:txBody>
          <a:bodyPr wrap="square" anchor="ctr" lIns="0" rIns="0" tIns="0" bIns="0">
            <a:spAutoFit/>
          </a:bodyPr>
          <a:lstStyle/>
          <a:p>
            <a:pPr algn="ctr"/>
            <a:r>
              <a:rPr sz="1700" b="1" i="0">
                <a:solidFill>
                  <a:srgbClr val="FFCD41"/>
                </a:solidFill>
                <a:latin typeface="Cambria"/>
              </a:rPr>
              <a:t>L = λW   →   T_drain ≈ L₀ / μ</a:t>
            </a:r>
          </a:p>
        </p:txBody>
      </p:sp>
      <p:sp>
        <p:nvSpPr>
          <p:cNvPr id="8" name="TextBox 7"/>
          <p:cNvSpPr txBox="1"/>
          <p:nvPr/>
        </p:nvSpPr>
        <p:spPr>
          <a:xfrm>
            <a:off x="822960" y="3291840"/>
            <a:ext cx="4892040" cy="2286000"/>
          </a:xfrm>
          <a:prstGeom prst="rect">
            <a:avLst/>
          </a:prstGeom>
          <a:noFill/>
        </p:spPr>
        <p:txBody>
          <a:bodyPr wrap="square" anchor="t" lIns="0" rIns="0" tIns="0" bIns="0">
            <a:spAutoFit/>
          </a:bodyPr>
          <a:lstStyle/>
          <a:p>
            <a:pPr algn="l"/>
            <a:r>
              <a:rPr sz="1250" b="0" i="0">
                <a:solidFill>
                  <a:srgbClr val="2B2B2B"/>
                </a:solidFill>
                <a:latin typeface="Calibri"/>
              </a:rPr>
              <a:t>With the producer rewired away, no new messages arrive — so drain time is just the depth at cutover (L₀) over the consumer service rate (μ). It </a:t>
            </a:r>
            <a:r>
              <a:rPr sz="1250" b="1" i="0">
                <a:solidFill>
                  <a:srgbClr val="B31B1B"/>
                </a:solidFill>
                <a:latin typeface="Calibri"/>
              </a:rPr>
              <a:t>predicts</a:t>
            </a:r>
            <a:r>
              <a:rPr sz="1250" b="0" i="0">
                <a:solidFill>
                  <a:srgbClr val="2B2B2B"/>
                </a:solidFill>
                <a:latin typeface="Calibri"/>
              </a:rPr>
              <a:t> the wait for the operator; the engine still </a:t>
            </a:r>
            <a:r>
              <a:rPr sz="1250" b="1" i="0">
                <a:solidFill>
                  <a:srgbClr val="B31B1B"/>
                </a:solidFill>
                <a:latin typeface="Calibri"/>
              </a:rPr>
              <a:t>proves</a:t>
            </a:r>
            <a:r>
              <a:rPr sz="1250" b="0" i="0">
                <a:solidFill>
                  <a:srgbClr val="2B2B2B"/>
                </a:solidFill>
                <a:latin typeface="Calibri"/>
              </a:rPr>
              <a:t> the drain by polling depth to a confirmed zero.</a:t>
            </a:r>
          </a:p>
        </p:txBody>
      </p:sp>
      <p:sp>
        <p:nvSpPr>
          <p:cNvPr id="9" name="TextBox 8"/>
          <p:cNvSpPr txBox="1"/>
          <p:nvPr/>
        </p:nvSpPr>
        <p:spPr>
          <a:xfrm>
            <a:off x="822960" y="5257800"/>
            <a:ext cx="4892040" cy="365760"/>
          </a:xfrm>
          <a:prstGeom prst="rect">
            <a:avLst/>
          </a:prstGeom>
          <a:noFill/>
        </p:spPr>
        <p:txBody>
          <a:bodyPr wrap="square" anchor="t" lIns="0" rIns="0" tIns="0" bIns="0">
            <a:spAutoFit/>
          </a:bodyPr>
          <a:lstStyle/>
          <a:p>
            <a:pPr algn="l"/>
            <a:r>
              <a:rPr sz="1000" b="0" i="1">
                <a:solidFill>
                  <a:srgbClr val="6B6B6B"/>
                </a:solidFill>
                <a:latin typeface="Calibri"/>
              </a:rPr>
              <a:t>Little (1961), Operations Research 9(3)</a:t>
            </a:r>
          </a:p>
        </p:txBody>
      </p:sp>
      <p:sp>
        <p:nvSpPr>
          <p:cNvPr id="10" name="Rounded Rectangle 9"/>
          <p:cNvSpPr/>
          <p:nvPr/>
        </p:nvSpPr>
        <p:spPr>
          <a:xfrm>
            <a:off x="6217920" y="1600200"/>
            <a:ext cx="5440680" cy="4114800"/>
          </a:xfrm>
          <a:prstGeom prst="roundRect">
            <a:avLst>
              <a:gd name="adj" fmla="val 8000"/>
            </a:avLst>
          </a:prstGeom>
          <a:solidFill>
            <a:srgbClr val="B31B1B"/>
          </a:solidFill>
          <a:ln>
            <a:noFill/>
          </a:ln>
          <a:effectLst/>
          <a:effectLst>
            <a:outerShdw blurRad="70000" dist="38100" dir="5400000" rotWithShape="0">
              <a:srgbClr val="8B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1828800"/>
            <a:ext cx="4937760" cy="365760"/>
          </a:xfrm>
          <a:prstGeom prst="rect">
            <a:avLst/>
          </a:prstGeom>
          <a:noFill/>
        </p:spPr>
        <p:txBody>
          <a:bodyPr wrap="square" anchor="t" lIns="0" rIns="0" tIns="0" bIns="0">
            <a:spAutoFit/>
          </a:bodyPr>
          <a:lstStyle/>
          <a:p>
            <a:pPr algn="l"/>
            <a:r>
              <a:rPr sz="1500" b="1" i="0">
                <a:solidFill>
                  <a:srgbClr val="FFFFFF"/>
                </a:solidFill>
                <a:latin typeface="Cambria"/>
              </a:rPr>
              <a:t>Absorbing Markov chain — reliability</a:t>
            </a:r>
          </a:p>
        </p:txBody>
      </p:sp>
      <p:sp>
        <p:nvSpPr>
          <p:cNvPr id="12" name="Rounded Rectangle 11"/>
          <p:cNvSpPr/>
          <p:nvPr/>
        </p:nvSpPr>
        <p:spPr>
          <a:xfrm>
            <a:off x="6537960" y="2331720"/>
            <a:ext cx="4800600" cy="777240"/>
          </a:xfrm>
          <a:prstGeom prst="roundRect">
            <a:avLst>
              <a:gd name="adj" fmla="val 8000"/>
            </a:avLst>
          </a:prstGeom>
          <a:solidFill>
            <a:srgbClr val="8B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60" y="2331720"/>
            <a:ext cx="4800600" cy="777240"/>
          </a:xfrm>
          <a:prstGeom prst="rect">
            <a:avLst/>
          </a:prstGeom>
          <a:noFill/>
        </p:spPr>
        <p:txBody>
          <a:bodyPr wrap="square" anchor="ctr" lIns="0" rIns="0" tIns="0" bIns="0">
            <a:spAutoFit/>
          </a:bodyPr>
          <a:lstStyle/>
          <a:p>
            <a:pPr algn="ctr"/>
            <a:r>
              <a:rPr sz="1800" b="1" i="0">
                <a:solidFill>
                  <a:srgbClr val="FFCD41"/>
                </a:solidFill>
                <a:latin typeface="Cambria"/>
              </a:rPr>
              <a:t>N = (I − Q)⁻¹</a:t>
            </a:r>
          </a:p>
        </p:txBody>
      </p:sp>
      <p:sp>
        <p:nvSpPr>
          <p:cNvPr id="14" name="TextBox 13"/>
          <p:cNvSpPr txBox="1"/>
          <p:nvPr/>
        </p:nvSpPr>
        <p:spPr>
          <a:xfrm>
            <a:off x="6537960" y="3291840"/>
            <a:ext cx="4892040" cy="2286000"/>
          </a:xfrm>
          <a:prstGeom prst="rect">
            <a:avLst/>
          </a:prstGeom>
          <a:noFill/>
        </p:spPr>
        <p:txBody>
          <a:bodyPr wrap="square" anchor="t" lIns="0" rIns="0" tIns="0" bIns="0">
            <a:spAutoFit/>
          </a:bodyPr>
          <a:lstStyle/>
          <a:p>
            <a:pPr algn="l"/>
            <a:r>
              <a:rPr sz="1250" b="0" i="0">
                <a:solidFill>
                  <a:srgbClr val="FBE3E3"/>
                </a:solidFill>
                <a:latin typeface="Calibri"/>
              </a:rPr>
              <a:t>The state machine IS an absorbing chain — COMPLETED, ROLLED_BACK, ROLLBACK_FAILED absorb. The fundamental matrix gives expected steps to absorption and the probability of each outcome. Shown </a:t>
            </a:r>
            <a:r>
              <a:rPr sz="1250" b="1" i="0">
                <a:solidFill>
                  <a:srgbClr val="FFCD41"/>
                </a:solidFill>
                <a:latin typeface="Calibri"/>
              </a:rPr>
              <a:t>alongside</a:t>
            </a:r>
            <a:r>
              <a:rPr sz="1250" b="0" i="0">
                <a:solidFill>
                  <a:srgbClr val="FBE3E3"/>
                </a:solidFill>
                <a:latin typeface="Calibri"/>
              </a:rPr>
              <a:t> a separate empirical estimate from the real audit log — model and measurement, never conflated.</a:t>
            </a:r>
          </a:p>
        </p:txBody>
      </p:sp>
      <p:sp>
        <p:nvSpPr>
          <p:cNvPr id="15" name="TextBox 14"/>
          <p:cNvSpPr txBox="1"/>
          <p:nvPr/>
        </p:nvSpPr>
        <p:spPr>
          <a:xfrm>
            <a:off x="6537960" y="5257800"/>
            <a:ext cx="4892040" cy="365760"/>
          </a:xfrm>
          <a:prstGeom prst="rect">
            <a:avLst/>
          </a:prstGeom>
          <a:noFill/>
        </p:spPr>
        <p:txBody>
          <a:bodyPr wrap="square" anchor="t" lIns="0" rIns="0" tIns="0" bIns="0">
            <a:spAutoFit/>
          </a:bodyPr>
          <a:lstStyle/>
          <a:p>
            <a:pPr algn="l"/>
            <a:r>
              <a:rPr sz="1000" b="0" i="1">
                <a:solidFill>
                  <a:srgbClr val="FBE3E3"/>
                </a:solidFill>
                <a:latin typeface="Calibri"/>
              </a:rPr>
              <a:t>Kemeny &amp; Snell (1960), Finite Markov Chains</a:t>
            </a:r>
          </a:p>
        </p:txBody>
      </p:sp>
      <p:sp>
        <p:nvSpPr>
          <p:cNvPr id="16" name="TextBox 15"/>
          <p:cNvSpPr txBox="1"/>
          <p:nvPr/>
        </p:nvSpPr>
        <p:spPr>
          <a:xfrm>
            <a:off x="502920" y="6473952"/>
            <a:ext cx="7315200" cy="274320"/>
          </a:xfrm>
          <a:prstGeom prst="rect">
            <a:avLst/>
          </a:prstGeom>
          <a:noFill/>
        </p:spPr>
        <p:txBody>
          <a:bodyPr wrap="square" anchor="t" lIns="0" rIns="0" tIns="0" bIns="0">
            <a:spAutoFit/>
          </a:bodyPr>
          <a:lstStyle/>
          <a:p>
            <a:pPr algn="l"/>
            <a:r>
              <a:rPr sz="900" b="0" i="0">
                <a:solidFill>
                  <a:srgbClr val="6B6B6B"/>
                </a:solidFill>
                <a:latin typeface="Calibri"/>
              </a:rPr>
              <a:t>IntelliAI 2.0  ·  IBM MQ Intelligent Hackathon 2026  ·  Part 2</a:t>
            </a:r>
          </a:p>
        </p:txBody>
      </p:sp>
      <p:sp>
        <p:nvSpPr>
          <p:cNvPr id="17" name="TextBox 16"/>
          <p:cNvSpPr txBox="1"/>
          <p:nvPr/>
        </p:nvSpPr>
        <p:spPr>
          <a:xfrm>
            <a:off x="11338560" y="6473952"/>
            <a:ext cx="457200" cy="274320"/>
          </a:xfrm>
          <a:prstGeom prst="rect">
            <a:avLst/>
          </a:prstGeom>
          <a:noFill/>
        </p:spPr>
        <p:txBody>
          <a:bodyPr wrap="square" anchor="t" lIns="0" rIns="0" tIns="0" bIns="0">
            <a:spAutoFit/>
          </a:bodyPr>
          <a:lstStyle/>
          <a:p>
            <a:pPr algn="r"/>
            <a:r>
              <a:rPr sz="900" b="0" i="0">
                <a:solidFill>
                  <a:srgbClr val="6B6B6B"/>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292608"/>
          </a:xfrm>
          <a:prstGeom prst="rect">
            <a:avLst/>
          </a:prstGeom>
          <a:noFill/>
        </p:spPr>
        <p:txBody>
          <a:bodyPr wrap="square" anchor="t" lIns="0" rIns="0" tIns="0" bIns="0">
            <a:spAutoFit/>
          </a:bodyPr>
          <a:lstStyle/>
          <a:p>
            <a:pPr algn="l"/>
            <a:r>
              <a:rPr sz="1200" b="1" i="0">
                <a:solidFill>
                  <a:srgbClr val="B31B1B"/>
                </a:solidFill>
                <a:latin typeface="Calibri"/>
              </a:rPr>
              <a:t>RESULTS</a:t>
            </a:r>
          </a:p>
        </p:txBody>
      </p:sp>
      <p:sp>
        <p:nvSpPr>
          <p:cNvPr id="3" name="TextBox 2"/>
          <p:cNvSpPr txBox="1"/>
          <p:nvPr/>
        </p:nvSpPr>
        <p:spPr>
          <a:xfrm>
            <a:off x="502920" y="658368"/>
            <a:ext cx="11155680" cy="731520"/>
          </a:xfrm>
          <a:prstGeom prst="rect">
            <a:avLst/>
          </a:prstGeom>
          <a:noFill/>
        </p:spPr>
        <p:txBody>
          <a:bodyPr wrap="square" anchor="t" lIns="0" rIns="0" tIns="0" bIns="0">
            <a:spAutoFit/>
          </a:bodyPr>
          <a:lstStyle/>
          <a:p>
            <a:pPr algn="l"/>
            <a:r>
              <a:rPr sz="2900" b="1" i="0">
                <a:solidFill>
                  <a:srgbClr val="B31B1B"/>
                </a:solidFill>
                <a:latin typeface="Cambria"/>
              </a:rPr>
              <a:t>Run end-to-end on a real MQ fleet</a:t>
            </a:r>
          </a:p>
        </p:txBody>
      </p:sp>
      <p:sp>
        <p:nvSpPr>
          <p:cNvPr id="4" name="Rounded Rectangle 3"/>
          <p:cNvSpPr/>
          <p:nvPr/>
        </p:nvSpPr>
        <p:spPr>
          <a:xfrm>
            <a:off x="502920" y="1554480"/>
            <a:ext cx="5486400" cy="1828800"/>
          </a:xfrm>
          <a:prstGeom prst="roundRect">
            <a:avLst>
              <a:gd name="adj" fmla="val 8000"/>
            </a:avLst>
          </a:prstGeom>
          <a:solidFill>
            <a:srgbClr val="B31B1B"/>
          </a:solidFill>
          <a:ln>
            <a:noFill/>
          </a:ln>
          <a:effectLst/>
          <a:effectLst>
            <a:outerShdw blurRad="70000" dist="38100" dir="5400000" rotWithShape="0">
              <a:srgbClr val="8B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28800"/>
            <a:ext cx="1737360" cy="1280160"/>
          </a:xfrm>
          <a:prstGeom prst="rect">
            <a:avLst/>
          </a:prstGeom>
          <a:noFill/>
        </p:spPr>
        <p:txBody>
          <a:bodyPr wrap="square" anchor="ctr" lIns="0" rIns="0" tIns="0" bIns="0">
            <a:spAutoFit/>
          </a:bodyPr>
          <a:lstStyle/>
          <a:p>
            <a:pPr algn="l"/>
            <a:r>
              <a:rPr sz="4600" b="1" i="0">
                <a:solidFill>
                  <a:srgbClr val="FFCD41"/>
                </a:solidFill>
                <a:latin typeface="Cambria"/>
              </a:rPr>
              <a:t>16</a:t>
            </a:r>
          </a:p>
        </p:txBody>
      </p:sp>
      <p:sp>
        <p:nvSpPr>
          <p:cNvPr id="6" name="TextBox 5"/>
          <p:cNvSpPr txBox="1"/>
          <p:nvPr/>
        </p:nvSpPr>
        <p:spPr>
          <a:xfrm>
            <a:off x="2788920" y="1874519"/>
            <a:ext cx="3017520" cy="640080"/>
          </a:xfrm>
          <a:prstGeom prst="rect">
            <a:avLst/>
          </a:prstGeom>
          <a:noFill/>
        </p:spPr>
        <p:txBody>
          <a:bodyPr wrap="square" anchor="t" lIns="0" rIns="0" tIns="0" bIns="0">
            <a:spAutoFit/>
          </a:bodyPr>
          <a:lstStyle/>
          <a:p>
            <a:pPr algn="l"/>
            <a:r>
              <a:rPr sz="1500" b="1" i="0">
                <a:solidFill>
                  <a:srgbClr val="FFFFFF"/>
                </a:solidFill>
                <a:latin typeface="Cambria"/>
              </a:rPr>
              <a:t>IBM MQ 9.4.5 queue managers</a:t>
            </a:r>
          </a:p>
        </p:txBody>
      </p:sp>
      <p:sp>
        <p:nvSpPr>
          <p:cNvPr id="7" name="TextBox 6"/>
          <p:cNvSpPr txBox="1"/>
          <p:nvPr/>
        </p:nvSpPr>
        <p:spPr>
          <a:xfrm>
            <a:off x="2788920" y="2514600"/>
            <a:ext cx="3017520" cy="777240"/>
          </a:xfrm>
          <a:prstGeom prst="rect">
            <a:avLst/>
          </a:prstGeom>
          <a:noFill/>
        </p:spPr>
        <p:txBody>
          <a:bodyPr wrap="square" anchor="t" lIns="0" rIns="0" tIns="0" bIns="0">
            <a:spAutoFit/>
          </a:bodyPr>
          <a:lstStyle/>
          <a:p>
            <a:pPr algn="l"/>
            <a:r>
              <a:rPr sz="1150" b="0" i="0">
                <a:solidFill>
                  <a:srgbClr val="FBE3E3"/>
                </a:solidFill>
                <a:latin typeface="Calibri"/>
              </a:rPr>
              <a:t>9 shared source + 7 dedicated targets, real pods on OpenShift roco-dev</a:t>
            </a:r>
          </a:p>
        </p:txBody>
      </p:sp>
      <p:sp>
        <p:nvSpPr>
          <p:cNvPr id="8" name="Rounded Rectangle 7"/>
          <p:cNvSpPr/>
          <p:nvPr/>
        </p:nvSpPr>
        <p:spPr>
          <a:xfrm>
            <a:off x="6217920" y="1554480"/>
            <a:ext cx="5486400" cy="1828800"/>
          </a:xfrm>
          <a:prstGeom prst="roundRect">
            <a:avLst>
              <a:gd name="adj" fmla="val 8000"/>
            </a:avLst>
          </a:prstGeom>
          <a:solidFill>
            <a:srgbClr val="FBF6F6"/>
          </a:solidFill>
          <a:ln w="12700">
            <a:solidFill>
              <a:srgbClr val="EAD9D9"/>
            </a:solidFill>
          </a:ln>
          <a:effectLst/>
          <a:effectLst>
            <a:outerShdw blurRad="70000" dist="38100" dir="5400000" rotWithShape="0">
              <a:srgbClr val="8B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59" y="1828800"/>
            <a:ext cx="1737360" cy="1280160"/>
          </a:xfrm>
          <a:prstGeom prst="rect">
            <a:avLst/>
          </a:prstGeom>
          <a:noFill/>
        </p:spPr>
        <p:txBody>
          <a:bodyPr wrap="square" anchor="ctr" lIns="0" rIns="0" tIns="0" bIns="0">
            <a:spAutoFit/>
          </a:bodyPr>
          <a:lstStyle/>
          <a:p>
            <a:pPr algn="l"/>
            <a:r>
              <a:rPr sz="4600" b="1" i="0">
                <a:solidFill>
                  <a:srgbClr val="B31B1B"/>
                </a:solidFill>
                <a:latin typeface="Cambria"/>
              </a:rPr>
              <a:t>7</a:t>
            </a:r>
          </a:p>
        </p:txBody>
      </p:sp>
      <p:sp>
        <p:nvSpPr>
          <p:cNvPr id="10" name="TextBox 9"/>
          <p:cNvSpPr txBox="1"/>
          <p:nvPr/>
        </p:nvSpPr>
        <p:spPr>
          <a:xfrm>
            <a:off x="8503920" y="1874519"/>
            <a:ext cx="3017520" cy="640080"/>
          </a:xfrm>
          <a:prstGeom prst="rect">
            <a:avLst/>
          </a:prstGeom>
          <a:noFill/>
        </p:spPr>
        <p:txBody>
          <a:bodyPr wrap="square" anchor="t" lIns="0" rIns="0" tIns="0" bIns="0">
            <a:spAutoFit/>
          </a:bodyPr>
          <a:lstStyle/>
          <a:p>
            <a:pPr algn="l"/>
            <a:r>
              <a:rPr sz="1500" b="1" i="0">
                <a:solidFill>
                  <a:srgbClr val="B31B1B"/>
                </a:solidFill>
                <a:latin typeface="Cambria"/>
              </a:rPr>
              <a:t>applications migrated</a:t>
            </a:r>
          </a:p>
        </p:txBody>
      </p:sp>
      <p:sp>
        <p:nvSpPr>
          <p:cNvPr id="11" name="TextBox 10"/>
          <p:cNvSpPr txBox="1"/>
          <p:nvPr/>
        </p:nvSpPr>
        <p:spPr>
          <a:xfrm>
            <a:off x="8503920" y="2514600"/>
            <a:ext cx="3017520" cy="777240"/>
          </a:xfrm>
          <a:prstGeom prst="rect">
            <a:avLst/>
          </a:prstGeom>
          <a:noFill/>
        </p:spPr>
        <p:txBody>
          <a:bodyPr wrap="square" anchor="t" lIns="0" rIns="0" tIns="0" bIns="0">
            <a:spAutoFit/>
          </a:bodyPr>
          <a:lstStyle/>
          <a:p>
            <a:pPr algn="l"/>
            <a:r>
              <a:rPr sz="1150" b="0" i="0">
                <a:solidFill>
                  <a:srgbClr val="2B2B2B"/>
                </a:solidFill>
                <a:latin typeface="Calibri"/>
              </a:rPr>
              <a:t>Shared → dedicated, one at a time, each through its own 12-state machine</a:t>
            </a:r>
          </a:p>
        </p:txBody>
      </p:sp>
      <p:sp>
        <p:nvSpPr>
          <p:cNvPr id="12" name="Rounded Rectangle 11"/>
          <p:cNvSpPr/>
          <p:nvPr/>
        </p:nvSpPr>
        <p:spPr>
          <a:xfrm>
            <a:off x="502920" y="3611880"/>
            <a:ext cx="5486400" cy="1828800"/>
          </a:xfrm>
          <a:prstGeom prst="roundRect">
            <a:avLst>
              <a:gd name="adj" fmla="val 8000"/>
            </a:avLst>
          </a:prstGeom>
          <a:solidFill>
            <a:srgbClr val="FBF6F6"/>
          </a:solidFill>
          <a:ln w="12700">
            <a:solidFill>
              <a:srgbClr val="EAD9D9"/>
            </a:solidFill>
          </a:ln>
          <a:effectLst/>
          <a:effectLst>
            <a:outerShdw blurRad="70000" dist="38100" dir="5400000" rotWithShape="0">
              <a:srgbClr val="8B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886200"/>
            <a:ext cx="1737360" cy="1280160"/>
          </a:xfrm>
          <a:prstGeom prst="rect">
            <a:avLst/>
          </a:prstGeom>
          <a:noFill/>
        </p:spPr>
        <p:txBody>
          <a:bodyPr wrap="square" anchor="ctr" lIns="0" rIns="0" tIns="0" bIns="0">
            <a:spAutoFit/>
          </a:bodyPr>
          <a:lstStyle/>
          <a:p>
            <a:pPr algn="l"/>
            <a:r>
              <a:rPr sz="4600" b="1" i="0">
                <a:solidFill>
                  <a:srgbClr val="B31B1B"/>
                </a:solidFill>
                <a:latin typeface="Cambria"/>
              </a:rPr>
              <a:t>0</a:t>
            </a:r>
          </a:p>
        </p:txBody>
      </p:sp>
      <p:sp>
        <p:nvSpPr>
          <p:cNvPr id="14" name="TextBox 13"/>
          <p:cNvSpPr txBox="1"/>
          <p:nvPr/>
        </p:nvSpPr>
        <p:spPr>
          <a:xfrm>
            <a:off x="2788920" y="3931920"/>
            <a:ext cx="3017520" cy="640080"/>
          </a:xfrm>
          <a:prstGeom prst="rect">
            <a:avLst/>
          </a:prstGeom>
          <a:noFill/>
        </p:spPr>
        <p:txBody>
          <a:bodyPr wrap="square" anchor="t" lIns="0" rIns="0" tIns="0" bIns="0">
            <a:spAutoFit/>
          </a:bodyPr>
          <a:lstStyle/>
          <a:p>
            <a:pPr algn="l"/>
            <a:r>
              <a:rPr sz="1500" b="1" i="0">
                <a:solidFill>
                  <a:srgbClr val="B31B1B"/>
                </a:solidFill>
                <a:latin typeface="Cambria"/>
              </a:rPr>
              <a:t>messages lost</a:t>
            </a:r>
          </a:p>
        </p:txBody>
      </p:sp>
      <p:sp>
        <p:nvSpPr>
          <p:cNvPr id="15" name="TextBox 14"/>
          <p:cNvSpPr txBox="1"/>
          <p:nvPr/>
        </p:nvSpPr>
        <p:spPr>
          <a:xfrm>
            <a:off x="2788920" y="4572000"/>
            <a:ext cx="3017520" cy="777240"/>
          </a:xfrm>
          <a:prstGeom prst="rect">
            <a:avLst/>
          </a:prstGeom>
          <a:noFill/>
        </p:spPr>
        <p:txBody>
          <a:bodyPr wrap="square" anchor="t" lIns="0" rIns="0" tIns="0" bIns="0">
            <a:spAutoFit/>
          </a:bodyPr>
          <a:lstStyle/>
          <a:p>
            <a:pPr algn="l"/>
            <a:r>
              <a:rPr sz="1150" b="0" i="0">
                <a:solidFill>
                  <a:srgbClr val="2B2B2B"/>
                </a:solidFill>
                <a:latin typeface="Calibri"/>
              </a:rPr>
              <a:t>Drain proven by polling depth to a confirmed zero on every cutover</a:t>
            </a:r>
          </a:p>
        </p:txBody>
      </p:sp>
      <p:sp>
        <p:nvSpPr>
          <p:cNvPr id="16" name="Rounded Rectangle 15"/>
          <p:cNvSpPr/>
          <p:nvPr/>
        </p:nvSpPr>
        <p:spPr>
          <a:xfrm>
            <a:off x="6217920" y="3611880"/>
            <a:ext cx="5486400" cy="1828800"/>
          </a:xfrm>
          <a:prstGeom prst="roundRect">
            <a:avLst>
              <a:gd name="adj" fmla="val 8000"/>
            </a:avLst>
          </a:prstGeom>
          <a:solidFill>
            <a:srgbClr val="B31B1B"/>
          </a:solidFill>
          <a:ln>
            <a:noFill/>
          </a:ln>
          <a:effectLst/>
          <a:effectLst>
            <a:outerShdw blurRad="70000" dist="38100" dir="5400000" rotWithShape="0">
              <a:srgbClr val="8B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37959" y="3886200"/>
            <a:ext cx="1737360" cy="1280160"/>
          </a:xfrm>
          <a:prstGeom prst="rect">
            <a:avLst/>
          </a:prstGeom>
          <a:noFill/>
        </p:spPr>
        <p:txBody>
          <a:bodyPr wrap="square" anchor="ctr" lIns="0" rIns="0" tIns="0" bIns="0">
            <a:spAutoFit/>
          </a:bodyPr>
          <a:lstStyle/>
          <a:p>
            <a:pPr algn="l"/>
            <a:r>
              <a:rPr sz="4600" b="1" i="0">
                <a:solidFill>
                  <a:srgbClr val="FFCD41"/>
                </a:solidFill>
                <a:latin typeface="Cambria"/>
              </a:rPr>
              <a:t>100%</a:t>
            </a:r>
          </a:p>
        </p:txBody>
      </p:sp>
      <p:sp>
        <p:nvSpPr>
          <p:cNvPr id="18" name="TextBox 17"/>
          <p:cNvSpPr txBox="1"/>
          <p:nvPr/>
        </p:nvSpPr>
        <p:spPr>
          <a:xfrm>
            <a:off x="8503920" y="3931920"/>
            <a:ext cx="3017520" cy="640080"/>
          </a:xfrm>
          <a:prstGeom prst="rect">
            <a:avLst/>
          </a:prstGeom>
          <a:noFill/>
        </p:spPr>
        <p:txBody>
          <a:bodyPr wrap="square" anchor="t" lIns="0" rIns="0" tIns="0" bIns="0">
            <a:spAutoFit/>
          </a:bodyPr>
          <a:lstStyle/>
          <a:p>
            <a:pPr algn="l"/>
            <a:r>
              <a:rPr sz="1500" b="1" i="0">
                <a:solidFill>
                  <a:srgbClr val="FFFFFF"/>
                </a:solidFill>
                <a:latin typeface="Cambria"/>
              </a:rPr>
              <a:t>reversible</a:t>
            </a:r>
          </a:p>
        </p:txBody>
      </p:sp>
      <p:sp>
        <p:nvSpPr>
          <p:cNvPr id="19" name="TextBox 18"/>
          <p:cNvSpPr txBox="1"/>
          <p:nvPr/>
        </p:nvSpPr>
        <p:spPr>
          <a:xfrm>
            <a:off x="8503920" y="4572000"/>
            <a:ext cx="3017520" cy="777240"/>
          </a:xfrm>
          <a:prstGeom prst="rect">
            <a:avLst/>
          </a:prstGeom>
          <a:noFill/>
        </p:spPr>
        <p:txBody>
          <a:bodyPr wrap="square" anchor="t" lIns="0" rIns="0" tIns="0" bIns="0">
            <a:spAutoFit/>
          </a:bodyPr>
          <a:lstStyle/>
          <a:p>
            <a:pPr algn="l"/>
            <a:r>
              <a:rPr sz="1150" b="0" i="0">
                <a:solidFill>
                  <a:srgbClr val="FBE3E3"/>
                </a:solidFill>
                <a:latin typeface="Calibri"/>
              </a:rPr>
              <a:t>Every forward step has a clean inverse; per-app rollback verified live</a:t>
            </a:r>
          </a:p>
        </p:txBody>
      </p:sp>
      <p:sp>
        <p:nvSpPr>
          <p:cNvPr id="20" name="TextBox 19"/>
          <p:cNvSpPr txBox="1"/>
          <p:nvPr/>
        </p:nvSpPr>
        <p:spPr>
          <a:xfrm>
            <a:off x="502920" y="6473952"/>
            <a:ext cx="7315200" cy="274320"/>
          </a:xfrm>
          <a:prstGeom prst="rect">
            <a:avLst/>
          </a:prstGeom>
          <a:noFill/>
        </p:spPr>
        <p:txBody>
          <a:bodyPr wrap="square" anchor="t" lIns="0" rIns="0" tIns="0" bIns="0">
            <a:spAutoFit/>
          </a:bodyPr>
          <a:lstStyle/>
          <a:p>
            <a:pPr algn="l"/>
            <a:r>
              <a:rPr sz="900" b="0" i="0">
                <a:solidFill>
                  <a:srgbClr val="6B6B6B"/>
                </a:solidFill>
                <a:latin typeface="Calibri"/>
              </a:rPr>
              <a:t>IntelliAI 2.0  ·  IBM MQ Intelligent Hackathon 2026  ·  Part 2</a:t>
            </a:r>
          </a:p>
        </p:txBody>
      </p:sp>
      <p:sp>
        <p:nvSpPr>
          <p:cNvPr id="21" name="TextBox 20"/>
          <p:cNvSpPr txBox="1"/>
          <p:nvPr/>
        </p:nvSpPr>
        <p:spPr>
          <a:xfrm>
            <a:off x="11338560" y="6473952"/>
            <a:ext cx="457200" cy="274320"/>
          </a:xfrm>
          <a:prstGeom prst="rect">
            <a:avLst/>
          </a:prstGeom>
          <a:noFill/>
        </p:spPr>
        <p:txBody>
          <a:bodyPr wrap="square" anchor="t" lIns="0" rIns="0" tIns="0" bIns="0">
            <a:spAutoFit/>
          </a:bodyPr>
          <a:lstStyle/>
          <a:p>
            <a:pPr algn="r"/>
            <a:r>
              <a:rPr sz="900" b="0" i="0">
                <a:solidFill>
                  <a:srgbClr val="6B6B6B"/>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292608"/>
          </a:xfrm>
          <a:prstGeom prst="rect">
            <a:avLst/>
          </a:prstGeom>
          <a:noFill/>
        </p:spPr>
        <p:txBody>
          <a:bodyPr wrap="square" anchor="t" lIns="0" rIns="0" tIns="0" bIns="0">
            <a:spAutoFit/>
          </a:bodyPr>
          <a:lstStyle/>
          <a:p>
            <a:pPr algn="l"/>
            <a:r>
              <a:rPr sz="1200" b="1" i="0">
                <a:solidFill>
                  <a:srgbClr val="B31B1B"/>
                </a:solidFill>
                <a:latin typeface="Calibri"/>
              </a:rPr>
              <a:t>ENTERPRISE-GRADE</a:t>
            </a:r>
          </a:p>
        </p:txBody>
      </p:sp>
      <p:sp>
        <p:nvSpPr>
          <p:cNvPr id="3" name="TextBox 2"/>
          <p:cNvSpPr txBox="1"/>
          <p:nvPr/>
        </p:nvSpPr>
        <p:spPr>
          <a:xfrm>
            <a:off x="502920" y="658368"/>
            <a:ext cx="11155680" cy="731520"/>
          </a:xfrm>
          <a:prstGeom prst="rect">
            <a:avLst/>
          </a:prstGeom>
          <a:noFill/>
        </p:spPr>
        <p:txBody>
          <a:bodyPr wrap="square" anchor="t" lIns="0" rIns="0" tIns="0" bIns="0">
            <a:spAutoFit/>
          </a:bodyPr>
          <a:lstStyle/>
          <a:p>
            <a:pPr algn="l"/>
            <a:r>
              <a:rPr sz="2900" b="1" i="0">
                <a:solidFill>
                  <a:srgbClr val="B31B1B"/>
                </a:solidFill>
                <a:latin typeface="Cambria"/>
              </a:rPr>
              <a:t>Built like production, not a prototype</a:t>
            </a:r>
          </a:p>
        </p:txBody>
      </p:sp>
      <p:sp>
        <p:nvSpPr>
          <p:cNvPr id="4" name="Rounded Rectangle 3"/>
          <p:cNvSpPr/>
          <p:nvPr/>
        </p:nvSpPr>
        <p:spPr>
          <a:xfrm>
            <a:off x="502920" y="1554480"/>
            <a:ext cx="5486400" cy="1783080"/>
          </a:xfrm>
          <a:prstGeom prst="roundRect">
            <a:avLst>
              <a:gd name="adj" fmla="val 8000"/>
            </a:avLst>
          </a:prstGeom>
          <a:solidFill>
            <a:srgbClr val="FBF6F6"/>
          </a:solidFill>
          <a:ln w="12700">
            <a:solidFill>
              <a:srgbClr val="EAD9D9"/>
            </a:solidFill>
          </a:ln>
          <a:effectLst/>
          <a:effectLst>
            <a:outerShdw blurRad="70000" dist="38100" dir="5400000" rotWithShape="0">
              <a:srgbClr val="8B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1847088"/>
            <a:ext cx="457200" cy="457200"/>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847088"/>
            <a:ext cx="457200" cy="457200"/>
          </a:xfrm>
          <a:prstGeom prst="rect">
            <a:avLst/>
          </a:prstGeom>
          <a:noFill/>
        </p:spPr>
        <p:txBody>
          <a:bodyPr wrap="square" anchor="ctr" lIns="0" rIns="0" tIns="0" bIns="0">
            <a:spAutoFit/>
          </a:bodyPr>
          <a:lstStyle/>
          <a:p>
            <a:pPr algn="ctr"/>
            <a:r>
              <a:rPr sz="1700" b="1" i="0">
                <a:solidFill>
                  <a:srgbClr val="FFCD41"/>
                </a:solidFill>
                <a:latin typeface="Calibri"/>
              </a:rPr>
              <a:t>✓</a:t>
            </a:r>
          </a:p>
        </p:txBody>
      </p:sp>
      <p:sp>
        <p:nvSpPr>
          <p:cNvPr id="7" name="TextBox 6"/>
          <p:cNvSpPr txBox="1"/>
          <p:nvPr/>
        </p:nvSpPr>
        <p:spPr>
          <a:xfrm>
            <a:off x="1417320" y="1828800"/>
            <a:ext cx="4389120" cy="502920"/>
          </a:xfrm>
          <a:prstGeom prst="rect">
            <a:avLst/>
          </a:prstGeom>
          <a:noFill/>
        </p:spPr>
        <p:txBody>
          <a:bodyPr wrap="square" anchor="ctr" lIns="0" rIns="0" tIns="0" bIns="0">
            <a:spAutoFit/>
          </a:bodyPr>
          <a:lstStyle/>
          <a:p>
            <a:pPr algn="l"/>
            <a:r>
              <a:rPr sz="1550" b="1" i="0">
                <a:solidFill>
                  <a:srgbClr val="B31B1B"/>
                </a:solidFill>
                <a:latin typeface="Cambria"/>
              </a:rPr>
              <a:t>Audit as evidence</a:t>
            </a:r>
          </a:p>
        </p:txBody>
      </p:sp>
      <p:sp>
        <p:nvSpPr>
          <p:cNvPr id="8" name="TextBox 7"/>
          <p:cNvSpPr txBox="1"/>
          <p:nvPr/>
        </p:nvSpPr>
        <p:spPr>
          <a:xfrm>
            <a:off x="813816" y="2423160"/>
            <a:ext cx="4892040" cy="822960"/>
          </a:xfrm>
          <a:prstGeom prst="rect">
            <a:avLst/>
          </a:prstGeom>
          <a:noFill/>
        </p:spPr>
        <p:txBody>
          <a:bodyPr wrap="square" anchor="t" lIns="0" rIns="0" tIns="0" bIns="0">
            <a:spAutoFit/>
          </a:bodyPr>
          <a:lstStyle/>
          <a:p>
            <a:pPr algn="l"/>
            <a:r>
              <a:rPr sz="1150" b="0" i="0">
                <a:solidFill>
                  <a:srgbClr val="2B2B2B"/>
                </a:solidFill>
                <a:latin typeface="Calibri"/>
              </a:rPr>
              <a:t>Lamport-clocked, append-only log with full request/response payloads and correlation IDs — one GET /audit/{lamport} answers who did what, when.</a:t>
            </a:r>
          </a:p>
        </p:txBody>
      </p:sp>
      <p:sp>
        <p:nvSpPr>
          <p:cNvPr id="9" name="Rounded Rectangle 8"/>
          <p:cNvSpPr/>
          <p:nvPr/>
        </p:nvSpPr>
        <p:spPr>
          <a:xfrm>
            <a:off x="6217920" y="1554480"/>
            <a:ext cx="5486400" cy="1783080"/>
          </a:xfrm>
          <a:prstGeom prst="roundRect">
            <a:avLst>
              <a:gd name="adj" fmla="val 8000"/>
            </a:avLst>
          </a:prstGeom>
          <a:solidFill>
            <a:srgbClr val="FBF6F6"/>
          </a:solidFill>
          <a:ln w="12700">
            <a:solidFill>
              <a:srgbClr val="EAD9D9"/>
            </a:solidFill>
          </a:ln>
          <a:effectLst/>
          <a:effectLst>
            <a:outerShdw blurRad="70000" dist="38100" dir="5400000" rotWithShape="0">
              <a:srgbClr val="8B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92240" y="1847088"/>
            <a:ext cx="457200" cy="457200"/>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847088"/>
            <a:ext cx="457200" cy="457200"/>
          </a:xfrm>
          <a:prstGeom prst="rect">
            <a:avLst/>
          </a:prstGeom>
          <a:noFill/>
        </p:spPr>
        <p:txBody>
          <a:bodyPr wrap="square" anchor="ctr" lIns="0" rIns="0" tIns="0" bIns="0">
            <a:spAutoFit/>
          </a:bodyPr>
          <a:lstStyle/>
          <a:p>
            <a:pPr algn="ctr"/>
            <a:r>
              <a:rPr sz="1700" b="1" i="0">
                <a:solidFill>
                  <a:srgbClr val="FFCD41"/>
                </a:solidFill>
                <a:latin typeface="Calibri"/>
              </a:rPr>
              <a:t>✓</a:t>
            </a:r>
          </a:p>
        </p:txBody>
      </p:sp>
      <p:sp>
        <p:nvSpPr>
          <p:cNvPr id="12" name="TextBox 11"/>
          <p:cNvSpPr txBox="1"/>
          <p:nvPr/>
        </p:nvSpPr>
        <p:spPr>
          <a:xfrm>
            <a:off x="7132320" y="1828800"/>
            <a:ext cx="4389120" cy="502920"/>
          </a:xfrm>
          <a:prstGeom prst="rect">
            <a:avLst/>
          </a:prstGeom>
          <a:noFill/>
        </p:spPr>
        <p:txBody>
          <a:bodyPr wrap="square" anchor="ctr" lIns="0" rIns="0" tIns="0" bIns="0">
            <a:spAutoFit/>
          </a:bodyPr>
          <a:lstStyle/>
          <a:p>
            <a:pPr algn="l"/>
            <a:r>
              <a:rPr sz="1550" b="1" i="0">
                <a:solidFill>
                  <a:srgbClr val="B31B1B"/>
                </a:solidFill>
                <a:latin typeface="Cambria"/>
              </a:rPr>
              <a:t>Evidence bundles</a:t>
            </a:r>
          </a:p>
        </p:txBody>
      </p:sp>
      <p:sp>
        <p:nvSpPr>
          <p:cNvPr id="13" name="TextBox 12"/>
          <p:cNvSpPr txBox="1"/>
          <p:nvPr/>
        </p:nvSpPr>
        <p:spPr>
          <a:xfrm>
            <a:off x="6528816" y="2423160"/>
            <a:ext cx="4892040" cy="822960"/>
          </a:xfrm>
          <a:prstGeom prst="rect">
            <a:avLst/>
          </a:prstGeom>
          <a:noFill/>
        </p:spPr>
        <p:txBody>
          <a:bodyPr wrap="square" anchor="t" lIns="0" rIns="0" tIns="0" bIns="0">
            <a:spAutoFit/>
          </a:bodyPr>
          <a:lstStyle/>
          <a:p>
            <a:pPr algn="l"/>
            <a:r>
              <a:rPr sz="1150" b="0" i="0">
                <a:solidFill>
                  <a:srgbClr val="2B2B2B"/>
                </a:solidFill>
                <a:latin typeface="Calibri"/>
              </a:rPr>
              <a:t>Per-migration zip: audit slice, MQSC commands, validation results, before/after topology snapshots — the kind of artifact that survives an internal audit.</a:t>
            </a:r>
          </a:p>
        </p:txBody>
      </p:sp>
      <p:sp>
        <p:nvSpPr>
          <p:cNvPr id="14" name="Rounded Rectangle 13"/>
          <p:cNvSpPr/>
          <p:nvPr/>
        </p:nvSpPr>
        <p:spPr>
          <a:xfrm>
            <a:off x="502920" y="3566160"/>
            <a:ext cx="5486400" cy="1783080"/>
          </a:xfrm>
          <a:prstGeom prst="roundRect">
            <a:avLst>
              <a:gd name="adj" fmla="val 8000"/>
            </a:avLst>
          </a:prstGeom>
          <a:solidFill>
            <a:srgbClr val="FBF6F6"/>
          </a:solidFill>
          <a:ln w="12700">
            <a:solidFill>
              <a:srgbClr val="EAD9D9"/>
            </a:solidFill>
          </a:ln>
          <a:effectLst/>
          <a:effectLst>
            <a:outerShdw blurRad="70000" dist="38100" dir="5400000" rotWithShape="0">
              <a:srgbClr val="8B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77240" y="3858768"/>
            <a:ext cx="457200" cy="457200"/>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858768"/>
            <a:ext cx="457200" cy="457200"/>
          </a:xfrm>
          <a:prstGeom prst="rect">
            <a:avLst/>
          </a:prstGeom>
          <a:noFill/>
        </p:spPr>
        <p:txBody>
          <a:bodyPr wrap="square" anchor="ctr" lIns="0" rIns="0" tIns="0" bIns="0">
            <a:spAutoFit/>
          </a:bodyPr>
          <a:lstStyle/>
          <a:p>
            <a:pPr algn="ctr"/>
            <a:r>
              <a:rPr sz="1700" b="1" i="0">
                <a:solidFill>
                  <a:srgbClr val="FFCD41"/>
                </a:solidFill>
                <a:latin typeface="Calibri"/>
              </a:rPr>
              <a:t>✓</a:t>
            </a:r>
          </a:p>
        </p:txBody>
      </p:sp>
      <p:sp>
        <p:nvSpPr>
          <p:cNvPr id="17" name="TextBox 16"/>
          <p:cNvSpPr txBox="1"/>
          <p:nvPr/>
        </p:nvSpPr>
        <p:spPr>
          <a:xfrm>
            <a:off x="1417320" y="3840480"/>
            <a:ext cx="4389120" cy="502920"/>
          </a:xfrm>
          <a:prstGeom prst="rect">
            <a:avLst/>
          </a:prstGeom>
          <a:noFill/>
        </p:spPr>
        <p:txBody>
          <a:bodyPr wrap="square" anchor="ctr" lIns="0" rIns="0" tIns="0" bIns="0">
            <a:spAutoFit/>
          </a:bodyPr>
          <a:lstStyle/>
          <a:p>
            <a:pPr algn="l"/>
            <a:r>
              <a:rPr sz="1550" b="1" i="0">
                <a:solidFill>
                  <a:srgbClr val="B31B1B"/>
                </a:solidFill>
                <a:latin typeface="Cambria"/>
              </a:rPr>
              <a:t>Observability</a:t>
            </a:r>
          </a:p>
        </p:txBody>
      </p:sp>
      <p:sp>
        <p:nvSpPr>
          <p:cNvPr id="18" name="TextBox 17"/>
          <p:cNvSpPr txBox="1"/>
          <p:nvPr/>
        </p:nvSpPr>
        <p:spPr>
          <a:xfrm>
            <a:off x="813816" y="4434840"/>
            <a:ext cx="4892040" cy="822960"/>
          </a:xfrm>
          <a:prstGeom prst="rect">
            <a:avLst/>
          </a:prstGeom>
          <a:noFill/>
        </p:spPr>
        <p:txBody>
          <a:bodyPr wrap="square" anchor="t" lIns="0" rIns="0" tIns="0" bIns="0">
            <a:spAutoFit/>
          </a:bodyPr>
          <a:lstStyle/>
          <a:p>
            <a:pPr algn="l"/>
            <a:r>
              <a:rPr sz="1150" b="0" i="0">
                <a:solidFill>
                  <a:srgbClr val="2B2B2B"/>
                </a:solidFill>
                <a:latin typeface="Calibri"/>
              </a:rPr>
              <a:t>Separate liveness/readiness endpoints, structured JSON logging, Prometheus metrics, OpenTelemetry tracing.</a:t>
            </a:r>
          </a:p>
        </p:txBody>
      </p:sp>
      <p:sp>
        <p:nvSpPr>
          <p:cNvPr id="19" name="Rounded Rectangle 18"/>
          <p:cNvSpPr/>
          <p:nvPr/>
        </p:nvSpPr>
        <p:spPr>
          <a:xfrm>
            <a:off x="6217920" y="3566160"/>
            <a:ext cx="5486400" cy="1783080"/>
          </a:xfrm>
          <a:prstGeom prst="roundRect">
            <a:avLst>
              <a:gd name="adj" fmla="val 8000"/>
            </a:avLst>
          </a:prstGeom>
          <a:solidFill>
            <a:srgbClr val="FBF6F6"/>
          </a:solidFill>
          <a:ln w="12700">
            <a:solidFill>
              <a:srgbClr val="EAD9D9"/>
            </a:solidFill>
          </a:ln>
          <a:effectLst/>
          <a:effectLst>
            <a:outerShdw blurRad="70000" dist="38100" dir="5400000" rotWithShape="0">
              <a:srgbClr val="8B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92240" y="3858768"/>
            <a:ext cx="457200" cy="457200"/>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3858768"/>
            <a:ext cx="457200" cy="457200"/>
          </a:xfrm>
          <a:prstGeom prst="rect">
            <a:avLst/>
          </a:prstGeom>
          <a:noFill/>
        </p:spPr>
        <p:txBody>
          <a:bodyPr wrap="square" anchor="ctr" lIns="0" rIns="0" tIns="0" bIns="0">
            <a:spAutoFit/>
          </a:bodyPr>
          <a:lstStyle/>
          <a:p>
            <a:pPr algn="ctr"/>
            <a:r>
              <a:rPr sz="1700" b="1" i="0">
                <a:solidFill>
                  <a:srgbClr val="FFCD41"/>
                </a:solidFill>
                <a:latin typeface="Calibri"/>
              </a:rPr>
              <a:t>✓</a:t>
            </a:r>
          </a:p>
        </p:txBody>
      </p:sp>
      <p:sp>
        <p:nvSpPr>
          <p:cNvPr id="22" name="TextBox 21"/>
          <p:cNvSpPr txBox="1"/>
          <p:nvPr/>
        </p:nvSpPr>
        <p:spPr>
          <a:xfrm>
            <a:off x="7132320" y="3840480"/>
            <a:ext cx="4389120" cy="502920"/>
          </a:xfrm>
          <a:prstGeom prst="rect">
            <a:avLst/>
          </a:prstGeom>
          <a:noFill/>
        </p:spPr>
        <p:txBody>
          <a:bodyPr wrap="square" anchor="ctr" lIns="0" rIns="0" tIns="0" bIns="0">
            <a:spAutoFit/>
          </a:bodyPr>
          <a:lstStyle/>
          <a:p>
            <a:pPr algn="l"/>
            <a:r>
              <a:rPr sz="1550" b="1" i="0">
                <a:solidFill>
                  <a:srgbClr val="B31B1B"/>
                </a:solidFill>
                <a:latin typeface="Cambria"/>
              </a:rPr>
              <a:t>Idempotent &amp; crash-safe</a:t>
            </a:r>
          </a:p>
        </p:txBody>
      </p:sp>
      <p:sp>
        <p:nvSpPr>
          <p:cNvPr id="23" name="TextBox 22"/>
          <p:cNvSpPr txBox="1"/>
          <p:nvPr/>
        </p:nvSpPr>
        <p:spPr>
          <a:xfrm>
            <a:off x="6528816" y="4434840"/>
            <a:ext cx="4892040" cy="822960"/>
          </a:xfrm>
          <a:prstGeom prst="rect">
            <a:avLst/>
          </a:prstGeom>
          <a:noFill/>
        </p:spPr>
        <p:txBody>
          <a:bodyPr wrap="square" anchor="t" lIns="0" rIns="0" tIns="0" bIns="0">
            <a:spAutoFit/>
          </a:bodyPr>
          <a:lstStyle/>
          <a:p>
            <a:pPr algn="l"/>
            <a:r>
              <a:rPr sz="1150" b="0" i="0">
                <a:solidFill>
                  <a:srgbClr val="2B2B2B"/>
                </a:solidFill>
                <a:latin typeface="Calibri"/>
              </a:rPr>
              <a:t>SQLite in WAL mode on a persistent volume; a restarted BCL recovers state and the forward path can be safely re-run.</a:t>
            </a:r>
          </a:p>
        </p:txBody>
      </p:sp>
      <p:sp>
        <p:nvSpPr>
          <p:cNvPr id="24" name="TextBox 23"/>
          <p:cNvSpPr txBox="1"/>
          <p:nvPr/>
        </p:nvSpPr>
        <p:spPr>
          <a:xfrm>
            <a:off x="502920" y="6473952"/>
            <a:ext cx="7315200" cy="274320"/>
          </a:xfrm>
          <a:prstGeom prst="rect">
            <a:avLst/>
          </a:prstGeom>
          <a:noFill/>
        </p:spPr>
        <p:txBody>
          <a:bodyPr wrap="square" anchor="t" lIns="0" rIns="0" tIns="0" bIns="0">
            <a:spAutoFit/>
          </a:bodyPr>
          <a:lstStyle/>
          <a:p>
            <a:pPr algn="l"/>
            <a:r>
              <a:rPr sz="900" b="0" i="0">
                <a:solidFill>
                  <a:srgbClr val="6B6B6B"/>
                </a:solidFill>
                <a:latin typeface="Calibri"/>
              </a:rPr>
              <a:t>IntelliAI 2.0  ·  IBM MQ Intelligent Hackathon 2026  ·  Part 2</a:t>
            </a:r>
          </a:p>
        </p:txBody>
      </p:sp>
      <p:sp>
        <p:nvSpPr>
          <p:cNvPr id="25" name="TextBox 24"/>
          <p:cNvSpPr txBox="1"/>
          <p:nvPr/>
        </p:nvSpPr>
        <p:spPr>
          <a:xfrm>
            <a:off x="11338560" y="6473952"/>
            <a:ext cx="457200" cy="274320"/>
          </a:xfrm>
          <a:prstGeom prst="rect">
            <a:avLst/>
          </a:prstGeom>
          <a:noFill/>
        </p:spPr>
        <p:txBody>
          <a:bodyPr wrap="square" anchor="t" lIns="0" rIns="0" tIns="0" bIns="0">
            <a:spAutoFit/>
          </a:bodyPr>
          <a:lstStyle/>
          <a:p>
            <a:pPr algn="r"/>
            <a:r>
              <a:rPr sz="900" b="0" i="0">
                <a:solidFill>
                  <a:srgbClr val="6B6B6B"/>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292608"/>
          </a:xfrm>
          <a:prstGeom prst="rect">
            <a:avLst/>
          </a:prstGeom>
          <a:noFill/>
        </p:spPr>
        <p:txBody>
          <a:bodyPr wrap="square" anchor="t" lIns="0" rIns="0" tIns="0" bIns="0">
            <a:spAutoFit/>
          </a:bodyPr>
          <a:lstStyle/>
          <a:p>
            <a:pPr algn="l"/>
            <a:r>
              <a:rPr sz="1200" b="1" i="0">
                <a:solidFill>
                  <a:srgbClr val="B31B1B"/>
                </a:solidFill>
                <a:latin typeface="Calibri"/>
              </a:rPr>
              <a:t>HONEST ABOUT THE EDGES</a:t>
            </a:r>
          </a:p>
        </p:txBody>
      </p:sp>
      <p:sp>
        <p:nvSpPr>
          <p:cNvPr id="3" name="TextBox 2"/>
          <p:cNvSpPr txBox="1"/>
          <p:nvPr/>
        </p:nvSpPr>
        <p:spPr>
          <a:xfrm>
            <a:off x="502920" y="658368"/>
            <a:ext cx="11155680" cy="731520"/>
          </a:xfrm>
          <a:prstGeom prst="rect">
            <a:avLst/>
          </a:prstGeom>
          <a:noFill/>
        </p:spPr>
        <p:txBody>
          <a:bodyPr wrap="square" anchor="t" lIns="0" rIns="0" tIns="0" bIns="0">
            <a:spAutoFit/>
          </a:bodyPr>
          <a:lstStyle/>
          <a:p>
            <a:pPr algn="l"/>
            <a:r>
              <a:rPr sz="2900" b="1" i="0">
                <a:solidFill>
                  <a:srgbClr val="B31B1B"/>
                </a:solidFill>
                <a:latin typeface="Cambria"/>
              </a:rPr>
              <a:t>What it doesn't claim — and what's next</a:t>
            </a:r>
          </a:p>
        </p:txBody>
      </p:sp>
      <p:sp>
        <p:nvSpPr>
          <p:cNvPr id="4" name="Rounded Rectangle 3"/>
          <p:cNvSpPr/>
          <p:nvPr/>
        </p:nvSpPr>
        <p:spPr>
          <a:xfrm>
            <a:off x="502920" y="1600200"/>
            <a:ext cx="5532120" cy="4114800"/>
          </a:xfrm>
          <a:prstGeom prst="roundRect">
            <a:avLst>
              <a:gd name="adj" fmla="val 8000"/>
            </a:avLst>
          </a:prstGeom>
          <a:solidFill>
            <a:srgbClr val="FBF6F6"/>
          </a:solidFill>
          <a:ln w="12700">
            <a:solidFill>
              <a:srgbClr val="EAD9D9"/>
            </a:solidFill>
          </a:ln>
          <a:effectLst/>
          <a:effectLst>
            <a:outerShdw blurRad="70000" dist="38100" dir="5400000" rotWithShape="0">
              <a:srgbClr val="8B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28800"/>
            <a:ext cx="4937760" cy="365760"/>
          </a:xfrm>
          <a:prstGeom prst="rect">
            <a:avLst/>
          </a:prstGeom>
          <a:noFill/>
        </p:spPr>
        <p:txBody>
          <a:bodyPr wrap="square" anchor="t" lIns="0" rIns="0" tIns="0" bIns="0">
            <a:spAutoFit/>
          </a:bodyPr>
          <a:lstStyle/>
          <a:p>
            <a:pPr algn="l"/>
            <a:r>
              <a:rPr sz="1500" b="1" i="0">
                <a:solidFill>
                  <a:srgbClr val="B31B1B"/>
                </a:solidFill>
                <a:latin typeface="Cambria"/>
              </a:rPr>
              <a:t>Stated limits (earning trust)</a:t>
            </a:r>
          </a:p>
        </p:txBody>
      </p:sp>
      <p:sp>
        <p:nvSpPr>
          <p:cNvPr id="6" name="TextBox 5"/>
          <p:cNvSpPr txBox="1"/>
          <p:nvPr/>
        </p:nvSpPr>
        <p:spPr>
          <a:xfrm>
            <a:off x="822960" y="2331720"/>
            <a:ext cx="4937760" cy="3200400"/>
          </a:xfrm>
          <a:prstGeom prst="rect">
            <a:avLst/>
          </a:prstGeom>
          <a:noFill/>
        </p:spPr>
        <p:txBody>
          <a:bodyPr wrap="square" anchor="t" lIns="0" rIns="0" tIns="0" bIns="0">
            <a:spAutoFit/>
          </a:bodyPr>
          <a:lstStyle/>
          <a:p>
            <a:pPr algn="l"/>
            <a:r>
              <a:rPr sz="1250" b="0" i="0">
                <a:solidFill>
                  <a:srgbClr val="2B2B2B"/>
                </a:solidFill>
                <a:latin typeface="Calibri"/>
              </a:rPr>
              <a:t/>
            </a:r>
          </a:p>
          <a:p>
            <a:pPr algn="l">
              <a:spcAft>
                <a:spcPts val="700"/>
              </a:spcAft>
              <a:buChar char="•"/>
            </a:pPr>
            <a:r>
              <a:rPr sz="1200" b="0" i="0">
                <a:solidFill>
                  <a:srgbClr val="2B2B2B"/>
                </a:solidFill>
                <a:latin typeface="Calibri"/>
              </a:rPr>
              <a:t>Formal next-state discipline, but no model checker is run — we don't claim machine-checked correctness.</a:t>
            </a:r>
          </a:p>
          <a:p>
            <a:pPr algn="l">
              <a:spcAft>
                <a:spcPts val="700"/>
              </a:spcAft>
              <a:buChar char="•"/>
            </a:pPr>
            <a:r>
              <a:rPr sz="1200" b="0" i="0">
                <a:solidFill>
                  <a:srgbClr val="2B2B2B"/>
                </a:solidFill>
                <a:latin typeface="Calibri"/>
              </a:rPr>
              <a:t>The Markov figure is a model, shown alongside — never merged with — the empirical audit estimate.</a:t>
            </a:r>
          </a:p>
          <a:p>
            <a:pPr algn="l">
              <a:spcAft>
                <a:spcPts val="700"/>
              </a:spcAft>
              <a:buChar char="•"/>
            </a:pPr>
            <a:r>
              <a:rPr sz="1200" b="0" i="0">
                <a:solidFill>
                  <a:srgbClr val="2B2B2B"/>
                </a:solidFill>
                <a:latin typeface="Calibri"/>
              </a:rPr>
              <a:t>Little's Law is a prediction; the drain is always confirmed by polling to zero.</a:t>
            </a:r>
          </a:p>
          <a:p>
            <a:pPr algn="l">
              <a:spcAft>
                <a:spcPts val="700"/>
              </a:spcAft>
              <a:buChar char="•"/>
            </a:pPr>
            <a:r>
              <a:rPr sz="1200" b="0" i="0">
                <a:solidFill>
                  <a:srgbClr val="2B2B2B"/>
                </a:solidFill>
                <a:latin typeface="Calibri"/>
              </a:rPr>
              <a:t>BCL runs single-instance; control-plane HA is out of scope, though state recovers on restart.</a:t>
            </a:r>
          </a:p>
          <a:p>
            <a:pPr algn="l">
              <a:spcAft>
                <a:spcPts val="700"/>
              </a:spcAft>
              <a:buChar char="•"/>
            </a:pPr>
            <a:r>
              <a:rPr sz="1200" b="0" i="0">
                <a:solidFill>
                  <a:srgbClr val="2B2B2B"/>
                </a:solidFill>
                <a:latin typeface="Calibri"/>
              </a:rPr>
              <a:t>Single OpenShift namespace; cross-app message dependencies out of scope.</a:t>
            </a:r>
          </a:p>
        </p:txBody>
      </p:sp>
      <p:sp>
        <p:nvSpPr>
          <p:cNvPr id="7" name="Rounded Rectangle 6"/>
          <p:cNvSpPr/>
          <p:nvPr/>
        </p:nvSpPr>
        <p:spPr>
          <a:xfrm>
            <a:off x="6217920" y="1600200"/>
            <a:ext cx="5440680" cy="4114800"/>
          </a:xfrm>
          <a:prstGeom prst="roundRect">
            <a:avLst>
              <a:gd name="adj" fmla="val 8000"/>
            </a:avLst>
          </a:prstGeom>
          <a:solidFill>
            <a:srgbClr val="B31B1B"/>
          </a:solidFill>
          <a:ln>
            <a:noFill/>
          </a:ln>
          <a:effectLst/>
          <a:effectLst>
            <a:outerShdw blurRad="70000" dist="38100" dir="5400000" rotWithShape="0">
              <a:srgbClr val="8B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1828800"/>
            <a:ext cx="4937760" cy="365760"/>
          </a:xfrm>
          <a:prstGeom prst="rect">
            <a:avLst/>
          </a:prstGeom>
          <a:noFill/>
        </p:spPr>
        <p:txBody>
          <a:bodyPr wrap="square" anchor="t" lIns="0" rIns="0" tIns="0" bIns="0">
            <a:spAutoFit/>
          </a:bodyPr>
          <a:lstStyle/>
          <a:p>
            <a:pPr algn="l"/>
            <a:r>
              <a:rPr sz="1500" b="1" i="0">
                <a:solidFill>
                  <a:srgbClr val="FFFFFF"/>
                </a:solidFill>
                <a:latin typeface="Cambria"/>
              </a:rPr>
              <a:t>Where it goes next</a:t>
            </a:r>
          </a:p>
        </p:txBody>
      </p:sp>
      <p:sp>
        <p:nvSpPr>
          <p:cNvPr id="9" name="TextBox 8"/>
          <p:cNvSpPr txBox="1"/>
          <p:nvPr/>
        </p:nvSpPr>
        <p:spPr>
          <a:xfrm>
            <a:off x="6537960" y="2331720"/>
            <a:ext cx="4937760" cy="3200400"/>
          </a:xfrm>
          <a:prstGeom prst="rect">
            <a:avLst/>
          </a:prstGeom>
          <a:noFill/>
        </p:spPr>
        <p:txBody>
          <a:bodyPr wrap="square" anchor="t" lIns="0" rIns="0" tIns="0" bIns="0">
            <a:spAutoFit/>
          </a:bodyPr>
          <a:lstStyle/>
          <a:p>
            <a:pPr algn="l"/>
            <a:r>
              <a:rPr sz="1250" b="0" i="0">
                <a:solidFill>
                  <a:srgbClr val="2B2B2B"/>
                </a:solidFill>
                <a:latin typeface="Calibri"/>
              </a:rPr>
              <a:t/>
            </a:r>
          </a:p>
          <a:p>
            <a:pPr algn="l">
              <a:spcAft>
                <a:spcPts val="700"/>
              </a:spcAft>
              <a:buChar char="•"/>
            </a:pPr>
            <a:r>
              <a:rPr sz="1200" b="0" i="0">
                <a:solidFill>
                  <a:srgbClr val="FBE3E3"/>
                </a:solidFill>
                <a:latin typeface="Calibri"/>
              </a:rPr>
              <a:t>Control-plane HA — multiple BCL instances behind a shared state store.</a:t>
            </a:r>
          </a:p>
          <a:p>
            <a:pPr algn="l">
              <a:spcAft>
                <a:spcPts val="700"/>
              </a:spcAft>
              <a:buChar char="•"/>
            </a:pPr>
            <a:r>
              <a:rPr sz="1200" b="0" i="0">
                <a:solidFill>
                  <a:srgbClr val="FBE3E3"/>
                </a:solidFill>
                <a:latin typeface="Calibri"/>
              </a:rPr>
              <a:t>Postgres at larger estate scale, replacing single-writer SQLite.</a:t>
            </a:r>
          </a:p>
          <a:p>
            <a:pPr algn="l">
              <a:spcAft>
                <a:spcPts val="700"/>
              </a:spcAft>
              <a:buChar char="•"/>
            </a:pPr>
            <a:r>
              <a:rPr sz="1200" b="0" i="0">
                <a:solidFill>
                  <a:srgbClr val="FBE3E3"/>
                </a:solidFill>
                <a:latin typeface="Calibri"/>
              </a:rPr>
              <a:t>Cross-namespace and cross-cluster migrations.</a:t>
            </a:r>
          </a:p>
          <a:p>
            <a:pPr algn="l">
              <a:spcAft>
                <a:spcPts val="700"/>
              </a:spcAft>
              <a:buChar char="•"/>
            </a:pPr>
            <a:r>
              <a:rPr sz="1200" b="0" i="0">
                <a:solidFill>
                  <a:srgbClr val="FBE3E3"/>
                </a:solidFill>
                <a:latin typeface="Calibri"/>
              </a:rPr>
              <a:t>Cross-application message dependencies (shared reply-to relationships).</a:t>
            </a:r>
          </a:p>
          <a:p>
            <a:pPr algn="l">
              <a:spcAft>
                <a:spcPts val="700"/>
              </a:spcAft>
              <a:buChar char="•"/>
            </a:pPr>
            <a:r>
              <a:rPr sz="1200" b="0" i="0">
                <a:solidFill>
                  <a:srgbClr val="FBE3E3"/>
                </a:solidFill>
                <a:latin typeface="Calibri"/>
              </a:rPr>
              <a:t>Model-checked verification of the state machine invariants.</a:t>
            </a:r>
          </a:p>
        </p:txBody>
      </p:sp>
      <p:sp>
        <p:nvSpPr>
          <p:cNvPr id="10" name="TextBox 9"/>
          <p:cNvSpPr txBox="1"/>
          <p:nvPr/>
        </p:nvSpPr>
        <p:spPr>
          <a:xfrm>
            <a:off x="502920" y="6473952"/>
            <a:ext cx="7315200" cy="274320"/>
          </a:xfrm>
          <a:prstGeom prst="rect">
            <a:avLst/>
          </a:prstGeom>
          <a:noFill/>
        </p:spPr>
        <p:txBody>
          <a:bodyPr wrap="square" anchor="t" lIns="0" rIns="0" tIns="0" bIns="0">
            <a:spAutoFit/>
          </a:bodyPr>
          <a:lstStyle/>
          <a:p>
            <a:pPr algn="l"/>
            <a:r>
              <a:rPr sz="900" b="0" i="0">
                <a:solidFill>
                  <a:srgbClr val="6B6B6B"/>
                </a:solidFill>
                <a:latin typeface="Calibri"/>
              </a:rPr>
              <a:t>IntelliAI 2.0  ·  IBM MQ Intelligent Hackathon 2026  ·  Part 2</a:t>
            </a:r>
          </a:p>
        </p:txBody>
      </p:sp>
      <p:sp>
        <p:nvSpPr>
          <p:cNvPr id="11" name="TextBox 10"/>
          <p:cNvSpPr txBox="1"/>
          <p:nvPr/>
        </p:nvSpPr>
        <p:spPr>
          <a:xfrm>
            <a:off x="11338560" y="6473952"/>
            <a:ext cx="457200" cy="274320"/>
          </a:xfrm>
          <a:prstGeom prst="rect">
            <a:avLst/>
          </a:prstGeom>
          <a:noFill/>
        </p:spPr>
        <p:txBody>
          <a:bodyPr wrap="square" anchor="t" lIns="0" rIns="0" tIns="0" bIns="0">
            <a:spAutoFit/>
          </a:bodyPr>
          <a:lstStyle/>
          <a:p>
            <a:pPr algn="r"/>
            <a:r>
              <a:rPr sz="900" b="0" i="0">
                <a:solidFill>
                  <a:srgbClr val="6B6B6B"/>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7A0000"/>
        </a:solidFill>
        <a:effectLst/>
      </p:bgPr>
    </p:bg>
    <p:spTree>
      <p:nvGrpSpPr>
        <p:cNvPr id="1" name=""/>
        <p:cNvGrpSpPr/>
        <p:nvPr/>
      </p:nvGrpSpPr>
      <p:grpSpPr/>
      <p:sp>
        <p:nvSpPr>
          <p:cNvPr id="2" name="TextBox 1"/>
          <p:cNvSpPr txBox="1"/>
          <p:nvPr/>
        </p:nvSpPr>
        <p:spPr>
          <a:xfrm>
            <a:off x="685800" y="1737360"/>
            <a:ext cx="10058400" cy="365760"/>
          </a:xfrm>
          <a:prstGeom prst="rect">
            <a:avLst/>
          </a:prstGeom>
          <a:noFill/>
        </p:spPr>
        <p:txBody>
          <a:bodyPr wrap="square" anchor="t" lIns="0" rIns="0" tIns="0" bIns="0">
            <a:spAutoFit/>
          </a:bodyPr>
          <a:lstStyle/>
          <a:p>
            <a:pPr algn="l"/>
            <a:r>
              <a:rPr sz="1500" b="1" i="0">
                <a:solidFill>
                  <a:srgbClr val="FFCD41"/>
                </a:solidFill>
                <a:latin typeface="Calibri"/>
              </a:rPr>
              <a:t>NOW  THE  DEMO</a:t>
            </a:r>
          </a:p>
        </p:txBody>
      </p:sp>
      <p:sp>
        <p:nvSpPr>
          <p:cNvPr id="3" name="TextBox 2"/>
          <p:cNvSpPr txBox="1"/>
          <p:nvPr/>
        </p:nvSpPr>
        <p:spPr>
          <a:xfrm>
            <a:off x="658368" y="2194560"/>
            <a:ext cx="10515600" cy="914400"/>
          </a:xfrm>
          <a:prstGeom prst="rect">
            <a:avLst/>
          </a:prstGeom>
          <a:noFill/>
        </p:spPr>
        <p:txBody>
          <a:bodyPr wrap="square" anchor="t" lIns="0" rIns="0" tIns="0" bIns="0">
            <a:spAutoFit/>
          </a:bodyPr>
          <a:lstStyle/>
          <a:p>
            <a:pPr algn="l"/>
            <a:r>
              <a:rPr sz="4200" b="1" i="0">
                <a:solidFill>
                  <a:srgbClr val="FFFFFF"/>
                </a:solidFill>
                <a:latin typeface="Cambria"/>
              </a:rPr>
              <a:t>Watch one app migrate — live</a:t>
            </a:r>
          </a:p>
        </p:txBody>
      </p:sp>
      <p:sp>
        <p:nvSpPr>
          <p:cNvPr id="4" name="TextBox 3"/>
          <p:cNvSpPr txBox="1"/>
          <p:nvPr/>
        </p:nvSpPr>
        <p:spPr>
          <a:xfrm>
            <a:off x="685800" y="3291840"/>
            <a:ext cx="10515600" cy="640080"/>
          </a:xfrm>
          <a:prstGeom prst="rect">
            <a:avLst/>
          </a:prstGeom>
          <a:noFill/>
        </p:spPr>
        <p:txBody>
          <a:bodyPr wrap="square" anchor="t" lIns="0" rIns="0" tIns="0" bIns="0">
            <a:spAutoFit/>
          </a:bodyPr>
          <a:lstStyle/>
          <a:p>
            <a:pPr algn="l"/>
            <a:r>
              <a:rPr sz="1600" b="0" i="0">
                <a:solidFill>
                  <a:srgbClr val="FBE3E3"/>
                </a:solidFill>
                <a:latin typeface="Calibri"/>
              </a:rPr>
              <a:t>Plan → approve → provision → rewire → drain → validate. Then induce a failure, roll back, and read the RCA — all on real MQ.</a:t>
            </a:r>
          </a:p>
        </p:txBody>
      </p:sp>
      <p:sp>
        <p:nvSpPr>
          <p:cNvPr id="5" name="Rounded Rectangle 4"/>
          <p:cNvSpPr/>
          <p:nvPr/>
        </p:nvSpPr>
        <p:spPr>
          <a:xfrm>
            <a:off x="685800" y="4297680"/>
            <a:ext cx="2514600" cy="1097280"/>
          </a:xfrm>
          <a:prstGeom prst="roundRect">
            <a:avLst>
              <a:gd name="adj" fmla="val 8000"/>
            </a:avLst>
          </a:prstGeom>
          <a:solidFill>
            <a:srgbClr val="A81414"/>
          </a:solidFill>
          <a:ln w="12700">
            <a:solidFill>
              <a:srgbClr val="FFCD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4434840"/>
            <a:ext cx="2514600" cy="411480"/>
          </a:xfrm>
          <a:prstGeom prst="rect">
            <a:avLst/>
          </a:prstGeom>
          <a:noFill/>
        </p:spPr>
        <p:txBody>
          <a:bodyPr wrap="square" anchor="t" lIns="0" rIns="0" tIns="0" bIns="0">
            <a:spAutoFit/>
          </a:bodyPr>
          <a:lstStyle/>
          <a:p>
            <a:pPr algn="ctr"/>
            <a:r>
              <a:rPr sz="1700" b="1" i="0">
                <a:solidFill>
                  <a:srgbClr val="FFCD41"/>
                </a:solidFill>
                <a:latin typeface="Cambria"/>
              </a:rPr>
              <a:t>Topology</a:t>
            </a:r>
          </a:p>
        </p:txBody>
      </p:sp>
      <p:sp>
        <p:nvSpPr>
          <p:cNvPr id="7" name="TextBox 6"/>
          <p:cNvSpPr txBox="1"/>
          <p:nvPr/>
        </p:nvSpPr>
        <p:spPr>
          <a:xfrm>
            <a:off x="777240" y="4864608"/>
            <a:ext cx="2331720" cy="457200"/>
          </a:xfrm>
          <a:prstGeom prst="rect">
            <a:avLst/>
          </a:prstGeom>
          <a:noFill/>
        </p:spPr>
        <p:txBody>
          <a:bodyPr wrap="square" anchor="t" lIns="0" rIns="0" tIns="0" bIns="0">
            <a:spAutoFit/>
          </a:bodyPr>
          <a:lstStyle/>
          <a:p>
            <a:pPr algn="ctr"/>
            <a:r>
              <a:rPr sz="1150" b="0" i="0">
                <a:solidFill>
                  <a:srgbClr val="FBE3E3"/>
                </a:solidFill>
                <a:latin typeface="Calibri"/>
              </a:rPr>
              <a:t>16 QMs, 7 apps</a:t>
            </a:r>
          </a:p>
        </p:txBody>
      </p:sp>
      <p:sp>
        <p:nvSpPr>
          <p:cNvPr id="8" name="Rounded Rectangle 7"/>
          <p:cNvSpPr/>
          <p:nvPr/>
        </p:nvSpPr>
        <p:spPr>
          <a:xfrm>
            <a:off x="3429000" y="4297680"/>
            <a:ext cx="2514600" cy="1097280"/>
          </a:xfrm>
          <a:prstGeom prst="roundRect">
            <a:avLst>
              <a:gd name="adj" fmla="val 8000"/>
            </a:avLst>
          </a:prstGeom>
          <a:solidFill>
            <a:srgbClr val="A81414"/>
          </a:solidFill>
          <a:ln w="12700">
            <a:solidFill>
              <a:srgbClr val="FFCD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29000" y="4434840"/>
            <a:ext cx="2514600" cy="411480"/>
          </a:xfrm>
          <a:prstGeom prst="rect">
            <a:avLst/>
          </a:prstGeom>
          <a:noFill/>
        </p:spPr>
        <p:txBody>
          <a:bodyPr wrap="square" anchor="t" lIns="0" rIns="0" tIns="0" bIns="0">
            <a:spAutoFit/>
          </a:bodyPr>
          <a:lstStyle/>
          <a:p>
            <a:pPr algn="ctr"/>
            <a:r>
              <a:rPr sz="1700" b="1" i="0">
                <a:solidFill>
                  <a:srgbClr val="FFCD41"/>
                </a:solidFill>
                <a:latin typeface="Cambria"/>
              </a:rPr>
              <a:t>Migrate</a:t>
            </a:r>
          </a:p>
        </p:txBody>
      </p:sp>
      <p:sp>
        <p:nvSpPr>
          <p:cNvPr id="10" name="TextBox 9"/>
          <p:cNvSpPr txBox="1"/>
          <p:nvPr/>
        </p:nvSpPr>
        <p:spPr>
          <a:xfrm>
            <a:off x="3520440" y="4864608"/>
            <a:ext cx="2331720" cy="457200"/>
          </a:xfrm>
          <a:prstGeom prst="rect">
            <a:avLst/>
          </a:prstGeom>
          <a:noFill/>
        </p:spPr>
        <p:txBody>
          <a:bodyPr wrap="square" anchor="t" lIns="0" rIns="0" tIns="0" bIns="0">
            <a:spAutoFit/>
          </a:bodyPr>
          <a:lstStyle/>
          <a:p>
            <a:pPr algn="ctr"/>
            <a:r>
              <a:rPr sz="1150" b="0" i="0">
                <a:solidFill>
                  <a:srgbClr val="FBE3E3"/>
                </a:solidFill>
                <a:latin typeface="Calibri"/>
              </a:rPr>
              <a:t>state machine + audit</a:t>
            </a:r>
          </a:p>
        </p:txBody>
      </p:sp>
      <p:sp>
        <p:nvSpPr>
          <p:cNvPr id="11" name="Rounded Rectangle 10"/>
          <p:cNvSpPr/>
          <p:nvPr/>
        </p:nvSpPr>
        <p:spPr>
          <a:xfrm>
            <a:off x="6172200" y="4297680"/>
            <a:ext cx="2514600" cy="1097280"/>
          </a:xfrm>
          <a:prstGeom prst="roundRect">
            <a:avLst>
              <a:gd name="adj" fmla="val 8000"/>
            </a:avLst>
          </a:prstGeom>
          <a:solidFill>
            <a:srgbClr val="A81414"/>
          </a:solidFill>
          <a:ln w="12700">
            <a:solidFill>
              <a:srgbClr val="FFCD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72200" y="4434840"/>
            <a:ext cx="2514600" cy="411480"/>
          </a:xfrm>
          <a:prstGeom prst="rect">
            <a:avLst/>
          </a:prstGeom>
          <a:noFill/>
        </p:spPr>
        <p:txBody>
          <a:bodyPr wrap="square" anchor="t" lIns="0" rIns="0" tIns="0" bIns="0">
            <a:spAutoFit/>
          </a:bodyPr>
          <a:lstStyle/>
          <a:p>
            <a:pPr algn="ctr"/>
            <a:r>
              <a:rPr sz="1700" b="1" i="0">
                <a:solidFill>
                  <a:srgbClr val="FFCD41"/>
                </a:solidFill>
                <a:latin typeface="Cambria"/>
              </a:rPr>
              <a:t>Wow</a:t>
            </a:r>
          </a:p>
        </p:txBody>
      </p:sp>
      <p:sp>
        <p:nvSpPr>
          <p:cNvPr id="13" name="TextBox 12"/>
          <p:cNvSpPr txBox="1"/>
          <p:nvPr/>
        </p:nvSpPr>
        <p:spPr>
          <a:xfrm>
            <a:off x="6263640" y="4864608"/>
            <a:ext cx="2331720" cy="457200"/>
          </a:xfrm>
          <a:prstGeom prst="rect">
            <a:avLst/>
          </a:prstGeom>
          <a:noFill/>
        </p:spPr>
        <p:txBody>
          <a:bodyPr wrap="square" anchor="t" lIns="0" rIns="0" tIns="0" bIns="0">
            <a:spAutoFit/>
          </a:bodyPr>
          <a:lstStyle/>
          <a:p>
            <a:pPr algn="ctr"/>
            <a:r>
              <a:rPr sz="1150" b="0" i="0">
                <a:solidFill>
                  <a:srgbClr val="FBE3E3"/>
                </a:solidFill>
                <a:latin typeface="Calibri"/>
              </a:rPr>
              <a:t>app never reconnects</a:t>
            </a:r>
          </a:p>
        </p:txBody>
      </p:sp>
      <p:sp>
        <p:nvSpPr>
          <p:cNvPr id="14" name="Rounded Rectangle 13"/>
          <p:cNvSpPr/>
          <p:nvPr/>
        </p:nvSpPr>
        <p:spPr>
          <a:xfrm>
            <a:off x="8915400" y="4297680"/>
            <a:ext cx="2514600" cy="1097280"/>
          </a:xfrm>
          <a:prstGeom prst="roundRect">
            <a:avLst>
              <a:gd name="adj" fmla="val 8000"/>
            </a:avLst>
          </a:prstGeom>
          <a:solidFill>
            <a:srgbClr val="A81414"/>
          </a:solidFill>
          <a:ln w="12700">
            <a:solidFill>
              <a:srgbClr val="FFCD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15400" y="4434840"/>
            <a:ext cx="2514600" cy="411480"/>
          </a:xfrm>
          <a:prstGeom prst="rect">
            <a:avLst/>
          </a:prstGeom>
          <a:noFill/>
        </p:spPr>
        <p:txBody>
          <a:bodyPr wrap="square" anchor="t" lIns="0" rIns="0" tIns="0" bIns="0">
            <a:spAutoFit/>
          </a:bodyPr>
          <a:lstStyle/>
          <a:p>
            <a:pPr algn="ctr"/>
            <a:r>
              <a:rPr sz="1700" b="1" i="0">
                <a:solidFill>
                  <a:srgbClr val="FFCD41"/>
                </a:solidFill>
                <a:latin typeface="Cambria"/>
              </a:rPr>
              <a:t>Rollback</a:t>
            </a:r>
          </a:p>
        </p:txBody>
      </p:sp>
      <p:sp>
        <p:nvSpPr>
          <p:cNvPr id="16" name="TextBox 15"/>
          <p:cNvSpPr txBox="1"/>
          <p:nvPr/>
        </p:nvSpPr>
        <p:spPr>
          <a:xfrm>
            <a:off x="9006840" y="4864608"/>
            <a:ext cx="2331720" cy="457200"/>
          </a:xfrm>
          <a:prstGeom prst="rect">
            <a:avLst/>
          </a:prstGeom>
          <a:noFill/>
        </p:spPr>
        <p:txBody>
          <a:bodyPr wrap="square" anchor="t" lIns="0" rIns="0" tIns="0" bIns="0">
            <a:spAutoFit/>
          </a:bodyPr>
          <a:lstStyle/>
          <a:p>
            <a:pPr algn="ctr"/>
            <a:r>
              <a:rPr sz="1150" b="0" i="0">
                <a:solidFill>
                  <a:srgbClr val="FBE3E3"/>
                </a:solidFill>
                <a:latin typeface="Calibri"/>
              </a:rPr>
              <a:t>chaos → reverse MQSC</a:t>
            </a:r>
          </a:p>
        </p:txBody>
      </p:sp>
      <p:sp>
        <p:nvSpPr>
          <p:cNvPr id="17" name="TextBox 16"/>
          <p:cNvSpPr txBox="1"/>
          <p:nvPr/>
        </p:nvSpPr>
        <p:spPr>
          <a:xfrm>
            <a:off x="685800" y="6035040"/>
            <a:ext cx="10058400" cy="320040"/>
          </a:xfrm>
          <a:prstGeom prst="rect">
            <a:avLst/>
          </a:prstGeom>
          <a:noFill/>
        </p:spPr>
        <p:txBody>
          <a:bodyPr wrap="square" anchor="t" lIns="0" rIns="0" tIns="0" bIns="0">
            <a:spAutoFit/>
          </a:bodyPr>
          <a:lstStyle/>
          <a:p>
            <a:pPr algn="l"/>
            <a:r>
              <a:rPr sz="1200" b="0" i="0">
                <a:solidFill>
                  <a:srgbClr val="C99B9B"/>
                </a:solidFill>
                <a:latin typeface="Calibri"/>
              </a:rPr>
              <a:t>Team intelliAI2DotO  ·  IBM MQ Intelligent Hackathon 2026 · Phase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